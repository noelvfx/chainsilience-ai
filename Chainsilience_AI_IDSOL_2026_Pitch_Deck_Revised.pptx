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7092"/>
    <a:srgbClr val="596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HK" sz="1300" b="0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Production-stoppage probability (%)</a:t>
            </a:r>
          </a:p>
        </c:rich>
      </c:tx>
      <c:overlay val="1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Stoppage probability</c:v>
                </c:pt>
              </c:strCache>
            </c:strRef>
          </c:tx>
          <c:spPr>
            <a:solidFill>
              <a:srgbClr val="F43F5E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2815-4D62-9D3A-12C4D7B614FD}"/>
              </c:ext>
            </c:extLst>
          </c:dPt>
          <c:dPt>
            <c:idx val="1"/>
            <c:invertIfNegative val="1"/>
            <c:bubble3D val="0"/>
            <c:spPr>
              <a:solidFill>
                <a:srgbClr val="F59E0B"/>
              </a:solidFill>
            </c:spPr>
            <c:extLst>
              <c:ext xmlns:c16="http://schemas.microsoft.com/office/drawing/2014/chart" uri="{C3380CC4-5D6E-409C-BE32-E72D297353CC}">
                <c16:uniqueId val="{00000003-2815-4D62-9D3A-12C4D7B614FD}"/>
              </c:ext>
            </c:extLst>
          </c:dPt>
          <c:dPt>
            <c:idx val="2"/>
            <c:invertIfNegative val="1"/>
            <c:bubble3D val="0"/>
            <c:spPr>
              <a:solidFill>
                <a:srgbClr val="34D399"/>
              </a:solidFill>
            </c:spPr>
            <c:extLst>
              <c:ext xmlns:c16="http://schemas.microsoft.com/office/drawing/2014/chart" uri="{C3380CC4-5D6E-409C-BE32-E72D297353CC}">
                <c16:uniqueId val="{00000005-2815-4D62-9D3A-12C4D7B614FD}"/>
              </c:ext>
            </c:extLst>
          </c:dPt>
          <c:dPt>
            <c:idx val="3"/>
            <c:invertIfNegative val="1"/>
            <c:bubble3D val="0"/>
            <c:spPr>
              <a:solidFill>
                <a:srgbClr val="38BDF8"/>
              </a:solidFill>
            </c:spPr>
            <c:extLst>
              <c:ext xmlns:c16="http://schemas.microsoft.com/office/drawing/2014/chart" uri="{C3380CC4-5D6E-409C-BE32-E72D297353CC}">
                <c16:uniqueId val="{00000007-2815-4D62-9D3A-12C4D7B614FD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100" b="0" i="0" u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A: No action</c:v>
                </c:pt>
                <c:pt idx="1">
                  <c:v>B: Switch 25%</c:v>
                </c:pt>
                <c:pt idx="2">
                  <c:v>C: Air freight</c:v>
                </c:pt>
                <c:pt idx="3">
                  <c:v>D: Delay low-priority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71</c:v>
                </c:pt>
                <c:pt idx="1">
                  <c:v>34</c:v>
                </c:pt>
                <c:pt idx="2">
                  <c:v>18</c:v>
                </c:pt>
                <c:pt idx="3">
                  <c:v>29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2815-4D62-9D3A-12C4D7B614F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900" b="0" i="0" u="none">
                <a:solidFill>
                  <a:srgbClr val="9FB0CC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0"/>
      </c:catAx>
      <c:valAx>
        <c:axId val="2094734552"/>
        <c:scaling>
          <c:orientation val="minMax"/>
          <c:max val="8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HK" sz="1300" b="0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Active risks by severity</a:t>
            </a:r>
          </a:p>
        </c:rich>
      </c:tx>
      <c:layout>
        <c:manualLayout>
          <c:xMode val="edge"/>
          <c:yMode val="edge"/>
          <c:x val="0.29735930537752547"/>
          <c:y val="0.4375"/>
        </c:manualLayout>
      </c:layout>
      <c:overlay val="1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</c:v>
                </c:pt>
              </c:strCache>
            </c:strRef>
          </c:tx>
          <c:spPr>
            <a:solidFill>
              <a:schemeClr val="accent1"/>
            </a:solidFill>
            <a:ln w="9525">
              <a:solidFill>
                <a:srgbClr val="F9F9F9"/>
              </a:solidFill>
              <a:prstDash val="solid"/>
            </a:ln>
          </c:spPr>
          <c:dPt>
            <c:idx val="0"/>
            <c:bubble3D val="0"/>
            <c:spPr>
              <a:solidFill>
                <a:srgbClr val="F43F5E"/>
              </a:solidFill>
            </c:spPr>
            <c:extLst>
              <c:ext xmlns:c16="http://schemas.microsoft.com/office/drawing/2014/chart" uri="{C3380CC4-5D6E-409C-BE32-E72D297353CC}">
                <c16:uniqueId val="{00000001-05E2-48A0-BEA6-A8FBCD4F4208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</c:spPr>
            <c:extLst>
              <c:ext xmlns:c16="http://schemas.microsoft.com/office/drawing/2014/chart" uri="{C3380CC4-5D6E-409C-BE32-E72D297353CC}">
                <c16:uniqueId val="{00000003-05E2-48A0-BEA6-A8FBCD4F4208}"/>
              </c:ext>
            </c:extLst>
          </c:dPt>
          <c:dPt>
            <c:idx val="2"/>
            <c:bubble3D val="0"/>
            <c:spPr>
              <a:solidFill>
                <a:srgbClr val="38BDF8"/>
              </a:solidFill>
            </c:spPr>
            <c:extLst>
              <c:ext xmlns:c16="http://schemas.microsoft.com/office/drawing/2014/chart" uri="{C3380CC4-5D6E-409C-BE32-E72D297353CC}">
                <c16:uniqueId val="{00000005-05E2-48A0-BEA6-A8FBCD4F4208}"/>
              </c:ext>
            </c:extLst>
          </c:dPt>
          <c:dPt>
            <c:idx val="3"/>
            <c:bubble3D val="0"/>
            <c:spPr>
              <a:solidFill>
                <a:srgbClr val="2DD4BF"/>
              </a:solidFill>
            </c:spPr>
            <c:extLst>
              <c:ext xmlns:c16="http://schemas.microsoft.com/office/drawing/2014/chart" uri="{C3380CC4-5D6E-409C-BE32-E72D297353CC}">
                <c16:uniqueId val="{00000007-05E2-48A0-BEA6-A8FBCD4F4208}"/>
              </c:ext>
            </c:extLst>
          </c:dPt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Moderate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5</c:v>
                </c:pt>
                <c:pt idx="2">
                  <c:v>11</c:v>
                </c:pt>
                <c:pt idx="3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5E2-48A0-BEA6-A8FBCD4F42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</c:spPr>
    </c:plotArea>
    <c:legend>
      <c:legendPos val="b"/>
      <c:overlay val="0"/>
      <c:txPr>
        <a:bodyPr anchorCtr="1"/>
        <a:lstStyle/>
        <a:p>
          <a:pPr>
            <a:defRPr sz="1000">
              <a:solidFill>
                <a:srgbClr val="9FB0CC"/>
              </a:solidFill>
              <a:latin typeface="Calibri"/>
              <a:ea typeface="Calibri"/>
              <a:cs typeface="Calibri"/>
            </a:defRPr>
          </a:pPr>
          <a:endParaRPr lang="en-US"/>
        </a:p>
      </c:txPr>
    </c:legend>
    <c:plotVisOnly val="1"/>
    <c:dispBlanksAs val="zero"/>
    <c:showDLblsOverMax val="1"/>
  </c:chart>
  <c:spPr>
    <a:noFill/>
    <a:ln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Chainsilience AI — supply chain resilience. We're a UofT team: four CS students build the AI, and I lead product and go-to-market from Rotman. In the next ~10 minutes I'll show how our platform turns a flood of global disruption news into a specific, costed action plan for one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single disruption — an earthquake, an export ban, a port closure — can be devastating for a company that depends on one region. Today the bottleneck is human: someone has to read everything and manually connect a headline to their own suppliers. Small companies simply don't have that capacity, and even large ones react too 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figures come straight from our worked semiconductor scenario. The point: the gap between an event and a production stoppage is often measured in days, and the revenue at stake is in the millions. The companies least able to absorb that are precisely our target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pillars. We monitor and verify the outside world, we model the inside of your business as a digital twin, we predict the impact where those two meet, and then we help you act — with scenarios and drafted communications. The key differentiator is the middle: mapping events to your specific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stages, running continuously. Note stage two — verification — before anything is trusted. And the whole thing is a loop: once a company acts, we compare predicted vs. actual outcomes and feed that back, so the system learns each customer's real lead times and supplier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live demo we'll run. An earthquake is detected and verified, we trace it through the digital twin to a specific 42%-dependency on wafers, calculate 12 days of cover and 71% stoppage risk, compare three responses, recommend shifting 25% of orders, and draft the emails — all before the dashboard finishes updating. The takeaway line: this connects an external event to YOUR data and produces a real operational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where the team's second idea folds in. Before we let a story drive a $180K decision, we verify it: dedupe across sources, score credibility, and — importantly in 2026 — run a deepfake detector on any video or audio evidence. It combines visual, audio, sync, and metadata signals into a manipulation-risk score. Crucially it's framed as evidence for a human, not a verdict.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heart of the product. We don't just tag a news article 'semiconductor' — we know Supplier A gives you 42% of your wafers, those wafers go into Product X, and Product X has three big customer orders behind it. That chain is what lets us translate a distant event into your revenue at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Judges will ask 'is this a black box?' No. The score is a transparent product of six factors, each traceable to a number in the digital twin. So instead of just showing '87', we show WHY it's 87 — which is what makes a procurement manager actually trust and act on it.</a:t>
            </a:r>
            <a:r>
              <a:rPr lang="en-HK" dirty="0"/>
              <a:t>  We map the knowledge graph to the digital twin to show affected supply chain dependency paths.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'so what'. A CFO doesn't care that there was an earthquake — they care that $1.2M of revenue and 14 orders are exposed, with a 71% chance of a stoppage. We deliberately use a hybrid rules-plus-forecasting approach so it's buildable for a prototype and still defensible.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payoff of the digital twin. Doing nothing leaves a 71% stoppage risk. Switching a quarter of orders drops it to 34% for $180K. Air freight gets you to 18% but costs more. We lay the trade-offs side by side so a human can choose based on their priorities — cost, speed, or protecting key customers.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Recommendations are grouped by urgency, each with an expected benefit, cost, owner and deadline. We also draft the outbound comms — to suppliers, customers, and executives. But nothing is automated end-to-end: a human always reviews and approves. That's both safer and what real procurement teams require.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dashboard shows a clear overview, not raw news. At a glance: how many critical vs. low risks, the top exposures ranked by impact, a global risk map, inventory countdowns, and a news feed filtered to only company-relevant events. It turns the platform from passive monitoring into an operational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live demo we'll run. An earthquake is detected and verified, we trace it through the digital twin to a specific 42%-dependency on wafers, calculate 12 days of cover and 71% stoppage risk, compare three responses, recommend shifting 25% of orders, and draft the emails — all before the dashboard finishes updating. The takeaway line: this connects an external event to YOUR data and produces a real operational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messages here. First, our moat isn't the news feed — anyone can scrape news. It's the mapping to a company-specific digital twin plus explainability and action. Second, for the competition we're deliberately narrow: one industry, one full workflow, end to end. Depth over breadth is what makes a convincing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 close: Chainsilience turns global disruption into an action your business can take. Our CS team builds the models; I own product and go-to-market. We're ready to run the full workflow live for you now. Thank you —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chainsilience-ai.vercel.app/login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BA38506-453E-4A13-9577-C7F5259FF143}"/>
              </a:ext>
            </a:extLst>
          </p:cNvPr>
          <p:cNvSpPr>
            <a:spLocks noGrp="1"/>
          </p:cNvSpPr>
          <p:nvPr/>
        </p:nvSpPr>
        <p:spPr>
          <a:xfrm>
            <a:off x="11000232" y="941832"/>
            <a:ext cx="640080" cy="731520"/>
          </a:xfrm>
          <a:prstGeom prst="line">
            <a:avLst/>
          </a:prstGeom>
          <a:noFill/>
          <a:ln w="15875">
            <a:solidFill>
              <a:srgbClr val="2DD4B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3A673FD-D540-4E91-916D-94317DBF3236}"/>
              </a:ext>
            </a:extLst>
          </p:cNvPr>
          <p:cNvSpPr>
            <a:spLocks noGrp="1"/>
          </p:cNvSpPr>
          <p:nvPr/>
        </p:nvSpPr>
        <p:spPr>
          <a:xfrm>
            <a:off x="10360152" y="1856232"/>
            <a:ext cx="640080" cy="0"/>
          </a:xfrm>
          <a:prstGeom prst="line">
            <a:avLst/>
          </a:prstGeom>
          <a:noFill/>
          <a:ln w="15875">
            <a:solidFill>
              <a:srgbClr val="2DD4B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74122C3-C8B3-4AC6-AA08-B13F054C0F2D}"/>
              </a:ext>
            </a:extLst>
          </p:cNvPr>
          <p:cNvSpPr>
            <a:spLocks noGrp="1"/>
          </p:cNvSpPr>
          <p:nvPr/>
        </p:nvSpPr>
        <p:spPr>
          <a:xfrm>
            <a:off x="10360152" y="1856232"/>
            <a:ext cx="914400" cy="640080"/>
          </a:xfrm>
          <a:prstGeom prst="line">
            <a:avLst/>
          </a:prstGeom>
          <a:noFill/>
          <a:ln w="15875">
            <a:solidFill>
              <a:srgbClr val="38BDF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F3D8FCE-7714-49D1-AA23-936D3B5308E9}"/>
              </a:ext>
            </a:extLst>
          </p:cNvPr>
          <p:cNvSpPr>
            <a:spLocks noGrp="1"/>
          </p:cNvSpPr>
          <p:nvPr/>
        </p:nvSpPr>
        <p:spPr>
          <a:xfrm>
            <a:off x="11274552" y="2496312"/>
            <a:ext cx="0" cy="274320"/>
          </a:xfrm>
          <a:prstGeom prst="line">
            <a:avLst/>
          </a:prstGeom>
          <a:noFill/>
          <a:ln w="15875">
            <a:solidFill>
              <a:srgbClr val="38BDF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07E1F6F-75EF-4148-AC3B-228BA4A81597}"/>
              </a:ext>
            </a:extLst>
          </p:cNvPr>
          <p:cNvSpPr>
            <a:spLocks noGrp="1"/>
          </p:cNvSpPr>
          <p:nvPr/>
        </p:nvSpPr>
        <p:spPr>
          <a:xfrm>
            <a:off x="10881360" y="822960"/>
            <a:ext cx="237744" cy="237744"/>
          </a:xfrm>
          <a:prstGeom prst="ellipse">
            <a:avLst/>
          </a:prstGeom>
          <a:solidFill>
            <a:srgbClr val="2DD4BF"/>
          </a:solidFill>
        </p:spPr>
        <p:txBody>
          <a:bodyPr/>
          <a:lstStyle/>
          <a:p>
            <a:endParaRPr lang="en-HK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9A40FC9-166B-49D2-8DF0-340215F2E199}"/>
              </a:ext>
            </a:extLst>
          </p:cNvPr>
          <p:cNvSpPr>
            <a:spLocks noGrp="1"/>
          </p:cNvSpPr>
          <p:nvPr/>
        </p:nvSpPr>
        <p:spPr>
          <a:xfrm>
            <a:off x="11521440" y="1554480"/>
            <a:ext cx="237744" cy="237744"/>
          </a:xfrm>
          <a:prstGeom prst="ellipse">
            <a:avLst/>
          </a:prstGeom>
          <a:solidFill>
            <a:srgbClr val="38BDF8"/>
          </a:solidFill>
        </p:spPr>
        <p:txBody>
          <a:bodyPr/>
          <a:lstStyle/>
          <a:p>
            <a:endParaRPr lang="en-HK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3E3BA7C-66E3-4E2C-9A2B-EBE5E2644FB9}"/>
              </a:ext>
            </a:extLst>
          </p:cNvPr>
          <p:cNvSpPr>
            <a:spLocks noGrp="1"/>
          </p:cNvSpPr>
          <p:nvPr/>
        </p:nvSpPr>
        <p:spPr>
          <a:xfrm>
            <a:off x="10241280" y="1737360"/>
            <a:ext cx="237744" cy="237744"/>
          </a:xfrm>
          <a:prstGeom prst="ellipse">
            <a:avLst/>
          </a:prstGeom>
          <a:solidFill>
            <a:srgbClr val="2DD4BF"/>
          </a:solidFill>
        </p:spPr>
        <p:txBody>
          <a:bodyPr/>
          <a:lstStyle/>
          <a:p>
            <a:endParaRPr lang="en-HK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A096902-7FF3-4A75-8D1A-2D99EB3C7A2D}"/>
              </a:ext>
            </a:extLst>
          </p:cNvPr>
          <p:cNvSpPr>
            <a:spLocks noGrp="1"/>
          </p:cNvSpPr>
          <p:nvPr/>
        </p:nvSpPr>
        <p:spPr>
          <a:xfrm>
            <a:off x="11155680" y="2377440"/>
            <a:ext cx="237744" cy="237744"/>
          </a:xfrm>
          <a:prstGeom prst="ellipse">
            <a:avLst/>
          </a:prstGeom>
          <a:solidFill>
            <a:srgbClr val="38BDF8"/>
          </a:solidFill>
        </p:spPr>
        <p:txBody>
          <a:bodyPr/>
          <a:lstStyle/>
          <a:p>
            <a:endParaRPr lang="en-HK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215A807-4062-4107-A6AB-5B913CE0E67F}"/>
              </a:ext>
            </a:extLst>
          </p:cNvPr>
          <p:cNvSpPr>
            <a:spLocks noGrp="1"/>
          </p:cNvSpPr>
          <p:nvPr/>
        </p:nvSpPr>
        <p:spPr>
          <a:xfrm>
            <a:off x="9784080" y="2651760"/>
            <a:ext cx="237744" cy="237744"/>
          </a:xfrm>
          <a:prstGeom prst="ellipse">
            <a:avLst/>
          </a:prstGeom>
          <a:solidFill>
            <a:srgbClr val="2DD4BF"/>
          </a:solidFill>
        </p:spPr>
        <p:txBody>
          <a:bodyPr/>
          <a:lstStyle/>
          <a:p>
            <a:endParaRPr lang="en-HK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28DC9A1-4C32-42BF-A5B5-BA9FDA1CC6DA}"/>
              </a:ext>
            </a:extLst>
          </p:cNvPr>
          <p:cNvSpPr>
            <a:spLocks noGrp="1"/>
          </p:cNvSpPr>
          <p:nvPr/>
        </p:nvSpPr>
        <p:spPr>
          <a:xfrm>
            <a:off x="685800" y="564799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100" b="1" dirty="0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IDSOL 2026 · INTERNATIONAL DATA SCIENCE OLYMPIAD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D668846-49DF-4CF4-A7F3-5BB42DD793C4}"/>
              </a:ext>
            </a:extLst>
          </p:cNvPr>
          <p:cNvSpPr>
            <a:spLocks noGrp="1"/>
          </p:cNvSpPr>
          <p:nvPr/>
        </p:nvSpPr>
        <p:spPr>
          <a:xfrm>
            <a:off x="685800" y="3063240"/>
            <a:ext cx="1102343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HK" sz="2200" b="1" dirty="0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Empowering SMEs and startups to foster resilience to global supply chain disruptions with AI</a:t>
            </a:r>
            <a:r>
              <a:rPr sz="2200" b="1" dirty="0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696EA30-2DA9-4BE5-837E-B494EDA64249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8595360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sz="150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Agentic supply-chain decision support combining LLM/NLP, RAG, knowledge graphs, a digital twin, simulation, optimization, and governance.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9233479-0FBE-4640-A2E1-B84EBA6C89AF}"/>
              </a:ext>
            </a:extLst>
          </p:cNvPr>
          <p:cNvSpPr>
            <a:spLocks noGrp="1"/>
          </p:cNvSpPr>
          <p:nvPr/>
        </p:nvSpPr>
        <p:spPr>
          <a:xfrm>
            <a:off x="685800" y="5029200"/>
            <a:ext cx="10789920" cy="0"/>
          </a:xfrm>
          <a:prstGeom prst="line">
            <a:avLst/>
          </a:prstGeom>
          <a:noFill/>
          <a:ln w="12700">
            <a:solidFill>
              <a:srgbClr val="202C52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AF8CDE5-F9B9-4956-90DF-3819A3C15B28}"/>
              </a:ext>
            </a:extLst>
          </p:cNvPr>
          <p:cNvSpPr>
            <a:spLocks noGrp="1"/>
          </p:cNvSpPr>
          <p:nvPr/>
        </p:nvSpPr>
        <p:spPr>
          <a:xfrm>
            <a:off x="685800" y="52120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HK" sz="1300" b="1" dirty="0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Team:  </a:t>
            </a:r>
            <a:r>
              <a:rPr lang="en-HK" sz="13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University of Toronto</a:t>
            </a:r>
            <a:r>
              <a:rPr lang="en-HK" sz="130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   </a:t>
            </a:r>
            <a:r>
              <a:rPr lang="en-HK" sz="1300" dirty="0">
                <a:solidFill>
                  <a:srgbClr val="9FB0CC"/>
                </a:solidFill>
                <a:ea typeface="Calibri"/>
                <a:cs typeface="Calibri"/>
              </a:rPr>
              <a:t>·  Ka Woon Ho, Ke Xin Cao, Gary Leng, Mo Xia, Andrew Li</a:t>
            </a:r>
            <a:endParaRPr sz="1300" dirty="0">
              <a:solidFill>
                <a:srgbClr val="9FB0C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7660BF7-C15D-4D7E-A85A-369BBB43A2CD}"/>
              </a:ext>
            </a:extLst>
          </p:cNvPr>
          <p:cNvSpPr>
            <a:spLocks noGrp="1"/>
          </p:cNvSpPr>
          <p:nvPr/>
        </p:nvSpPr>
        <p:spPr>
          <a:xfrm>
            <a:off x="685800" y="56235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Focus: SMEs · startups · semiconductor and electronics supply networks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21B9D6C-EB9A-0B15-D362-C7B2EA73AA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29" y="1052329"/>
            <a:ext cx="5656129" cy="235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895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91FEE0F-FC47-4F07-BDDD-06800839868D}"/>
              </a:ext>
            </a:extLst>
          </p:cNvPr>
          <p:cNvSpPr>
            <a:spLocks noGrp="1"/>
          </p:cNvSpPr>
          <p:nvPr/>
        </p:nvSpPr>
        <p:spPr>
          <a:xfrm>
            <a:off x="548640" y="45720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100" b="1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THE DECISION GAP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F00C731-ECB3-487B-8304-995C8A0B6351}"/>
              </a:ext>
            </a:extLst>
          </p:cNvPr>
          <p:cNvSpPr>
            <a:spLocks noGrp="1"/>
          </p:cNvSpPr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Disruption signals arrive before operational context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2BF3D93-C39C-4B6B-91BB-9543183F51D1}"/>
              </a:ext>
            </a:extLst>
          </p:cNvPr>
          <p:cNvSpPr>
            <a:spLocks noGrp="1"/>
          </p:cNvSpPr>
          <p:nvPr/>
        </p:nvSpPr>
        <p:spPr>
          <a:xfrm>
            <a:off x="548640" y="1828800"/>
            <a:ext cx="4754880" cy="658368"/>
          </a:xfrm>
          <a:prstGeom prst="roundRect">
            <a:avLst>
              <a:gd name="adj" fmla="val 13889"/>
            </a:avLst>
          </a:prstGeom>
          <a:solidFill>
            <a:srgbClr val="1B2444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8789FCB-A998-4209-80FC-A2457468CB41}"/>
              </a:ext>
            </a:extLst>
          </p:cNvPr>
          <p:cNvSpPr>
            <a:spLocks noGrp="1"/>
          </p:cNvSpPr>
          <p:nvPr/>
        </p:nvSpPr>
        <p:spPr>
          <a:xfrm>
            <a:off x="822960" y="2066544"/>
            <a:ext cx="182880" cy="182880"/>
          </a:xfrm>
          <a:prstGeom prst="ellipse">
            <a:avLst/>
          </a:prstGeom>
          <a:solidFill>
            <a:srgbClr val="F43F5E"/>
          </a:solidFill>
        </p:spPr>
        <p:txBody>
          <a:bodyPr/>
          <a:lstStyle/>
          <a:p>
            <a:endParaRPr lang="en-HK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D64E79D-53E0-4727-9335-78A51C9224A1}"/>
              </a:ext>
            </a:extLst>
          </p:cNvPr>
          <p:cNvSpPr>
            <a:spLocks noGrp="1"/>
          </p:cNvSpPr>
          <p:nvPr/>
        </p:nvSpPr>
        <p:spPr>
          <a:xfrm>
            <a:off x="1143000" y="1828800"/>
            <a:ext cx="402336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Taiwan earthquake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F00171E-3D95-40B1-B42D-A8C59ADB3414}"/>
              </a:ext>
            </a:extLst>
          </p:cNvPr>
          <p:cNvSpPr>
            <a:spLocks noGrp="1"/>
          </p:cNvSpPr>
          <p:nvPr/>
        </p:nvSpPr>
        <p:spPr>
          <a:xfrm>
            <a:off x="548640" y="2615184"/>
            <a:ext cx="4754880" cy="658368"/>
          </a:xfrm>
          <a:prstGeom prst="roundRect">
            <a:avLst>
              <a:gd name="adj" fmla="val 13889"/>
            </a:avLst>
          </a:prstGeom>
          <a:solidFill>
            <a:srgbClr val="1B2444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CDBAA9C-F719-410C-B5B5-8091890A23CE}"/>
              </a:ext>
            </a:extLst>
          </p:cNvPr>
          <p:cNvSpPr>
            <a:spLocks noGrp="1"/>
          </p:cNvSpPr>
          <p:nvPr/>
        </p:nvSpPr>
        <p:spPr>
          <a:xfrm>
            <a:off x="822960" y="2852928"/>
            <a:ext cx="182880" cy="182880"/>
          </a:xfrm>
          <a:prstGeom prst="ellipse">
            <a:avLst/>
          </a:prstGeom>
          <a:solidFill>
            <a:srgbClr val="F59E0B"/>
          </a:solidFill>
        </p:spPr>
        <p:txBody>
          <a:bodyPr/>
          <a:lstStyle/>
          <a:p>
            <a:endParaRPr lang="en-HK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2F1681E-0537-49C1-A866-FE431ADD8A2D}"/>
              </a:ext>
            </a:extLst>
          </p:cNvPr>
          <p:cNvSpPr>
            <a:spLocks noGrp="1"/>
          </p:cNvSpPr>
          <p:nvPr/>
        </p:nvSpPr>
        <p:spPr>
          <a:xfrm>
            <a:off x="1143000" y="2615184"/>
            <a:ext cx="402336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 export restrictions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E83EE47-6123-4CE5-9E20-46F296B32A12}"/>
              </a:ext>
            </a:extLst>
          </p:cNvPr>
          <p:cNvSpPr>
            <a:spLocks noGrp="1"/>
          </p:cNvSpPr>
          <p:nvPr/>
        </p:nvSpPr>
        <p:spPr>
          <a:xfrm>
            <a:off x="548640" y="3401568"/>
            <a:ext cx="4754880" cy="658368"/>
          </a:xfrm>
          <a:prstGeom prst="roundRect">
            <a:avLst>
              <a:gd name="adj" fmla="val 13889"/>
            </a:avLst>
          </a:prstGeom>
          <a:solidFill>
            <a:srgbClr val="1B2444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5E632D1-05E2-459B-90B1-F0D5319B864A}"/>
              </a:ext>
            </a:extLst>
          </p:cNvPr>
          <p:cNvSpPr>
            <a:spLocks noGrp="1"/>
          </p:cNvSpPr>
          <p:nvPr/>
        </p:nvSpPr>
        <p:spPr>
          <a:xfrm>
            <a:off x="822960" y="3639312"/>
            <a:ext cx="182880" cy="182880"/>
          </a:xfrm>
          <a:prstGeom prst="ellipse">
            <a:avLst/>
          </a:prstGeom>
          <a:solidFill>
            <a:srgbClr val="38BDF8"/>
          </a:solidFill>
        </p:spPr>
        <p:txBody>
          <a:bodyPr/>
          <a:lstStyle/>
          <a:p>
            <a:endParaRPr lang="en-HK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1788F9A-A49D-44A2-9D59-829ADC076D0B}"/>
              </a:ext>
            </a:extLst>
          </p:cNvPr>
          <p:cNvSpPr>
            <a:spLocks noGrp="1"/>
          </p:cNvSpPr>
          <p:nvPr/>
        </p:nvSpPr>
        <p:spPr>
          <a:xfrm>
            <a:off x="1143000" y="3401568"/>
            <a:ext cx="402336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Rare-earth shortages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FEFFEC5-D194-4C9A-A9D0-1960930A411A}"/>
              </a:ext>
            </a:extLst>
          </p:cNvPr>
          <p:cNvSpPr>
            <a:spLocks noGrp="1"/>
          </p:cNvSpPr>
          <p:nvPr/>
        </p:nvSpPr>
        <p:spPr>
          <a:xfrm>
            <a:off x="548640" y="4187952"/>
            <a:ext cx="4754880" cy="658368"/>
          </a:xfrm>
          <a:prstGeom prst="roundRect">
            <a:avLst>
              <a:gd name="adj" fmla="val 13889"/>
            </a:avLst>
          </a:prstGeom>
          <a:solidFill>
            <a:srgbClr val="1B2444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DFFD62E-2308-4D2D-86DD-D9D8FA4718AB}"/>
              </a:ext>
            </a:extLst>
          </p:cNvPr>
          <p:cNvSpPr>
            <a:spLocks noGrp="1"/>
          </p:cNvSpPr>
          <p:nvPr/>
        </p:nvSpPr>
        <p:spPr>
          <a:xfrm>
            <a:off x="822960" y="4425696"/>
            <a:ext cx="182880" cy="182880"/>
          </a:xfrm>
          <a:prstGeom prst="ellipse">
            <a:avLst/>
          </a:prstGeom>
          <a:solidFill>
            <a:srgbClr val="2DD4BF"/>
          </a:solidFill>
        </p:spPr>
        <p:txBody>
          <a:bodyPr/>
          <a:lstStyle/>
          <a:p>
            <a:endParaRPr lang="en-HK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419EF2F-164D-4AD3-AE69-57204DEB9440}"/>
              </a:ext>
            </a:extLst>
          </p:cNvPr>
          <p:cNvSpPr>
            <a:spLocks noGrp="1"/>
          </p:cNvSpPr>
          <p:nvPr/>
        </p:nvSpPr>
        <p:spPr>
          <a:xfrm>
            <a:off x="1143000" y="4187952"/>
            <a:ext cx="402336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Shipping &amp; port delays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25244CC-6F9A-41B0-AF5D-65AF71EC25D9}"/>
              </a:ext>
            </a:extLst>
          </p:cNvPr>
          <p:cNvSpPr>
            <a:spLocks noGrp="1"/>
          </p:cNvSpPr>
          <p:nvPr/>
        </p:nvSpPr>
        <p:spPr>
          <a:xfrm>
            <a:off x="548640" y="4974336"/>
            <a:ext cx="4754880" cy="658368"/>
          </a:xfrm>
          <a:prstGeom prst="roundRect">
            <a:avLst>
              <a:gd name="adj" fmla="val 13889"/>
            </a:avLst>
          </a:prstGeom>
          <a:solidFill>
            <a:srgbClr val="1B2444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D6499FC5-3A1F-4038-A1F0-0C6C4ADB6355}"/>
              </a:ext>
            </a:extLst>
          </p:cNvPr>
          <p:cNvSpPr>
            <a:spLocks noGrp="1"/>
          </p:cNvSpPr>
          <p:nvPr/>
        </p:nvSpPr>
        <p:spPr>
          <a:xfrm>
            <a:off x="822960" y="5212080"/>
            <a:ext cx="182880" cy="182880"/>
          </a:xfrm>
          <a:prstGeom prst="ellipse">
            <a:avLst/>
          </a:prstGeom>
          <a:solidFill>
            <a:srgbClr val="F59E0B"/>
          </a:solidFill>
        </p:spPr>
        <p:txBody>
          <a:bodyPr/>
          <a:lstStyle/>
          <a:p>
            <a:endParaRPr lang="en-HK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3F8DC35-3C8B-49CA-AE22-7BD38D70893B}"/>
              </a:ext>
            </a:extLst>
          </p:cNvPr>
          <p:cNvSpPr>
            <a:spLocks noGrp="1"/>
          </p:cNvSpPr>
          <p:nvPr/>
        </p:nvSpPr>
        <p:spPr>
          <a:xfrm>
            <a:off x="1143000" y="4974336"/>
            <a:ext cx="402336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New tariffs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0CC1AC31-70B5-4F29-A49D-BF4FBBCB6851}"/>
              </a:ext>
            </a:extLst>
          </p:cNvPr>
          <p:cNvSpPr>
            <a:spLocks noGrp="1"/>
          </p:cNvSpPr>
          <p:nvPr/>
        </p:nvSpPr>
        <p:spPr>
          <a:xfrm>
            <a:off x="5669280" y="1828800"/>
            <a:ext cx="5943600" cy="3794760"/>
          </a:xfrm>
          <a:prstGeom prst="roundRect">
            <a:avLst>
              <a:gd name="adj" fmla="val 2410"/>
            </a:avLst>
          </a:prstGeom>
          <a:solidFill>
            <a:srgbClr val="141B33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31AFAEA-8623-4E3E-B083-91951F7E2D6F}"/>
              </a:ext>
            </a:extLst>
          </p:cNvPr>
          <p:cNvSpPr>
            <a:spLocks noGrp="1"/>
          </p:cNvSpPr>
          <p:nvPr/>
        </p:nvSpPr>
        <p:spPr>
          <a:xfrm>
            <a:off x="5989320" y="2057400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000" b="1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Manual workflow breaks at four points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60998EA-57FD-4EA6-8888-77ED3BA5932D}"/>
              </a:ext>
            </a:extLst>
          </p:cNvPr>
          <p:cNvSpPr>
            <a:spLocks noGrp="1"/>
          </p:cNvSpPr>
          <p:nvPr/>
        </p:nvSpPr>
        <p:spPr>
          <a:xfrm>
            <a:off x="5989320" y="2606040"/>
            <a:ext cx="539496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20000"/>
              </a:lnSpc>
              <a:buNone/>
            </a:pPr>
            <a:r>
              <a:rPr sz="150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High-volume reporting hides enterprise-relevant events.</a:t>
            </a: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F73582CB-E3F1-4618-A820-FC3273A53FE0}"/>
              </a:ext>
            </a:extLst>
          </p:cNvPr>
          <p:cNvSpPr>
            <a:spLocks noGrp="1"/>
          </p:cNvSpPr>
          <p:nvPr/>
        </p:nvSpPr>
        <p:spPr>
          <a:xfrm>
            <a:off x="5989320" y="34747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43F5E"/>
          </a:solidFill>
        </p:spPr>
        <p:txBody>
          <a:bodyPr/>
          <a:lstStyle/>
          <a:p>
            <a:endParaRPr lang="en-HK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4BD7F39-7ED0-4DAB-B0FB-E3722A93CD09}"/>
              </a:ext>
            </a:extLst>
          </p:cNvPr>
          <p:cNvSpPr>
            <a:spLocks noGrp="1"/>
          </p:cNvSpPr>
          <p:nvPr/>
        </p:nvSpPr>
        <p:spPr>
          <a:xfrm>
            <a:off x="5989320" y="34747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0B0F1E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E8D2954-AD90-4C26-B5C4-0E8996F4EFC9}"/>
              </a:ext>
            </a:extLst>
          </p:cNvPr>
          <p:cNvSpPr>
            <a:spLocks noGrp="1"/>
          </p:cNvSpPr>
          <p:nvPr/>
        </p:nvSpPr>
        <p:spPr>
          <a:xfrm>
            <a:off x="6400800" y="33832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Relevant events are detected too late</a:t>
            </a: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BC951D09-B14F-4F71-98B8-C2F6C762A466}"/>
              </a:ext>
            </a:extLst>
          </p:cNvPr>
          <p:cNvSpPr>
            <a:spLocks noGrp="1"/>
          </p:cNvSpPr>
          <p:nvPr/>
        </p:nvSpPr>
        <p:spPr>
          <a:xfrm>
            <a:off x="5989320" y="400507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43F5E"/>
          </a:solidFill>
        </p:spPr>
        <p:txBody>
          <a:bodyPr/>
          <a:lstStyle/>
          <a:p>
            <a:endParaRPr lang="en-HK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C2CE74F-6D81-4A98-B6F4-51E5B22A8887}"/>
              </a:ext>
            </a:extLst>
          </p:cNvPr>
          <p:cNvSpPr>
            <a:spLocks noGrp="1"/>
          </p:cNvSpPr>
          <p:nvPr/>
        </p:nvSpPr>
        <p:spPr>
          <a:xfrm>
            <a:off x="5989320" y="400507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0B0F1E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43F0824F-3CF2-439C-B8B2-04EEC65BAFE4}"/>
              </a:ext>
            </a:extLst>
          </p:cNvPr>
          <p:cNvSpPr>
            <a:spLocks noGrp="1"/>
          </p:cNvSpPr>
          <p:nvPr/>
        </p:nvSpPr>
        <p:spPr>
          <a:xfrm>
            <a:off x="6400800" y="3913632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Unsupported reports create costly false alarms</a:t>
            </a: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55771E06-DB9E-4DC4-827E-99B1B57118BB}"/>
              </a:ext>
            </a:extLst>
          </p:cNvPr>
          <p:cNvSpPr>
            <a:spLocks noGrp="1"/>
          </p:cNvSpPr>
          <p:nvPr/>
        </p:nvSpPr>
        <p:spPr>
          <a:xfrm>
            <a:off x="5989320" y="45354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43F5E"/>
          </a:solidFill>
        </p:spPr>
        <p:txBody>
          <a:bodyPr/>
          <a:lstStyle/>
          <a:p>
            <a:endParaRPr lang="en-HK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C8CF8824-A087-4DA2-96E1-ACC88F751516}"/>
              </a:ext>
            </a:extLst>
          </p:cNvPr>
          <p:cNvSpPr>
            <a:spLocks noGrp="1"/>
          </p:cNvSpPr>
          <p:nvPr/>
        </p:nvSpPr>
        <p:spPr>
          <a:xfrm>
            <a:off x="5989320" y="453542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0B0F1E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807C033C-4774-49FE-9F10-4A0C9A193F0D}"/>
              </a:ext>
            </a:extLst>
          </p:cNvPr>
          <p:cNvSpPr>
            <a:spLocks noGrp="1"/>
          </p:cNvSpPr>
          <p:nvPr/>
        </p:nvSpPr>
        <p:spPr>
          <a:xfrm>
            <a:off x="6400800" y="4443984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Dependencies remain scattered across enterprise systems</a:t>
            </a: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B746CE33-5224-4078-BEA8-52C5958379F1}"/>
              </a:ext>
            </a:extLst>
          </p:cNvPr>
          <p:cNvSpPr>
            <a:spLocks noGrp="1"/>
          </p:cNvSpPr>
          <p:nvPr/>
        </p:nvSpPr>
        <p:spPr>
          <a:xfrm>
            <a:off x="5989320" y="506577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43F5E"/>
          </a:solidFill>
        </p:spPr>
        <p:txBody>
          <a:bodyPr/>
          <a:lstStyle/>
          <a:p>
            <a:endParaRPr lang="en-HK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6B4C36CD-1A61-4F72-8947-6F71BDC311AD}"/>
              </a:ext>
            </a:extLst>
          </p:cNvPr>
          <p:cNvSpPr>
            <a:spLocks noGrp="1"/>
          </p:cNvSpPr>
          <p:nvPr/>
        </p:nvSpPr>
        <p:spPr>
          <a:xfrm>
            <a:off x="5989320" y="506577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0B0F1E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E1B9B11D-974E-444D-8FBF-F01AE02CD769}"/>
              </a:ext>
            </a:extLst>
          </p:cNvPr>
          <p:cNvSpPr>
            <a:spLocks noGrp="1"/>
          </p:cNvSpPr>
          <p:nvPr/>
        </p:nvSpPr>
        <p:spPr>
          <a:xfrm>
            <a:off x="6400800" y="4974336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News rarely produces a feasible operational response</a:t>
            </a: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7EEF9098-DD8B-4765-BE5D-8B0F42BC90EF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Chainsilience AI</a:t>
            </a: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652E94E2-0A6E-4AD8-A66C-6B2F9233BAB0}"/>
              </a:ext>
            </a:extLst>
          </p:cNvPr>
          <p:cNvSpPr>
            <a:spLocks noGrp="1"/>
          </p:cNvSpPr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IDSOL 2026  ·  The Decision Gap</a:t>
            </a:r>
          </a:p>
        </p:txBody>
      </p:sp>
    </p:spTree>
    <p:extLst>
      <p:ext uri="{BB962C8B-B14F-4D97-AF65-F5344CB8AC3E}">
        <p14:creationId xmlns:p14="http://schemas.microsoft.com/office/powerpoint/2010/main" val="586381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9AE6207-9D00-451F-9F4B-F5AA05129C1B}"/>
              </a:ext>
            </a:extLst>
          </p:cNvPr>
          <p:cNvSpPr>
            <a:spLocks noGrp="1"/>
          </p:cNvSpPr>
          <p:nvPr/>
        </p:nvSpPr>
        <p:spPr>
          <a:xfrm>
            <a:off x="548640" y="45720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100" b="1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9AA5F63-6CD6-4573-9C1C-CC0CF88E8332}"/>
              </a:ext>
            </a:extLst>
          </p:cNvPr>
          <p:cNvSpPr>
            <a:spLocks noGrp="1"/>
          </p:cNvSpPr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small timing gap can become a stoppage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66E3810-CCE3-4847-98B9-CABF504C67CE}"/>
              </a:ext>
            </a:extLst>
          </p:cNvPr>
          <p:cNvSpPr>
            <a:spLocks noGrp="1"/>
          </p:cNvSpPr>
          <p:nvPr/>
        </p:nvSpPr>
        <p:spPr>
          <a:xfrm>
            <a:off x="548640" y="187452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1B2444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805E86F-1B34-45BA-9087-07436B606D0A}"/>
              </a:ext>
            </a:extLst>
          </p:cNvPr>
          <p:cNvSpPr>
            <a:spLocks noGrp="1"/>
          </p:cNvSpPr>
          <p:nvPr/>
        </p:nvSpPr>
        <p:spPr>
          <a:xfrm>
            <a:off x="640080" y="2148840"/>
            <a:ext cx="25146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HK" sz="4400" b="1" dirty="0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60</a:t>
            </a:r>
            <a:r>
              <a:rPr sz="4400" b="1" dirty="0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%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348761D-9669-4242-A560-ADB583B6D539}"/>
              </a:ext>
            </a:extLst>
          </p:cNvPr>
          <p:cNvSpPr>
            <a:spLocks noGrp="1"/>
          </p:cNvSpPr>
          <p:nvPr/>
        </p:nvSpPr>
        <p:spPr>
          <a:xfrm>
            <a:off x="777240" y="3063240"/>
            <a:ext cx="224028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sz="125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qualified wafer volume from one supplier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EFCBD4D-460B-4078-AA17-BBE50DBE8766}"/>
              </a:ext>
            </a:extLst>
          </p:cNvPr>
          <p:cNvSpPr>
            <a:spLocks noGrp="1"/>
          </p:cNvSpPr>
          <p:nvPr/>
        </p:nvSpPr>
        <p:spPr>
          <a:xfrm>
            <a:off x="3410712" y="187452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1B2444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617D947-8165-4BCF-AFBE-6E19C14FE456}"/>
              </a:ext>
            </a:extLst>
          </p:cNvPr>
          <p:cNvSpPr>
            <a:spLocks noGrp="1"/>
          </p:cNvSpPr>
          <p:nvPr/>
        </p:nvSpPr>
        <p:spPr>
          <a:xfrm>
            <a:off x="3502152" y="2148840"/>
            <a:ext cx="25146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4400" b="1" dirty="0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1</a:t>
            </a:r>
            <a:r>
              <a:rPr lang="en-HK" sz="4400" b="1" dirty="0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2</a:t>
            </a:r>
            <a:r>
              <a:rPr sz="4400" b="1" dirty="0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 days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BB974DB-ABA6-4A4B-85B0-8C2B120561F7}"/>
              </a:ext>
            </a:extLst>
          </p:cNvPr>
          <p:cNvSpPr>
            <a:spLocks noGrp="1"/>
          </p:cNvSpPr>
          <p:nvPr/>
        </p:nvSpPr>
        <p:spPr>
          <a:xfrm>
            <a:off x="3639312" y="3063240"/>
            <a:ext cx="224028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sz="125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usable inventory coverage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BFBC410-0D81-435E-B99F-ECF562415952}"/>
              </a:ext>
            </a:extLst>
          </p:cNvPr>
          <p:cNvSpPr>
            <a:spLocks noGrp="1"/>
          </p:cNvSpPr>
          <p:nvPr/>
        </p:nvSpPr>
        <p:spPr>
          <a:xfrm>
            <a:off x="6272784" y="187452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1B2444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75C84B5-A27F-4A09-99C2-88D657C7E686}"/>
              </a:ext>
            </a:extLst>
          </p:cNvPr>
          <p:cNvSpPr>
            <a:spLocks noGrp="1"/>
          </p:cNvSpPr>
          <p:nvPr/>
        </p:nvSpPr>
        <p:spPr>
          <a:xfrm>
            <a:off x="6364224" y="2148840"/>
            <a:ext cx="25146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4400" b="1">
                <a:solidFill>
                  <a:srgbClr val="F43F5E"/>
                </a:solidFill>
                <a:latin typeface="Calibri"/>
                <a:ea typeface="Calibri"/>
                <a:cs typeface="Calibri"/>
              </a:rPr>
              <a:t>21 days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C4D6194-B5A1-4BAF-BD14-67E1802BD844}"/>
              </a:ext>
            </a:extLst>
          </p:cNvPr>
          <p:cNvSpPr>
            <a:spLocks noGrp="1"/>
          </p:cNvSpPr>
          <p:nvPr/>
        </p:nvSpPr>
        <p:spPr>
          <a:xfrm>
            <a:off x="6501384" y="3063240"/>
            <a:ext cx="224028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sz="125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illustrative recovery range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C7943F6-9D3E-4C3C-8486-02010D461C05}"/>
              </a:ext>
            </a:extLst>
          </p:cNvPr>
          <p:cNvSpPr>
            <a:spLocks noGrp="1"/>
          </p:cNvSpPr>
          <p:nvPr/>
        </p:nvSpPr>
        <p:spPr>
          <a:xfrm>
            <a:off x="9134856" y="187452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1B2444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980AC69-40A5-44E8-B336-3F3CFB2CED13}"/>
              </a:ext>
            </a:extLst>
          </p:cNvPr>
          <p:cNvSpPr>
            <a:spLocks noGrp="1"/>
          </p:cNvSpPr>
          <p:nvPr/>
        </p:nvSpPr>
        <p:spPr>
          <a:xfrm>
            <a:off x="9226296" y="2148840"/>
            <a:ext cx="25146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44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Day 13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0EDDC7D-FB85-4C92-8333-5E7C6A3D0950}"/>
              </a:ext>
            </a:extLst>
          </p:cNvPr>
          <p:cNvSpPr>
            <a:spLocks noGrp="1"/>
          </p:cNvSpPr>
          <p:nvPr/>
        </p:nvSpPr>
        <p:spPr>
          <a:xfrm>
            <a:off x="9363456" y="3063240"/>
            <a:ext cx="224028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sz="125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projected baseline shortage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286F375-D71B-4A25-8352-7CF3BABFFA99}"/>
              </a:ext>
            </a:extLst>
          </p:cNvPr>
          <p:cNvSpPr>
            <a:spLocks noGrp="1"/>
          </p:cNvSpPr>
          <p:nvPr/>
        </p:nvSpPr>
        <p:spPr>
          <a:xfrm>
            <a:off x="548640" y="448056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41B33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CBCD750-EBD3-4ABE-88E1-AE34489A277E}"/>
              </a:ext>
            </a:extLst>
          </p:cNvPr>
          <p:cNvSpPr>
            <a:spLocks noGrp="1"/>
          </p:cNvSpPr>
          <p:nvPr/>
        </p:nvSpPr>
        <p:spPr>
          <a:xfrm>
            <a:off x="868680" y="4617720"/>
            <a:ext cx="1042416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20000"/>
              </a:lnSpc>
              <a:buNone/>
            </a:pPr>
            <a:r>
              <a:rPr sz="1500" b="1" dirty="0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Illustrative Orion Controls scenario: concentrated supply, short inventory coverage, and slow recovery create a time-critical enterprise decision.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561A649-AE6F-4D9A-9D35-0007F8987AEA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Chainsilience AI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76FEBC7-AB7F-4703-88E5-199E54EB62FC}"/>
              </a:ext>
            </a:extLst>
          </p:cNvPr>
          <p:cNvSpPr>
            <a:spLocks noGrp="1"/>
          </p:cNvSpPr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IDSOL 2026  ·  Why it matters</a:t>
            </a:r>
          </a:p>
        </p:txBody>
      </p:sp>
    </p:spTree>
    <p:extLst>
      <p:ext uri="{BB962C8B-B14F-4D97-AF65-F5344CB8AC3E}">
        <p14:creationId xmlns:p14="http://schemas.microsoft.com/office/powerpoint/2010/main" val="2039616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1E04D1F-636B-423E-AA02-B6FF7C4B2862}"/>
              </a:ext>
            </a:extLst>
          </p:cNvPr>
          <p:cNvSpPr>
            <a:spLocks noGrp="1"/>
          </p:cNvSpPr>
          <p:nvPr/>
        </p:nvSpPr>
        <p:spPr>
          <a:xfrm>
            <a:off x="548640" y="45720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100" b="1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CHAINSILIENCE AI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45E4EE-FC2F-49D1-A657-05EABD667F30}"/>
              </a:ext>
            </a:extLst>
          </p:cNvPr>
          <p:cNvSpPr>
            <a:spLocks noGrp="1"/>
          </p:cNvSpPr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From external signal to governed decision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6D2A91A-AAB1-48B2-A581-E888F5157578}"/>
              </a:ext>
            </a:extLst>
          </p:cNvPr>
          <p:cNvSpPr>
            <a:spLocks noGrp="1"/>
          </p:cNvSpPr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</a:pPr>
            <a:r>
              <a:rPr sz="150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Every transition stores confidence, provenance, timestamp, and version.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F9091F0-200F-414E-AE66-F6285B2848F7}"/>
              </a:ext>
            </a:extLst>
          </p:cNvPr>
          <p:cNvSpPr>
            <a:spLocks noGrp="1"/>
          </p:cNvSpPr>
          <p:nvPr/>
        </p:nvSpPr>
        <p:spPr>
          <a:xfrm>
            <a:off x="548640" y="237744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1B2444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E179CE2-0531-4AF2-A15A-1EC7C76CF28C}"/>
              </a:ext>
            </a:extLst>
          </p:cNvPr>
          <p:cNvSpPr>
            <a:spLocks noGrp="1"/>
          </p:cNvSpPr>
          <p:nvPr/>
        </p:nvSpPr>
        <p:spPr>
          <a:xfrm>
            <a:off x="822960" y="2651760"/>
            <a:ext cx="502920" cy="502920"/>
          </a:xfrm>
          <a:prstGeom prst="ellipse">
            <a:avLst/>
          </a:prstGeom>
          <a:solidFill>
            <a:srgbClr val="2DD4BF"/>
          </a:solidFill>
        </p:spPr>
        <p:txBody>
          <a:bodyPr/>
          <a:lstStyle/>
          <a:p>
            <a:endParaRPr lang="en-HK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E3F25F6-D1CF-47B9-ADA9-AB8DC61C77DE}"/>
              </a:ext>
            </a:extLst>
          </p:cNvPr>
          <p:cNvSpPr>
            <a:spLocks noGrp="1"/>
          </p:cNvSpPr>
          <p:nvPr/>
        </p:nvSpPr>
        <p:spPr>
          <a:xfrm>
            <a:off x="822960" y="2651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0B0F1E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2745897-B6A9-4ECD-A657-7FA1833D7ADF}"/>
              </a:ext>
            </a:extLst>
          </p:cNvPr>
          <p:cNvSpPr>
            <a:spLocks noGrp="1"/>
          </p:cNvSpPr>
          <p:nvPr/>
        </p:nvSpPr>
        <p:spPr>
          <a:xfrm>
            <a:off x="804672" y="3337560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Detect &amp; Verify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E86F298-7D24-4E51-A5AC-9446A175B397}"/>
              </a:ext>
            </a:extLst>
          </p:cNvPr>
          <p:cNvSpPr>
            <a:spLocks noGrp="1"/>
          </p:cNvSpPr>
          <p:nvPr/>
        </p:nvSpPr>
        <p:spPr>
          <a:xfrm>
            <a:off x="804672" y="4069080"/>
            <a:ext cx="224028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</a:pPr>
            <a:r>
              <a:rPr sz="130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Normalize permitted sources and cross-check disruption claims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8054ECA-CD1C-4767-9C9F-EAF67231EABA}"/>
              </a:ext>
            </a:extLst>
          </p:cNvPr>
          <p:cNvSpPr>
            <a:spLocks noGrp="1"/>
          </p:cNvSpPr>
          <p:nvPr/>
        </p:nvSpPr>
        <p:spPr>
          <a:xfrm>
            <a:off x="3410712" y="237744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1B2444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5B27DFA-CE11-460F-BB87-69BBFDABF83D}"/>
              </a:ext>
            </a:extLst>
          </p:cNvPr>
          <p:cNvSpPr>
            <a:spLocks noGrp="1"/>
          </p:cNvSpPr>
          <p:nvPr/>
        </p:nvSpPr>
        <p:spPr>
          <a:xfrm>
            <a:off x="3685032" y="2651760"/>
            <a:ext cx="502920" cy="502920"/>
          </a:xfrm>
          <a:prstGeom prst="ellipse">
            <a:avLst/>
          </a:prstGeom>
          <a:solidFill>
            <a:srgbClr val="38BDF8"/>
          </a:solidFill>
        </p:spPr>
        <p:txBody>
          <a:bodyPr/>
          <a:lstStyle/>
          <a:p>
            <a:endParaRPr lang="en-HK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E66B551-69F1-4D45-8626-5AD686DAE34F}"/>
              </a:ext>
            </a:extLst>
          </p:cNvPr>
          <p:cNvSpPr>
            <a:spLocks noGrp="1"/>
          </p:cNvSpPr>
          <p:nvPr/>
        </p:nvSpPr>
        <p:spPr>
          <a:xfrm>
            <a:off x="3685032" y="2651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0B0F1E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8151783-E637-4F5A-8C89-1253E717A89D}"/>
              </a:ext>
            </a:extLst>
          </p:cNvPr>
          <p:cNvSpPr>
            <a:spLocks noGrp="1"/>
          </p:cNvSpPr>
          <p:nvPr/>
        </p:nvSpPr>
        <p:spPr>
          <a:xfrm>
            <a:off x="3666744" y="3337560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Map Exposure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99986A8-9D93-438B-9C11-D09967268A1A}"/>
              </a:ext>
            </a:extLst>
          </p:cNvPr>
          <p:cNvSpPr>
            <a:spLocks noGrp="1"/>
          </p:cNvSpPr>
          <p:nvPr/>
        </p:nvSpPr>
        <p:spPr>
          <a:xfrm>
            <a:off x="3666744" y="4069080"/>
            <a:ext cx="224028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</a:pPr>
            <a:r>
              <a:rPr sz="130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Link events to enterprise parts, routes, products, and orders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725D595-DEF6-4870-93B1-21AFDD22FD91}"/>
              </a:ext>
            </a:extLst>
          </p:cNvPr>
          <p:cNvSpPr>
            <a:spLocks noGrp="1"/>
          </p:cNvSpPr>
          <p:nvPr/>
        </p:nvSpPr>
        <p:spPr>
          <a:xfrm>
            <a:off x="6272784" y="237744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1B2444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D025F9C-7E2D-40B9-8D0F-DCD2820EC689}"/>
              </a:ext>
            </a:extLst>
          </p:cNvPr>
          <p:cNvSpPr>
            <a:spLocks noGrp="1"/>
          </p:cNvSpPr>
          <p:nvPr/>
        </p:nvSpPr>
        <p:spPr>
          <a:xfrm>
            <a:off x="6547104" y="2651760"/>
            <a:ext cx="502920" cy="502920"/>
          </a:xfrm>
          <a:prstGeom prst="ellipse">
            <a:avLst/>
          </a:prstGeom>
          <a:solidFill>
            <a:srgbClr val="F59E0B"/>
          </a:solidFill>
        </p:spPr>
        <p:txBody>
          <a:bodyPr/>
          <a:lstStyle/>
          <a:p>
            <a:endParaRPr lang="en-HK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32A7CCB-5196-4527-9A3E-7F767F3B92A9}"/>
              </a:ext>
            </a:extLst>
          </p:cNvPr>
          <p:cNvSpPr>
            <a:spLocks noGrp="1"/>
          </p:cNvSpPr>
          <p:nvPr/>
        </p:nvSpPr>
        <p:spPr>
          <a:xfrm>
            <a:off x="6547104" y="2651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0B0F1E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16F150B-7EE6-48E8-8301-1E134B373C16}"/>
              </a:ext>
            </a:extLst>
          </p:cNvPr>
          <p:cNvSpPr>
            <a:spLocks noGrp="1"/>
          </p:cNvSpPr>
          <p:nvPr/>
        </p:nvSpPr>
        <p:spPr>
          <a:xfrm>
            <a:off x="6528816" y="3337560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Quantify Impact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A08884E-68D8-4F3D-ADE7-B2B7359799CE}"/>
              </a:ext>
            </a:extLst>
          </p:cNvPr>
          <p:cNvSpPr>
            <a:spLocks noGrp="1"/>
          </p:cNvSpPr>
          <p:nvPr/>
        </p:nvSpPr>
        <p:spPr>
          <a:xfrm>
            <a:off x="6528816" y="4069080"/>
            <a:ext cx="224028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</a:pPr>
            <a:r>
              <a:rPr sz="130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Deterministic metrics and Monte Carlo scenario analysis</a:t>
            </a: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D086FE0A-3FBA-4599-B6CE-E1E3DFCA50FD}"/>
              </a:ext>
            </a:extLst>
          </p:cNvPr>
          <p:cNvSpPr>
            <a:spLocks noGrp="1"/>
          </p:cNvSpPr>
          <p:nvPr/>
        </p:nvSpPr>
        <p:spPr>
          <a:xfrm>
            <a:off x="9134856" y="237744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1B2444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08F8358-D9BD-48E7-98DC-C011B7C028EA}"/>
              </a:ext>
            </a:extLst>
          </p:cNvPr>
          <p:cNvSpPr>
            <a:spLocks noGrp="1"/>
          </p:cNvSpPr>
          <p:nvPr/>
        </p:nvSpPr>
        <p:spPr>
          <a:xfrm>
            <a:off x="9409176" y="2651760"/>
            <a:ext cx="502920" cy="502920"/>
          </a:xfrm>
          <a:prstGeom prst="ellipse">
            <a:avLst/>
          </a:prstGeom>
          <a:solidFill>
            <a:srgbClr val="34D399"/>
          </a:solidFill>
        </p:spPr>
        <p:txBody>
          <a:bodyPr/>
          <a:lstStyle/>
          <a:p>
            <a:endParaRPr lang="en-HK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74C8D5B-D511-401B-AFD9-A29CD231F03D}"/>
              </a:ext>
            </a:extLst>
          </p:cNvPr>
          <p:cNvSpPr>
            <a:spLocks noGrp="1"/>
          </p:cNvSpPr>
          <p:nvPr/>
        </p:nvSpPr>
        <p:spPr>
          <a:xfrm>
            <a:off x="9409176" y="2651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0B0F1E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ED8A298B-AF40-439F-99BC-1622134EF7BB}"/>
              </a:ext>
            </a:extLst>
          </p:cNvPr>
          <p:cNvSpPr>
            <a:spLocks noGrp="1"/>
          </p:cNvSpPr>
          <p:nvPr/>
        </p:nvSpPr>
        <p:spPr>
          <a:xfrm>
            <a:off x="9390888" y="3337560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Plan &amp; Approve</a:t>
            </a: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D5C14C5-7CBB-453C-B3B3-B439C7B649F3}"/>
              </a:ext>
            </a:extLst>
          </p:cNvPr>
          <p:cNvSpPr>
            <a:spLocks noGrp="1"/>
          </p:cNvSpPr>
          <p:nvPr/>
        </p:nvSpPr>
        <p:spPr>
          <a:xfrm>
            <a:off x="9390888" y="4069080"/>
            <a:ext cx="224028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</a:pPr>
            <a:r>
              <a:rPr sz="130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RAG-grounded options, feasibility checks, and human authorization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927401E8-1A59-4039-9F2B-FAF10F63C7ED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Chainsilience AI</a:t>
            </a: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B43275D-1B65-45C4-A1E1-4C8572972BF3}"/>
              </a:ext>
            </a:extLst>
          </p:cNvPr>
          <p:cNvSpPr>
            <a:spLocks noGrp="1"/>
          </p:cNvSpPr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IDSOL 2026  ·  Chainsilience AI</a:t>
            </a:r>
          </a:p>
        </p:txBody>
      </p:sp>
    </p:spTree>
    <p:extLst>
      <p:ext uri="{BB962C8B-B14F-4D97-AF65-F5344CB8AC3E}">
        <p14:creationId xmlns:p14="http://schemas.microsoft.com/office/powerpoint/2010/main" val="427058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0DD1E9-57F3-427D-A79F-AB9E7F22EAF2}"/>
              </a:ext>
            </a:extLst>
          </p:cNvPr>
          <p:cNvSpPr>
            <a:spLocks noGrp="1"/>
          </p:cNvSpPr>
          <p:nvPr/>
        </p:nvSpPr>
        <p:spPr>
          <a:xfrm>
            <a:off x="548640" y="45720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100" b="1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END-TO-END WORKFLOW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9A84EC-8501-4789-8119-AF38D8EC361A}"/>
              </a:ext>
            </a:extLst>
          </p:cNvPr>
          <p:cNvSpPr>
            <a:spLocks noGrp="1"/>
          </p:cNvSpPr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One evidence-preserving intelligence loop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5F17C4D-A09D-4791-87DE-A57674B8AB97}"/>
              </a:ext>
            </a:extLst>
          </p:cNvPr>
          <p:cNvSpPr>
            <a:spLocks noGrp="1"/>
          </p:cNvSpPr>
          <p:nvPr/>
        </p:nvSpPr>
        <p:spPr>
          <a:xfrm>
            <a:off x="548640" y="2377440"/>
            <a:ext cx="1737360" cy="2194560"/>
          </a:xfrm>
          <a:prstGeom prst="roundRect">
            <a:avLst>
              <a:gd name="adj" fmla="val 5263"/>
            </a:avLst>
          </a:prstGeom>
          <a:solidFill>
            <a:srgbClr val="1B2444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DB4DC59-6D61-44BD-9D8B-1031CC3417EA}"/>
              </a:ext>
            </a:extLst>
          </p:cNvPr>
          <p:cNvSpPr>
            <a:spLocks noGrp="1"/>
          </p:cNvSpPr>
          <p:nvPr/>
        </p:nvSpPr>
        <p:spPr>
          <a:xfrm>
            <a:off x="1161288" y="2633472"/>
            <a:ext cx="512064" cy="512064"/>
          </a:xfrm>
          <a:prstGeom prst="ellipse">
            <a:avLst/>
          </a:prstGeom>
          <a:solidFill>
            <a:srgbClr val="2DD4BF"/>
          </a:solidFill>
        </p:spPr>
        <p:txBody>
          <a:bodyPr/>
          <a:lstStyle/>
          <a:p>
            <a:endParaRPr lang="en-HK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5C86A56-C35A-4502-AB20-57259A8E6538}"/>
              </a:ext>
            </a:extLst>
          </p:cNvPr>
          <p:cNvSpPr>
            <a:spLocks noGrp="1"/>
          </p:cNvSpPr>
          <p:nvPr/>
        </p:nvSpPr>
        <p:spPr>
          <a:xfrm>
            <a:off x="1161288" y="2633472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0B0F1E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9A2D2C6-3FE9-4D69-949C-E45173A8DC58}"/>
              </a:ext>
            </a:extLst>
          </p:cNvPr>
          <p:cNvSpPr>
            <a:spLocks noGrp="1"/>
          </p:cNvSpPr>
          <p:nvPr/>
        </p:nvSpPr>
        <p:spPr>
          <a:xfrm>
            <a:off x="594360" y="324612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Collect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14289DD-C93F-47B6-A0C1-C2539766CDA5}"/>
              </a:ext>
            </a:extLst>
          </p:cNvPr>
          <p:cNvSpPr>
            <a:spLocks noGrp="1"/>
          </p:cNvSpPr>
          <p:nvPr/>
        </p:nvSpPr>
        <p:spPr>
          <a:xfrm>
            <a:off x="658368" y="3657600"/>
            <a:ext cx="1517904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sz="110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Normalize permitted external signals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2998A8F-1633-44D0-AC91-A7FC2178F017}"/>
              </a:ext>
            </a:extLst>
          </p:cNvPr>
          <p:cNvSpPr>
            <a:spLocks noGrp="1"/>
          </p:cNvSpPr>
          <p:nvPr/>
        </p:nvSpPr>
        <p:spPr>
          <a:xfrm>
            <a:off x="2267712" y="2377440"/>
            <a:ext cx="210312" cy="2194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200" b="1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F2BC076-374A-46D9-82E3-CC1F29DD418D}"/>
              </a:ext>
            </a:extLst>
          </p:cNvPr>
          <p:cNvSpPr>
            <a:spLocks noGrp="1"/>
          </p:cNvSpPr>
          <p:nvPr/>
        </p:nvSpPr>
        <p:spPr>
          <a:xfrm>
            <a:off x="3017520" y="2633472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0B0F1E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D1B7461-2E3E-4562-B56A-CB0A9EDB4634}"/>
              </a:ext>
            </a:extLst>
          </p:cNvPr>
          <p:cNvSpPr>
            <a:spLocks noGrp="1"/>
          </p:cNvSpPr>
          <p:nvPr/>
        </p:nvSpPr>
        <p:spPr>
          <a:xfrm>
            <a:off x="4248509" y="2364414"/>
            <a:ext cx="1737360" cy="2194560"/>
          </a:xfrm>
          <a:prstGeom prst="roundRect">
            <a:avLst>
              <a:gd name="adj" fmla="val 5263"/>
            </a:avLst>
          </a:prstGeom>
          <a:solidFill>
            <a:srgbClr val="1B2444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E166C2C-FF12-4212-BE35-CA86459255C5}"/>
              </a:ext>
            </a:extLst>
          </p:cNvPr>
          <p:cNvSpPr>
            <a:spLocks noGrp="1"/>
          </p:cNvSpPr>
          <p:nvPr/>
        </p:nvSpPr>
        <p:spPr>
          <a:xfrm>
            <a:off x="4842869" y="2629590"/>
            <a:ext cx="512064" cy="512064"/>
          </a:xfrm>
          <a:prstGeom prst="ellipse">
            <a:avLst/>
          </a:prstGeom>
          <a:solidFill>
            <a:srgbClr val="38BDF8"/>
          </a:solidFill>
        </p:spPr>
        <p:txBody>
          <a:bodyPr/>
          <a:lstStyle/>
          <a:p>
            <a:endParaRPr lang="en-HK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35EB07C-FD0B-4E50-A0F4-95540956D926}"/>
              </a:ext>
            </a:extLst>
          </p:cNvPr>
          <p:cNvSpPr>
            <a:spLocks noGrp="1"/>
          </p:cNvSpPr>
          <p:nvPr/>
        </p:nvSpPr>
        <p:spPr>
          <a:xfrm>
            <a:off x="4294229" y="3233094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Verify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D655638-5076-4AE2-9085-93975D08D833}"/>
              </a:ext>
            </a:extLst>
          </p:cNvPr>
          <p:cNvSpPr>
            <a:spLocks noGrp="1"/>
          </p:cNvSpPr>
          <p:nvPr/>
        </p:nvSpPr>
        <p:spPr>
          <a:xfrm>
            <a:off x="4358237" y="3644574"/>
            <a:ext cx="1517904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sz="110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Cross-source claims and provenance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A04013A-27C4-4109-91D8-54DA8732CC19}"/>
              </a:ext>
            </a:extLst>
          </p:cNvPr>
          <p:cNvSpPr>
            <a:spLocks noGrp="1"/>
          </p:cNvSpPr>
          <p:nvPr/>
        </p:nvSpPr>
        <p:spPr>
          <a:xfrm>
            <a:off x="4123944" y="2377440"/>
            <a:ext cx="210312" cy="2194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200" b="1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B85E893-5937-4BBD-97F8-E9AF60F53E6C}"/>
              </a:ext>
            </a:extLst>
          </p:cNvPr>
          <p:cNvSpPr>
            <a:spLocks noGrp="1"/>
          </p:cNvSpPr>
          <p:nvPr/>
        </p:nvSpPr>
        <p:spPr>
          <a:xfrm>
            <a:off x="2404872" y="2364414"/>
            <a:ext cx="1737360" cy="2194560"/>
          </a:xfrm>
          <a:prstGeom prst="roundRect">
            <a:avLst>
              <a:gd name="adj" fmla="val 5263"/>
            </a:avLst>
          </a:prstGeom>
          <a:solidFill>
            <a:srgbClr val="1B2444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D806EDFA-D139-4964-A386-7467C3CBE37D}"/>
              </a:ext>
            </a:extLst>
          </p:cNvPr>
          <p:cNvSpPr>
            <a:spLocks noGrp="1"/>
          </p:cNvSpPr>
          <p:nvPr/>
        </p:nvSpPr>
        <p:spPr>
          <a:xfrm>
            <a:off x="3003804" y="2620446"/>
            <a:ext cx="512064" cy="512064"/>
          </a:xfrm>
          <a:prstGeom prst="ellipse">
            <a:avLst/>
          </a:prstGeom>
          <a:solidFill>
            <a:srgbClr val="34D399"/>
          </a:solidFill>
        </p:spPr>
        <p:txBody>
          <a:bodyPr/>
          <a:lstStyle/>
          <a:p>
            <a:endParaRPr lang="en-HK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5B63B3D-D7D7-4C45-AEBA-677E71A4328E}"/>
              </a:ext>
            </a:extLst>
          </p:cNvPr>
          <p:cNvSpPr>
            <a:spLocks noGrp="1"/>
          </p:cNvSpPr>
          <p:nvPr/>
        </p:nvSpPr>
        <p:spPr>
          <a:xfrm>
            <a:off x="3003804" y="2620446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0B0F1E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E632CC7-C6ED-4DF5-BB26-5D52032CD431}"/>
              </a:ext>
            </a:extLst>
          </p:cNvPr>
          <p:cNvSpPr>
            <a:spLocks noGrp="1"/>
          </p:cNvSpPr>
          <p:nvPr/>
        </p:nvSpPr>
        <p:spPr>
          <a:xfrm>
            <a:off x="2436876" y="3233094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Filter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82C2479-8D58-419D-850D-F073F84EBDA4}"/>
              </a:ext>
            </a:extLst>
          </p:cNvPr>
          <p:cNvSpPr>
            <a:spLocks noGrp="1"/>
          </p:cNvSpPr>
          <p:nvPr/>
        </p:nvSpPr>
        <p:spPr>
          <a:xfrm>
            <a:off x="2500884" y="3644574"/>
            <a:ext cx="1517904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sz="110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LLM relevance to enterprise entities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6A967BC-BEA5-4D11-8506-6F105C84FFD7}"/>
              </a:ext>
            </a:extLst>
          </p:cNvPr>
          <p:cNvSpPr>
            <a:spLocks noGrp="1"/>
          </p:cNvSpPr>
          <p:nvPr/>
        </p:nvSpPr>
        <p:spPr>
          <a:xfrm>
            <a:off x="5980176" y="2377440"/>
            <a:ext cx="210312" cy="2194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200" b="1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027D9261-4444-4E6D-B767-A9FE7E77A086}"/>
              </a:ext>
            </a:extLst>
          </p:cNvPr>
          <p:cNvSpPr>
            <a:spLocks noGrp="1"/>
          </p:cNvSpPr>
          <p:nvPr/>
        </p:nvSpPr>
        <p:spPr>
          <a:xfrm>
            <a:off x="6117336" y="2377440"/>
            <a:ext cx="1737360" cy="2194560"/>
          </a:xfrm>
          <a:prstGeom prst="roundRect">
            <a:avLst>
              <a:gd name="adj" fmla="val 5263"/>
            </a:avLst>
          </a:prstGeom>
          <a:solidFill>
            <a:srgbClr val="1B2444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9FC6B1F8-1C94-4E7A-BE9F-4DFFBB39738A}"/>
              </a:ext>
            </a:extLst>
          </p:cNvPr>
          <p:cNvSpPr>
            <a:spLocks noGrp="1"/>
          </p:cNvSpPr>
          <p:nvPr/>
        </p:nvSpPr>
        <p:spPr>
          <a:xfrm>
            <a:off x="6729984" y="2633472"/>
            <a:ext cx="512064" cy="512064"/>
          </a:xfrm>
          <a:prstGeom prst="ellipse">
            <a:avLst/>
          </a:prstGeom>
          <a:solidFill>
            <a:srgbClr val="F59E0B"/>
          </a:solidFill>
        </p:spPr>
        <p:txBody>
          <a:bodyPr/>
          <a:lstStyle/>
          <a:p>
            <a:endParaRPr lang="en-HK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2854BD8-6241-4AAB-A031-4E35A4A75CF7}"/>
              </a:ext>
            </a:extLst>
          </p:cNvPr>
          <p:cNvSpPr>
            <a:spLocks noGrp="1"/>
          </p:cNvSpPr>
          <p:nvPr/>
        </p:nvSpPr>
        <p:spPr>
          <a:xfrm>
            <a:off x="6729984" y="2633472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0B0F1E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9F78897-6514-46FE-942F-22EB788C0FEB}"/>
              </a:ext>
            </a:extLst>
          </p:cNvPr>
          <p:cNvSpPr>
            <a:spLocks noGrp="1"/>
          </p:cNvSpPr>
          <p:nvPr/>
        </p:nvSpPr>
        <p:spPr>
          <a:xfrm>
            <a:off x="6163056" y="324612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Map</a:t>
            </a: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63AE33DE-D872-4EF8-BBFF-FE2E517A4235}"/>
              </a:ext>
            </a:extLst>
          </p:cNvPr>
          <p:cNvSpPr>
            <a:spLocks noGrp="1"/>
          </p:cNvSpPr>
          <p:nvPr/>
        </p:nvSpPr>
        <p:spPr>
          <a:xfrm>
            <a:off x="6227064" y="3657600"/>
            <a:ext cx="1517904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sz="110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Knowledge graph to</a:t>
            </a:r>
            <a:r>
              <a:rPr lang="en-HK" sz="110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 digital</a:t>
            </a:r>
            <a:r>
              <a:rPr sz="110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 twin snapshot</a:t>
            </a: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2461D59E-62BF-4D19-83AF-57A33721F64B}"/>
              </a:ext>
            </a:extLst>
          </p:cNvPr>
          <p:cNvSpPr>
            <a:spLocks noGrp="1"/>
          </p:cNvSpPr>
          <p:nvPr/>
        </p:nvSpPr>
        <p:spPr>
          <a:xfrm>
            <a:off x="7836408" y="2377440"/>
            <a:ext cx="210312" cy="2194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200" b="1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B359EE0E-A064-48AF-B8B4-59B814F75FD6}"/>
              </a:ext>
            </a:extLst>
          </p:cNvPr>
          <p:cNvSpPr>
            <a:spLocks noGrp="1"/>
          </p:cNvSpPr>
          <p:nvPr/>
        </p:nvSpPr>
        <p:spPr>
          <a:xfrm>
            <a:off x="7973568" y="2377440"/>
            <a:ext cx="1737360" cy="2194560"/>
          </a:xfrm>
          <a:prstGeom prst="roundRect">
            <a:avLst>
              <a:gd name="adj" fmla="val 5263"/>
            </a:avLst>
          </a:prstGeom>
          <a:solidFill>
            <a:srgbClr val="1B2444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B2AE3995-CC47-4DE1-AF34-DA95ED933F3C}"/>
              </a:ext>
            </a:extLst>
          </p:cNvPr>
          <p:cNvSpPr>
            <a:spLocks noGrp="1"/>
          </p:cNvSpPr>
          <p:nvPr/>
        </p:nvSpPr>
        <p:spPr>
          <a:xfrm>
            <a:off x="8586216" y="2633472"/>
            <a:ext cx="512064" cy="512064"/>
          </a:xfrm>
          <a:prstGeom prst="ellipse">
            <a:avLst/>
          </a:prstGeom>
          <a:solidFill>
            <a:srgbClr val="F43F5E"/>
          </a:solidFill>
        </p:spPr>
        <p:txBody>
          <a:bodyPr/>
          <a:lstStyle/>
          <a:p>
            <a:endParaRPr lang="en-HK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6C5F7238-74B4-4155-AB55-F34FD28D0D57}"/>
              </a:ext>
            </a:extLst>
          </p:cNvPr>
          <p:cNvSpPr>
            <a:spLocks noGrp="1"/>
          </p:cNvSpPr>
          <p:nvPr/>
        </p:nvSpPr>
        <p:spPr>
          <a:xfrm>
            <a:off x="8586216" y="2633472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0B0F1E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BFBBB5FC-C225-4189-99C5-5193A93E37CE}"/>
              </a:ext>
            </a:extLst>
          </p:cNvPr>
          <p:cNvSpPr>
            <a:spLocks noGrp="1"/>
          </p:cNvSpPr>
          <p:nvPr/>
        </p:nvSpPr>
        <p:spPr>
          <a:xfrm>
            <a:off x="8019288" y="324612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Simulate</a:t>
            </a: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0FA1A38E-27F1-4445-A3AB-1579F04389A1}"/>
              </a:ext>
            </a:extLst>
          </p:cNvPr>
          <p:cNvSpPr>
            <a:spLocks noGrp="1"/>
          </p:cNvSpPr>
          <p:nvPr/>
        </p:nvSpPr>
        <p:spPr>
          <a:xfrm>
            <a:off x="8083296" y="3657600"/>
            <a:ext cx="1517904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sz="110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DOC, shortage, cost, </a:t>
            </a:r>
            <a:r>
              <a:rPr lang="en-HK" sz="110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mitigation </a:t>
            </a:r>
            <a:r>
              <a:rPr sz="1100" dirty="0" err="1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sce</a:t>
            </a:r>
            <a:r>
              <a:rPr lang="en-HK" sz="1100" dirty="0" err="1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narios</a:t>
            </a:r>
            <a:endParaRPr sz="1100" dirty="0">
              <a:solidFill>
                <a:srgbClr val="9FB0C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FC36ADEE-9535-49F6-8A89-4B8C041B29C4}"/>
              </a:ext>
            </a:extLst>
          </p:cNvPr>
          <p:cNvSpPr>
            <a:spLocks noGrp="1"/>
          </p:cNvSpPr>
          <p:nvPr/>
        </p:nvSpPr>
        <p:spPr>
          <a:xfrm>
            <a:off x="9692640" y="2377440"/>
            <a:ext cx="210312" cy="2194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200" b="1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0035938F-C9BF-4E2A-B59F-0C7BC71F3668}"/>
              </a:ext>
            </a:extLst>
          </p:cNvPr>
          <p:cNvSpPr>
            <a:spLocks noGrp="1"/>
          </p:cNvSpPr>
          <p:nvPr/>
        </p:nvSpPr>
        <p:spPr>
          <a:xfrm>
            <a:off x="9829800" y="2377440"/>
            <a:ext cx="1737360" cy="2194560"/>
          </a:xfrm>
          <a:prstGeom prst="roundRect">
            <a:avLst>
              <a:gd name="adj" fmla="val 5263"/>
            </a:avLst>
          </a:prstGeom>
          <a:solidFill>
            <a:srgbClr val="1B2444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3E2BE0D6-8363-4756-BE9A-428C5A161DF0}"/>
              </a:ext>
            </a:extLst>
          </p:cNvPr>
          <p:cNvSpPr>
            <a:spLocks noGrp="1"/>
          </p:cNvSpPr>
          <p:nvPr/>
        </p:nvSpPr>
        <p:spPr>
          <a:xfrm>
            <a:off x="10442448" y="2633472"/>
            <a:ext cx="512064" cy="512064"/>
          </a:xfrm>
          <a:prstGeom prst="ellipse">
            <a:avLst/>
          </a:prstGeom>
          <a:solidFill>
            <a:srgbClr val="2DD4BF"/>
          </a:solidFill>
        </p:spPr>
        <p:txBody>
          <a:bodyPr/>
          <a:lstStyle/>
          <a:p>
            <a:endParaRPr lang="en-HK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7957D9D9-E9BA-467C-BECF-9D9AEBACB049}"/>
              </a:ext>
            </a:extLst>
          </p:cNvPr>
          <p:cNvSpPr>
            <a:spLocks noGrp="1"/>
          </p:cNvSpPr>
          <p:nvPr/>
        </p:nvSpPr>
        <p:spPr>
          <a:xfrm>
            <a:off x="10442448" y="2633472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0B0F1E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1DDA4955-D8FB-4ECC-8D81-E7D44309AA72}"/>
              </a:ext>
            </a:extLst>
          </p:cNvPr>
          <p:cNvSpPr>
            <a:spLocks noGrp="1"/>
          </p:cNvSpPr>
          <p:nvPr/>
        </p:nvSpPr>
        <p:spPr>
          <a:xfrm>
            <a:off x="9875520" y="324612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Plan</a:t>
            </a: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E3A8F938-B3BA-434E-B3AF-CD3C8F704218}"/>
              </a:ext>
            </a:extLst>
          </p:cNvPr>
          <p:cNvSpPr>
            <a:spLocks noGrp="1"/>
          </p:cNvSpPr>
          <p:nvPr/>
        </p:nvSpPr>
        <p:spPr>
          <a:xfrm>
            <a:off x="9939528" y="3657600"/>
            <a:ext cx="1517904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sz="110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RAG-grounded options and approval-gated actions</a:t>
            </a:r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AC5AC5D7-CCAB-40C1-86F9-C63E4424A2D8}"/>
              </a:ext>
            </a:extLst>
          </p:cNvPr>
          <p:cNvSpPr>
            <a:spLocks noGrp="1"/>
          </p:cNvSpPr>
          <p:nvPr/>
        </p:nvSpPr>
        <p:spPr>
          <a:xfrm>
            <a:off x="548640" y="489204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141B33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AC1F5602-2B99-41F9-BD7D-338E11B2634B}"/>
              </a:ext>
            </a:extLst>
          </p:cNvPr>
          <p:cNvSpPr>
            <a:spLocks noGrp="1"/>
          </p:cNvSpPr>
          <p:nvPr/>
        </p:nvSpPr>
        <p:spPr>
          <a:xfrm>
            <a:off x="868680" y="489204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</a:pPr>
            <a:r>
              <a:rPr sz="1400" b="1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New confirmations, inventory changes, shipment data, and production results update the versioned twin while preserving before-and-after evidence.</a:t>
            </a: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02D45641-F862-45F3-A496-A262A5AFE154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Chainsilience AI</a:t>
            </a: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E3556668-9711-451F-BABF-0F37CB1456A7}"/>
              </a:ext>
            </a:extLst>
          </p:cNvPr>
          <p:cNvSpPr>
            <a:spLocks noGrp="1"/>
          </p:cNvSpPr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IDSOL 2026  ·  End-to-End Workflow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44A99FC-301E-8D86-EF0D-2F594737E379}"/>
              </a:ext>
            </a:extLst>
          </p:cNvPr>
          <p:cNvSpPr>
            <a:spLocks noGrp="1"/>
          </p:cNvSpPr>
          <p:nvPr/>
        </p:nvSpPr>
        <p:spPr>
          <a:xfrm>
            <a:off x="4842869" y="2724039"/>
            <a:ext cx="514393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  <a:defRPr sz="1500" b="1">
                <a:solidFill>
                  <a:srgbClr val="0B0F1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B0F1E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33DBFD08-6651-0ACB-724A-4F5666A2A560}"/>
              </a:ext>
            </a:extLst>
          </p:cNvPr>
          <p:cNvSpPr/>
          <p:nvPr/>
        </p:nvSpPr>
        <p:spPr>
          <a:xfrm>
            <a:off x="1584260" y="1690677"/>
            <a:ext cx="9020432" cy="661674"/>
          </a:xfrm>
          <a:custGeom>
            <a:avLst/>
            <a:gdLst>
              <a:gd name="csX0" fmla="*/ 9020432 w 9020432"/>
              <a:gd name="csY0" fmla="*/ 661674 h 661674"/>
              <a:gd name="csX1" fmla="*/ 4151870 w 9020432"/>
              <a:gd name="csY1" fmla="*/ 587 h 661674"/>
              <a:gd name="csX2" fmla="*/ 0 w 9020432"/>
              <a:gd name="csY2" fmla="*/ 568998 h 661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020432" h="661674">
                <a:moveTo>
                  <a:pt x="9020432" y="661674"/>
                </a:moveTo>
                <a:cubicBezTo>
                  <a:pt x="7337853" y="338853"/>
                  <a:pt x="5655275" y="16033"/>
                  <a:pt x="4151870" y="587"/>
                </a:cubicBezTo>
                <a:cubicBezTo>
                  <a:pt x="2648465" y="-14859"/>
                  <a:pt x="1324232" y="277069"/>
                  <a:pt x="0" y="568998"/>
                </a:cubicBezTo>
              </a:path>
            </a:pathLst>
          </a:custGeom>
          <a:ln w="19050" cap="flat" cmpd="sng" algn="ctr">
            <a:solidFill>
              <a:srgbClr val="63709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25747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3DFC13E-7BAA-469D-884C-AC6FAB0734CE}"/>
              </a:ext>
            </a:extLst>
          </p:cNvPr>
          <p:cNvSpPr>
            <a:spLocks noGrp="1"/>
          </p:cNvSpPr>
          <p:nvPr/>
        </p:nvSpPr>
        <p:spPr>
          <a:xfrm>
            <a:off x="548640" y="45720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2DD4B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AI AGENT ARCHITECTURE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8EFF3F2-86A3-4964-BC78-26EF658DDF6A}"/>
              </a:ext>
            </a:extLst>
          </p:cNvPr>
          <p:cNvSpPr>
            <a:spLocks noGrp="1"/>
          </p:cNvSpPr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Bounded agents turn news into governed action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644EC99-2253-44CD-AD8F-22897D4DD757}"/>
              </a:ext>
            </a:extLst>
          </p:cNvPr>
          <p:cNvSpPr>
            <a:spLocks noGrp="1"/>
          </p:cNvSpPr>
          <p:nvPr/>
        </p:nvSpPr>
        <p:spPr>
          <a:xfrm>
            <a:off x="640080" y="1783080"/>
            <a:ext cx="548640" cy="548640"/>
          </a:xfrm>
          <a:prstGeom prst="ellipse">
            <a:avLst/>
          </a:prstGeom>
          <a:solidFill>
            <a:srgbClr val="2DD4BF"/>
          </a:solidFill>
        </p:spPr>
        <p:txBody>
          <a:bodyPr/>
          <a:lstStyle/>
          <a:p>
            <a:endParaRPr lang="en-HK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487222B-F62F-4CC2-B179-95FF5B4057EE}"/>
              </a:ext>
            </a:extLst>
          </p:cNvPr>
          <p:cNvSpPr>
            <a:spLocks noGrp="1"/>
          </p:cNvSpPr>
          <p:nvPr/>
        </p:nvSpPr>
        <p:spPr>
          <a:xfrm>
            <a:off x="640080" y="17830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B0F1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42C3EE4-98E6-4B76-880C-4493C55BEAC6}"/>
              </a:ext>
            </a:extLst>
          </p:cNvPr>
          <p:cNvSpPr>
            <a:spLocks noGrp="1"/>
          </p:cNvSpPr>
          <p:nvPr/>
        </p:nvSpPr>
        <p:spPr>
          <a:xfrm>
            <a:off x="1371600" y="1764792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Non-AI Scout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462DAD9-EF58-4939-B1C1-63B1769DA953}"/>
              </a:ext>
            </a:extLst>
          </p:cNvPr>
          <p:cNvSpPr>
            <a:spLocks noGrp="1"/>
          </p:cNvSpPr>
          <p:nvPr/>
        </p:nvSpPr>
        <p:spPr>
          <a:xfrm>
            <a:off x="1371600" y="2167128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1" u="none" strike="noStrike" kern="1200" cap="none" spc="0" normalizeH="0" baseline="0" noProof="0">
                <a:ln>
                  <a:noFill/>
                </a:ln>
                <a:solidFill>
                  <a:srgbClr val="9FB0CC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scrapes permitted news, advisories, and feeds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2E2DE41-6E41-4CE6-8F36-CE7936E6E8C0}"/>
              </a:ext>
            </a:extLst>
          </p:cNvPr>
          <p:cNvSpPr>
            <a:spLocks noGrp="1"/>
          </p:cNvSpPr>
          <p:nvPr/>
        </p:nvSpPr>
        <p:spPr>
          <a:xfrm>
            <a:off x="914400" y="2350008"/>
            <a:ext cx="0" cy="502920"/>
          </a:xfrm>
          <a:prstGeom prst="line">
            <a:avLst/>
          </a:prstGeom>
          <a:noFill/>
          <a:ln w="19050">
            <a:solidFill>
              <a:srgbClr val="202C52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86DBA12-87F4-4AD1-9C2C-EDC2B20503FF}"/>
              </a:ext>
            </a:extLst>
          </p:cNvPr>
          <p:cNvSpPr>
            <a:spLocks noGrp="1"/>
          </p:cNvSpPr>
          <p:nvPr/>
        </p:nvSpPr>
        <p:spPr>
          <a:xfrm>
            <a:off x="640080" y="2862072"/>
            <a:ext cx="548640" cy="548640"/>
          </a:xfrm>
          <a:prstGeom prst="ellipse">
            <a:avLst/>
          </a:prstGeom>
          <a:solidFill>
            <a:srgbClr val="38BDF8"/>
          </a:solidFill>
        </p:spPr>
        <p:txBody>
          <a:bodyPr/>
          <a:lstStyle/>
          <a:p>
            <a:endParaRPr lang="en-HK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03A8B91-87B3-429C-860F-4AFEC74A4945}"/>
              </a:ext>
            </a:extLst>
          </p:cNvPr>
          <p:cNvSpPr>
            <a:spLocks noGrp="1"/>
          </p:cNvSpPr>
          <p:nvPr/>
        </p:nvSpPr>
        <p:spPr>
          <a:xfrm>
            <a:off x="640080" y="286207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B0F1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A2688E5-0468-4B11-8B30-06FD4E85E0E4}"/>
              </a:ext>
            </a:extLst>
          </p:cNvPr>
          <p:cNvSpPr>
            <a:spLocks noGrp="1"/>
          </p:cNvSpPr>
          <p:nvPr/>
        </p:nvSpPr>
        <p:spPr>
          <a:xfrm>
            <a:off x="1371600" y="2843784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Extractor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E1F3E0E-A0F2-4707-9FC8-BEA6A56FF714}"/>
              </a:ext>
            </a:extLst>
          </p:cNvPr>
          <p:cNvSpPr>
            <a:spLocks noGrp="1"/>
          </p:cNvSpPr>
          <p:nvPr/>
        </p:nvSpPr>
        <p:spPr>
          <a:xfrm>
            <a:off x="1371600" y="324612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1" u="none" strike="noStrike" kern="1200" cap="none" spc="0" normalizeH="0" baseline="0" noProof="0">
                <a:ln>
                  <a:noFill/>
                </a:ln>
                <a:solidFill>
                  <a:srgbClr val="9FB0CC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filters enterprise relevance · structures event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4082227-0E95-4EC8-A59B-074A8886AA4F}"/>
              </a:ext>
            </a:extLst>
          </p:cNvPr>
          <p:cNvSpPr>
            <a:spLocks noGrp="1"/>
          </p:cNvSpPr>
          <p:nvPr/>
        </p:nvSpPr>
        <p:spPr>
          <a:xfrm>
            <a:off x="914400" y="3429000"/>
            <a:ext cx="0" cy="502920"/>
          </a:xfrm>
          <a:prstGeom prst="line">
            <a:avLst/>
          </a:prstGeom>
          <a:noFill/>
          <a:ln w="19050">
            <a:solidFill>
              <a:srgbClr val="202C52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F74F581-4694-4F1C-9722-67FEF04648DD}"/>
              </a:ext>
            </a:extLst>
          </p:cNvPr>
          <p:cNvSpPr>
            <a:spLocks noGrp="1"/>
          </p:cNvSpPr>
          <p:nvPr/>
        </p:nvSpPr>
        <p:spPr>
          <a:xfrm>
            <a:off x="640080" y="3941064"/>
            <a:ext cx="548640" cy="548640"/>
          </a:xfrm>
          <a:prstGeom prst="ellipse">
            <a:avLst/>
          </a:prstGeom>
          <a:solidFill>
            <a:srgbClr val="34D399"/>
          </a:solidFill>
        </p:spPr>
        <p:txBody>
          <a:bodyPr/>
          <a:lstStyle/>
          <a:p>
            <a:endParaRPr lang="en-HK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B3846D2-22F4-46FA-9F7D-77642C2CE959}"/>
              </a:ext>
            </a:extLst>
          </p:cNvPr>
          <p:cNvSpPr>
            <a:spLocks noGrp="1"/>
          </p:cNvSpPr>
          <p:nvPr/>
        </p:nvSpPr>
        <p:spPr>
          <a:xfrm>
            <a:off x="640080" y="3941064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B0F1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B8955BA-0D1B-469F-9A51-528EFBEDB5C1}"/>
              </a:ext>
            </a:extLst>
          </p:cNvPr>
          <p:cNvSpPr>
            <a:spLocks noGrp="1"/>
          </p:cNvSpPr>
          <p:nvPr/>
        </p:nvSpPr>
        <p:spPr>
          <a:xfrm>
            <a:off x="1371600" y="3922776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Verifier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5B7E181-6A26-497E-958D-622012B8AF58}"/>
              </a:ext>
            </a:extLst>
          </p:cNvPr>
          <p:cNvSpPr>
            <a:spLocks noGrp="1"/>
          </p:cNvSpPr>
          <p:nvPr/>
        </p:nvSpPr>
        <p:spPr>
          <a:xfrm>
            <a:off x="1371600" y="4325112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1" u="none" strike="noStrike" kern="1200" cap="none" spc="0" normalizeH="0" baseline="0" noProof="0" dirty="0">
                <a:ln>
                  <a:noFill/>
                </a:ln>
                <a:solidFill>
                  <a:srgbClr val="9FB0CC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cross-checks sources ·</a:t>
            </a:r>
            <a:r>
              <a:rPr lang="en-HK" sz="1150" i="1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 filters out unsupported</a:t>
            </a:r>
            <a:r>
              <a:rPr kumimoji="0" sz="1150" b="0" i="1" u="none" strike="noStrike" kern="1200" cap="none" spc="0" normalizeH="0" baseline="0" noProof="0" dirty="0">
                <a:ln>
                  <a:noFill/>
                </a:ln>
                <a:solidFill>
                  <a:srgbClr val="9FB0CC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claims</a:t>
            </a: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42E8E66-63E8-40AC-99B8-81FBCA7F1F4D}"/>
              </a:ext>
            </a:extLst>
          </p:cNvPr>
          <p:cNvSpPr>
            <a:spLocks noGrp="1"/>
          </p:cNvSpPr>
          <p:nvPr/>
        </p:nvSpPr>
        <p:spPr>
          <a:xfrm>
            <a:off x="914400" y="4507992"/>
            <a:ext cx="0" cy="502920"/>
          </a:xfrm>
          <a:prstGeom prst="line">
            <a:avLst/>
          </a:prstGeom>
          <a:noFill/>
          <a:ln w="19050">
            <a:solidFill>
              <a:srgbClr val="202C52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00B6B1B-9D7B-4ACF-855A-C03B9FFDBF1C}"/>
              </a:ext>
            </a:extLst>
          </p:cNvPr>
          <p:cNvSpPr>
            <a:spLocks noGrp="1"/>
          </p:cNvSpPr>
          <p:nvPr/>
        </p:nvSpPr>
        <p:spPr>
          <a:xfrm>
            <a:off x="640080" y="5020056"/>
            <a:ext cx="548640" cy="548640"/>
          </a:xfrm>
          <a:prstGeom prst="ellipse">
            <a:avLst/>
          </a:prstGeom>
          <a:solidFill>
            <a:srgbClr val="F59E0B"/>
          </a:solidFill>
        </p:spPr>
        <p:txBody>
          <a:bodyPr/>
          <a:lstStyle/>
          <a:p>
            <a:endParaRPr lang="en-HK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3305F5F-69B8-469C-A9C5-50DBBDE6D51C}"/>
              </a:ext>
            </a:extLst>
          </p:cNvPr>
          <p:cNvSpPr>
            <a:spLocks noGrp="1"/>
          </p:cNvSpPr>
          <p:nvPr/>
        </p:nvSpPr>
        <p:spPr>
          <a:xfrm>
            <a:off x="640080" y="5020056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B0F1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1029365-3121-4498-92E6-884425A9552C}"/>
              </a:ext>
            </a:extLst>
          </p:cNvPr>
          <p:cNvSpPr>
            <a:spLocks noGrp="1"/>
          </p:cNvSpPr>
          <p:nvPr/>
        </p:nvSpPr>
        <p:spPr>
          <a:xfrm>
            <a:off x="1371600" y="5001768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Mapper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374BF46-692F-4C97-B68C-CC7B8208126F}"/>
              </a:ext>
            </a:extLst>
          </p:cNvPr>
          <p:cNvSpPr>
            <a:spLocks noGrp="1"/>
          </p:cNvSpPr>
          <p:nvPr/>
        </p:nvSpPr>
        <p:spPr>
          <a:xfrm>
            <a:off x="1371600" y="5404104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1" u="none" strike="noStrike" kern="1200" cap="none" spc="0" normalizeH="0" baseline="0" noProof="0" dirty="0">
                <a:ln>
                  <a:noFill/>
                </a:ln>
                <a:solidFill>
                  <a:srgbClr val="9FB0CC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links </a:t>
            </a:r>
            <a:r>
              <a:rPr lang="en-HK" sz="1150" i="1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disruption</a:t>
            </a:r>
            <a:r>
              <a:rPr kumimoji="0" sz="1150" b="0" i="1" u="none" strike="noStrike" kern="1200" cap="none" spc="0" normalizeH="0" baseline="0" noProof="0" dirty="0">
                <a:ln>
                  <a:noFill/>
                </a:ln>
                <a:solidFill>
                  <a:srgbClr val="9FB0CC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to graph </a:t>
            </a:r>
            <a:r>
              <a:rPr kumimoji="0" lang="en-HK" sz="1150" b="0" i="1" u="none" strike="noStrike" kern="1200" cap="none" spc="0" normalizeH="0" baseline="0" noProof="0" dirty="0">
                <a:ln>
                  <a:noFill/>
                </a:ln>
                <a:solidFill>
                  <a:srgbClr val="9FB0CC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path </a:t>
            </a:r>
            <a:r>
              <a:rPr lang="en-HK" sz="1150" i="1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then to </a:t>
            </a:r>
            <a:r>
              <a:rPr kumimoji="0" sz="1150" b="0" i="1" u="none" strike="noStrike" kern="1200" cap="none" spc="0" normalizeH="0" baseline="0" noProof="0" dirty="0">
                <a:ln>
                  <a:noFill/>
                </a:ln>
                <a:solidFill>
                  <a:srgbClr val="9FB0CC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entity twins</a:t>
            </a: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B9C83AC0-807A-4B2C-A828-6619B1216D33}"/>
              </a:ext>
            </a:extLst>
          </p:cNvPr>
          <p:cNvSpPr>
            <a:spLocks noGrp="1"/>
          </p:cNvSpPr>
          <p:nvPr/>
        </p:nvSpPr>
        <p:spPr>
          <a:xfrm>
            <a:off x="6309360" y="1783080"/>
            <a:ext cx="548640" cy="548640"/>
          </a:xfrm>
          <a:prstGeom prst="ellipse">
            <a:avLst/>
          </a:prstGeom>
          <a:solidFill>
            <a:srgbClr val="F43F5E"/>
          </a:solidFill>
        </p:spPr>
        <p:txBody>
          <a:bodyPr/>
          <a:lstStyle/>
          <a:p>
            <a:endParaRPr lang="en-HK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82E5255-95AD-4A08-BEBB-DD9FE6C619F6}"/>
              </a:ext>
            </a:extLst>
          </p:cNvPr>
          <p:cNvSpPr>
            <a:spLocks noGrp="1"/>
          </p:cNvSpPr>
          <p:nvPr/>
        </p:nvSpPr>
        <p:spPr>
          <a:xfrm>
            <a:off x="6309360" y="17830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B0F1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39F32EE-015B-4367-B135-8DE31748ADB2}"/>
              </a:ext>
            </a:extLst>
          </p:cNvPr>
          <p:cNvSpPr>
            <a:spLocks noGrp="1"/>
          </p:cNvSpPr>
          <p:nvPr/>
        </p:nvSpPr>
        <p:spPr>
          <a:xfrm>
            <a:off x="7040880" y="1764792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Analyst</a:t>
            </a: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D20A4B2-8C84-433F-80BD-64973E8443DF}"/>
              </a:ext>
            </a:extLst>
          </p:cNvPr>
          <p:cNvSpPr>
            <a:spLocks noGrp="1"/>
          </p:cNvSpPr>
          <p:nvPr/>
        </p:nvSpPr>
        <p:spPr>
          <a:xfrm>
            <a:off x="7040880" y="2167128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1" u="none" strike="noStrike" kern="1200" cap="none" spc="0" normalizeH="0" baseline="0" noProof="0">
                <a:ln>
                  <a:noFill/>
                </a:ln>
                <a:solidFill>
                  <a:srgbClr val="9FB0CC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calls deterministic and Monte Carlo engines</a:t>
            </a: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620B4B75-581C-4F27-97B7-10B33B1B92AF}"/>
              </a:ext>
            </a:extLst>
          </p:cNvPr>
          <p:cNvSpPr>
            <a:spLocks noGrp="1"/>
          </p:cNvSpPr>
          <p:nvPr/>
        </p:nvSpPr>
        <p:spPr>
          <a:xfrm>
            <a:off x="6583680" y="2350008"/>
            <a:ext cx="0" cy="502920"/>
          </a:xfrm>
          <a:prstGeom prst="line">
            <a:avLst/>
          </a:prstGeom>
          <a:noFill/>
          <a:ln w="19050">
            <a:solidFill>
              <a:srgbClr val="202C52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7C01B225-DB87-48EB-BA28-970233055720}"/>
              </a:ext>
            </a:extLst>
          </p:cNvPr>
          <p:cNvSpPr>
            <a:spLocks noGrp="1"/>
          </p:cNvSpPr>
          <p:nvPr/>
        </p:nvSpPr>
        <p:spPr>
          <a:xfrm>
            <a:off x="6309360" y="2862072"/>
            <a:ext cx="548640" cy="548640"/>
          </a:xfrm>
          <a:prstGeom prst="ellipse">
            <a:avLst/>
          </a:prstGeom>
          <a:solidFill>
            <a:srgbClr val="2DD4BF"/>
          </a:solidFill>
        </p:spPr>
        <p:txBody>
          <a:bodyPr/>
          <a:lstStyle/>
          <a:p>
            <a:endParaRPr lang="en-HK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71BB8BEC-FFDE-4BAC-9AC7-E7782BB886EE}"/>
              </a:ext>
            </a:extLst>
          </p:cNvPr>
          <p:cNvSpPr>
            <a:spLocks noGrp="1"/>
          </p:cNvSpPr>
          <p:nvPr/>
        </p:nvSpPr>
        <p:spPr>
          <a:xfrm>
            <a:off x="6309360" y="286207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B0F1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B1FD7ED3-5CA4-4FBB-86BA-8E7296BA3E3D}"/>
              </a:ext>
            </a:extLst>
          </p:cNvPr>
          <p:cNvSpPr>
            <a:spLocks noGrp="1"/>
          </p:cNvSpPr>
          <p:nvPr/>
        </p:nvSpPr>
        <p:spPr>
          <a:xfrm>
            <a:off x="7040880" y="2843784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Planner</a:t>
            </a: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FF6636AC-419B-4219-A09F-E635B668A6A9}"/>
              </a:ext>
            </a:extLst>
          </p:cNvPr>
          <p:cNvSpPr>
            <a:spLocks noGrp="1"/>
          </p:cNvSpPr>
          <p:nvPr/>
        </p:nvSpPr>
        <p:spPr>
          <a:xfrm>
            <a:off x="7040880" y="324612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1" u="none" strike="noStrike" kern="1200" cap="none" spc="0" normalizeH="0" baseline="0" noProof="0" dirty="0">
                <a:ln>
                  <a:noFill/>
                </a:ln>
                <a:solidFill>
                  <a:srgbClr val="9FB0CC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retrieves constraints · proposes </a:t>
            </a:r>
            <a:r>
              <a:rPr kumimoji="0" lang="en-HK" sz="1150" b="0" i="1" u="none" strike="noStrike" kern="1200" cap="none" spc="0" normalizeH="0" baseline="0" noProof="0" dirty="0">
                <a:ln>
                  <a:noFill/>
                </a:ln>
                <a:solidFill>
                  <a:srgbClr val="9FB0CC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mitigation </a:t>
            </a:r>
            <a:r>
              <a:rPr kumimoji="0" sz="1150" b="0" i="1" u="none" strike="noStrike" kern="1200" cap="none" spc="0" normalizeH="0" baseline="0" noProof="0" dirty="0">
                <a:ln>
                  <a:noFill/>
                </a:ln>
                <a:solidFill>
                  <a:srgbClr val="9FB0CC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options</a:t>
            </a: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E4DC2C83-AE73-46DE-A652-141F5BC4E14B}"/>
              </a:ext>
            </a:extLst>
          </p:cNvPr>
          <p:cNvSpPr>
            <a:spLocks noGrp="1"/>
          </p:cNvSpPr>
          <p:nvPr/>
        </p:nvSpPr>
        <p:spPr>
          <a:xfrm>
            <a:off x="6583680" y="3429000"/>
            <a:ext cx="0" cy="502920"/>
          </a:xfrm>
          <a:prstGeom prst="line">
            <a:avLst/>
          </a:prstGeom>
          <a:noFill/>
          <a:ln w="19050">
            <a:solidFill>
              <a:srgbClr val="202C52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C19A81C1-E5A2-4269-836C-4BA2E5A5258D}"/>
              </a:ext>
            </a:extLst>
          </p:cNvPr>
          <p:cNvSpPr>
            <a:spLocks noGrp="1"/>
          </p:cNvSpPr>
          <p:nvPr/>
        </p:nvSpPr>
        <p:spPr>
          <a:xfrm>
            <a:off x="6309360" y="3941064"/>
            <a:ext cx="548640" cy="548640"/>
          </a:xfrm>
          <a:prstGeom prst="ellipse">
            <a:avLst/>
          </a:prstGeom>
          <a:solidFill>
            <a:srgbClr val="38BDF8"/>
          </a:solidFill>
        </p:spPr>
        <p:txBody>
          <a:bodyPr/>
          <a:lstStyle/>
          <a:p>
            <a:endParaRPr lang="en-HK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5E8B37B5-717D-4B07-A9E9-6C7DCD6B16CE}"/>
              </a:ext>
            </a:extLst>
          </p:cNvPr>
          <p:cNvSpPr>
            <a:spLocks noGrp="1"/>
          </p:cNvSpPr>
          <p:nvPr/>
        </p:nvSpPr>
        <p:spPr>
          <a:xfrm>
            <a:off x="6309360" y="3941064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B0F1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72DEF648-D6E8-490F-B88A-FEF31637C74A}"/>
              </a:ext>
            </a:extLst>
          </p:cNvPr>
          <p:cNvSpPr>
            <a:spLocks noGrp="1"/>
          </p:cNvSpPr>
          <p:nvPr/>
        </p:nvSpPr>
        <p:spPr>
          <a:xfrm>
            <a:off x="7040880" y="3922776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Communicator</a:t>
            </a: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C2FE88E7-AF4D-4212-A01B-6286FFDFE1DC}"/>
              </a:ext>
            </a:extLst>
          </p:cNvPr>
          <p:cNvSpPr>
            <a:spLocks noGrp="1"/>
          </p:cNvSpPr>
          <p:nvPr/>
        </p:nvSpPr>
        <p:spPr>
          <a:xfrm>
            <a:off x="7040880" y="4325112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1" u="none" strike="noStrike" kern="1200" cap="none" spc="0" normalizeH="0" baseline="0" noProof="0">
                <a:ln>
                  <a:noFill/>
                </a:ln>
                <a:solidFill>
                  <a:srgbClr val="9FB0CC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drafts supplier and customer emails</a:t>
            </a:r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F9AC4784-6955-44C2-9290-4A7781563723}"/>
              </a:ext>
            </a:extLst>
          </p:cNvPr>
          <p:cNvSpPr>
            <a:spLocks noGrp="1"/>
          </p:cNvSpPr>
          <p:nvPr/>
        </p:nvSpPr>
        <p:spPr>
          <a:xfrm>
            <a:off x="6583680" y="4507992"/>
            <a:ext cx="0" cy="502920"/>
          </a:xfrm>
          <a:prstGeom prst="line">
            <a:avLst/>
          </a:prstGeom>
          <a:noFill/>
          <a:ln w="19050">
            <a:solidFill>
              <a:srgbClr val="202C52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0C9DD7FC-7539-473C-8299-E1EFDBB5FB0C}"/>
              </a:ext>
            </a:extLst>
          </p:cNvPr>
          <p:cNvSpPr>
            <a:spLocks noGrp="1"/>
          </p:cNvSpPr>
          <p:nvPr/>
        </p:nvSpPr>
        <p:spPr>
          <a:xfrm>
            <a:off x="6309360" y="5257800"/>
            <a:ext cx="539496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1" u="none" strike="noStrike" kern="1200" cap="none" spc="0" normalizeH="0" baseline="0" noProof="0">
                <a:ln>
                  <a:noFill/>
                </a:ln>
                <a:solidFill>
                  <a:srgbClr val="2DD4B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RAG and controlled tools preserve evidence; supplier and customer emails remain drafts until human approval.</a:t>
            </a: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D3657138-B03E-40CA-89C6-99AFA7F1673B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B7A9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Chainsilience AI</a:t>
            </a: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1134D98A-9F20-497F-84C3-964553850A35}"/>
              </a:ext>
            </a:extLst>
          </p:cNvPr>
          <p:cNvSpPr>
            <a:spLocks noGrp="1"/>
          </p:cNvSpPr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B7A9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IDSOL 2026  ·  Agent Architecture</a:t>
            </a:r>
          </a:p>
        </p:txBody>
      </p:sp>
    </p:spTree>
    <p:extLst>
      <p:ext uri="{BB962C8B-B14F-4D97-AF65-F5344CB8AC3E}">
        <p14:creationId xmlns:p14="http://schemas.microsoft.com/office/powerpoint/2010/main" val="3575043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9D4CCBE-C0EB-4EE5-8765-B5F9F06E1913}"/>
              </a:ext>
            </a:extLst>
          </p:cNvPr>
          <p:cNvSpPr>
            <a:spLocks noGrp="1"/>
          </p:cNvSpPr>
          <p:nvPr/>
        </p:nvSpPr>
        <p:spPr>
          <a:xfrm>
            <a:off x="548640" y="45720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100" b="1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RAG &amp; VERIFICATION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5CA3821-D0CC-40C2-BCB6-E1E8AA107281}"/>
              </a:ext>
            </a:extLst>
          </p:cNvPr>
          <p:cNvSpPr>
            <a:spLocks noGrp="1"/>
          </p:cNvSpPr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Evidence enters the LLM before an answer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7CF11A8-4A55-42EE-82D5-2092106B03C0}"/>
              </a:ext>
            </a:extLst>
          </p:cNvPr>
          <p:cNvSpPr>
            <a:spLocks noGrp="1"/>
          </p:cNvSpPr>
          <p:nvPr/>
        </p:nvSpPr>
        <p:spPr>
          <a:xfrm>
            <a:off x="548640" y="160020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</a:pPr>
            <a:r>
              <a:rPr sz="150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RAG retrieves authorized records; verification f</a:t>
            </a:r>
            <a:r>
              <a:rPr lang="en-HK" sz="1500" dirty="0" err="1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ilters</a:t>
            </a:r>
            <a:r>
              <a:rPr lang="en-HK" sz="150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 out </a:t>
            </a:r>
            <a:r>
              <a:rPr sz="150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unreliable, contradictory, </a:t>
            </a:r>
            <a:r>
              <a:rPr lang="en-HK" sz="150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or </a:t>
            </a:r>
            <a:r>
              <a:rPr sz="150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unsupported</a:t>
            </a:r>
            <a:r>
              <a:rPr lang="en-HK" sz="150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claims.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C1DBAD0-398B-40F7-BE87-874A86849335}"/>
              </a:ext>
            </a:extLst>
          </p:cNvPr>
          <p:cNvSpPr>
            <a:spLocks noGrp="1"/>
          </p:cNvSpPr>
          <p:nvPr/>
        </p:nvSpPr>
        <p:spPr>
          <a:xfrm>
            <a:off x="1697167" y="228600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1B2444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BCB9FAD-EA7A-4D86-B3BB-E11A02AAB64F}"/>
              </a:ext>
            </a:extLst>
          </p:cNvPr>
          <p:cNvSpPr>
            <a:spLocks noGrp="1"/>
          </p:cNvSpPr>
          <p:nvPr/>
        </p:nvSpPr>
        <p:spPr>
          <a:xfrm>
            <a:off x="2034914" y="2578608"/>
            <a:ext cx="457200" cy="457200"/>
          </a:xfrm>
          <a:prstGeom prst="ellipse">
            <a:avLst/>
          </a:prstGeom>
          <a:solidFill>
            <a:srgbClr val="38BDF8"/>
          </a:solidFill>
        </p:spPr>
        <p:txBody>
          <a:bodyPr/>
          <a:lstStyle/>
          <a:p>
            <a:endParaRPr lang="en-HK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BD765EB-2C03-4386-A235-962ECAB673FC}"/>
              </a:ext>
            </a:extLst>
          </p:cNvPr>
          <p:cNvSpPr>
            <a:spLocks noGrp="1"/>
          </p:cNvSpPr>
          <p:nvPr/>
        </p:nvSpPr>
        <p:spPr>
          <a:xfrm>
            <a:off x="2050441" y="257860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0B0F1E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D413910-1FED-4B5F-8C08-50DD91424F19}"/>
              </a:ext>
            </a:extLst>
          </p:cNvPr>
          <p:cNvSpPr>
            <a:spLocks noGrp="1"/>
          </p:cNvSpPr>
          <p:nvPr/>
        </p:nvSpPr>
        <p:spPr>
          <a:xfrm>
            <a:off x="2663089" y="2578608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External evidence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872E250-79F5-4EA4-92CD-4BB86B6FAEAB}"/>
              </a:ext>
            </a:extLst>
          </p:cNvPr>
          <p:cNvSpPr>
            <a:spLocks noGrp="1"/>
          </p:cNvSpPr>
          <p:nvPr/>
        </p:nvSpPr>
        <p:spPr>
          <a:xfrm>
            <a:off x="2068729" y="3246120"/>
            <a:ext cx="3108960" cy="1280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</a:pPr>
            <a:r>
              <a:rPr sz="125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Government advisories, feeds, trade notices, disclosures, trusted media, and cited passages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092FD86-2128-40EA-932F-03952E910CD3}"/>
              </a:ext>
            </a:extLst>
          </p:cNvPr>
          <p:cNvSpPr>
            <a:spLocks noGrp="1"/>
          </p:cNvSpPr>
          <p:nvPr/>
        </p:nvSpPr>
        <p:spPr>
          <a:xfrm>
            <a:off x="6316606" y="233172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1B2444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2DF1592-9C80-4958-AB46-F64DC725521D}"/>
              </a:ext>
            </a:extLst>
          </p:cNvPr>
          <p:cNvSpPr>
            <a:spLocks noGrp="1"/>
          </p:cNvSpPr>
          <p:nvPr/>
        </p:nvSpPr>
        <p:spPr>
          <a:xfrm>
            <a:off x="7322446" y="2578608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Enterprise context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2C54DE9-70FD-4B78-9B80-F32E7E3CD26A}"/>
              </a:ext>
            </a:extLst>
          </p:cNvPr>
          <p:cNvSpPr>
            <a:spLocks noGrp="1"/>
          </p:cNvSpPr>
          <p:nvPr/>
        </p:nvSpPr>
        <p:spPr>
          <a:xfrm>
            <a:off x="6728086" y="3246120"/>
            <a:ext cx="3108960" cy="1280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Approved suppliers, substitutes, contracts, policies, capacities, routes, and prior responses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C87E0DD-A8DF-462B-B989-7CAD231BA7D3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Chainsilience AI</a:t>
            </a: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AD6CCB8-1D8E-42DE-ABA8-778AAEE5DB9F}"/>
              </a:ext>
            </a:extLst>
          </p:cNvPr>
          <p:cNvSpPr>
            <a:spLocks noGrp="1"/>
          </p:cNvSpPr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IDSOL 2026  ·  RAG &amp; Verification</a:t>
            </a:r>
          </a:p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3C042931-EF02-9889-8877-9759D7B780C6}"/>
              </a:ext>
            </a:extLst>
          </p:cNvPr>
          <p:cNvSpPr>
            <a:spLocks noGrp="1"/>
          </p:cNvSpPr>
          <p:nvPr/>
        </p:nvSpPr>
        <p:spPr>
          <a:xfrm>
            <a:off x="6644812" y="2578608"/>
            <a:ext cx="457200" cy="457200"/>
          </a:xfrm>
          <a:prstGeom prst="ellipse">
            <a:avLst/>
          </a:prstGeom>
          <a:solidFill>
            <a:srgbClr val="2DD4BF"/>
          </a:solidFill>
        </p:spPr>
        <p:txBody>
          <a:bodyPr/>
          <a:lstStyle/>
          <a:p>
            <a:endParaRPr lang="en-HK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8BA51F-5805-580E-4052-41BFCACFC281}"/>
              </a:ext>
            </a:extLst>
          </p:cNvPr>
          <p:cNvSpPr>
            <a:spLocks noGrp="1"/>
          </p:cNvSpPr>
          <p:nvPr/>
        </p:nvSpPr>
        <p:spPr>
          <a:xfrm>
            <a:off x="6718482" y="2627338"/>
            <a:ext cx="301407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  <a:defRPr sz="1500" b="1">
                <a:solidFill>
                  <a:srgbClr val="0B0F1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B0F1E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948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4B33DE7-E80A-4481-96EF-1DDF081B749E}"/>
              </a:ext>
            </a:extLst>
          </p:cNvPr>
          <p:cNvSpPr>
            <a:spLocks noGrp="1"/>
          </p:cNvSpPr>
          <p:nvPr/>
        </p:nvSpPr>
        <p:spPr>
          <a:xfrm>
            <a:off x="548640" y="45720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100" b="1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THE DIGITAL TWIN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F79C966-30DD-41EC-B940-4A998CC01E21}"/>
              </a:ext>
            </a:extLst>
          </p:cNvPr>
          <p:cNvSpPr>
            <a:spLocks noGrp="1"/>
          </p:cNvSpPr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Knowledge graph turns relevance into exposure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210291E-7B21-4EA0-86B0-48BD62829046}"/>
              </a:ext>
            </a:extLst>
          </p:cNvPr>
          <p:cNvSpPr>
            <a:spLocks noGrp="1"/>
          </p:cNvSpPr>
          <p:nvPr/>
        </p:nvSpPr>
        <p:spPr>
          <a:xfrm>
            <a:off x="548640" y="164592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20000"/>
              </a:lnSpc>
              <a:buNone/>
            </a:pPr>
            <a:r>
              <a:rPr sz="145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Authorized enterprise data becomes a versioned graph plus time-indexed operational state.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81F2FF2-045B-4DD3-8E16-C52B2EED020F}"/>
              </a:ext>
            </a:extLst>
          </p:cNvPr>
          <p:cNvSpPr>
            <a:spLocks noGrp="1"/>
          </p:cNvSpPr>
          <p:nvPr/>
        </p:nvSpPr>
        <p:spPr>
          <a:xfrm>
            <a:off x="548640" y="2880360"/>
            <a:ext cx="1120140" cy="411480"/>
          </a:xfrm>
          <a:prstGeom prst="roundRect">
            <a:avLst>
              <a:gd name="adj" fmla="val 48889"/>
            </a:avLst>
          </a:prstGeom>
          <a:solidFill>
            <a:srgbClr val="202C52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2FAF1D0-F77D-4A75-9F31-A5BE18BE3A1A}"/>
              </a:ext>
            </a:extLst>
          </p:cNvPr>
          <p:cNvSpPr>
            <a:spLocks noGrp="1"/>
          </p:cNvSpPr>
          <p:nvPr/>
        </p:nvSpPr>
        <p:spPr>
          <a:xfrm>
            <a:off x="548640" y="2880360"/>
            <a:ext cx="11201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Suppliers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E25E615-B7C7-413A-AAC7-526878316215}"/>
              </a:ext>
            </a:extLst>
          </p:cNvPr>
          <p:cNvSpPr>
            <a:spLocks noGrp="1"/>
          </p:cNvSpPr>
          <p:nvPr/>
        </p:nvSpPr>
        <p:spPr>
          <a:xfrm>
            <a:off x="1833372" y="2880360"/>
            <a:ext cx="1120140" cy="411480"/>
          </a:xfrm>
          <a:prstGeom prst="roundRect">
            <a:avLst>
              <a:gd name="adj" fmla="val 48889"/>
            </a:avLst>
          </a:prstGeom>
          <a:solidFill>
            <a:srgbClr val="202C52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5FB6EF6-29E7-47E7-AA35-E1EDA30024DC}"/>
              </a:ext>
            </a:extLst>
          </p:cNvPr>
          <p:cNvSpPr>
            <a:spLocks noGrp="1"/>
          </p:cNvSpPr>
          <p:nvPr/>
        </p:nvSpPr>
        <p:spPr>
          <a:xfrm>
            <a:off x="1833372" y="2880360"/>
            <a:ext cx="11201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Sites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9293BB1-91BF-49A3-947F-BEA635E7CCC4}"/>
              </a:ext>
            </a:extLst>
          </p:cNvPr>
          <p:cNvSpPr>
            <a:spLocks noGrp="1"/>
          </p:cNvSpPr>
          <p:nvPr/>
        </p:nvSpPr>
        <p:spPr>
          <a:xfrm>
            <a:off x="3118104" y="2880360"/>
            <a:ext cx="1216152" cy="411480"/>
          </a:xfrm>
          <a:prstGeom prst="roundRect">
            <a:avLst>
              <a:gd name="adj" fmla="val 48889"/>
            </a:avLst>
          </a:prstGeom>
          <a:solidFill>
            <a:srgbClr val="202C52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B9046CE-D3D2-4A2F-9BDF-B7D77A61DB5B}"/>
              </a:ext>
            </a:extLst>
          </p:cNvPr>
          <p:cNvSpPr>
            <a:spLocks noGrp="1"/>
          </p:cNvSpPr>
          <p:nvPr/>
        </p:nvSpPr>
        <p:spPr>
          <a:xfrm>
            <a:off x="3118104" y="2880360"/>
            <a:ext cx="1216152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Inventory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84BBF77-B792-4A5E-BF7D-B1CAC8D9F6D1}"/>
              </a:ext>
            </a:extLst>
          </p:cNvPr>
          <p:cNvSpPr>
            <a:spLocks noGrp="1"/>
          </p:cNvSpPr>
          <p:nvPr/>
        </p:nvSpPr>
        <p:spPr>
          <a:xfrm>
            <a:off x="4498848" y="2880360"/>
            <a:ext cx="736092" cy="411480"/>
          </a:xfrm>
          <a:prstGeom prst="roundRect">
            <a:avLst>
              <a:gd name="adj" fmla="val 48889"/>
            </a:avLst>
          </a:prstGeom>
          <a:solidFill>
            <a:srgbClr val="202C52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ED35427-ABA5-4B9A-AA56-748EFED8FE95}"/>
              </a:ext>
            </a:extLst>
          </p:cNvPr>
          <p:cNvSpPr>
            <a:spLocks noGrp="1"/>
          </p:cNvSpPr>
          <p:nvPr/>
        </p:nvSpPr>
        <p:spPr>
          <a:xfrm>
            <a:off x="4498848" y="2880360"/>
            <a:ext cx="736092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Routes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7F456ED-6372-41CB-BBC1-580BCDD1A257}"/>
              </a:ext>
            </a:extLst>
          </p:cNvPr>
          <p:cNvSpPr>
            <a:spLocks noGrp="1"/>
          </p:cNvSpPr>
          <p:nvPr/>
        </p:nvSpPr>
        <p:spPr>
          <a:xfrm>
            <a:off x="548640" y="3429000"/>
            <a:ext cx="1024128" cy="411480"/>
          </a:xfrm>
          <a:prstGeom prst="roundRect">
            <a:avLst>
              <a:gd name="adj" fmla="val 48889"/>
            </a:avLst>
          </a:prstGeom>
          <a:solidFill>
            <a:srgbClr val="202C52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B2CFF1B-C56B-436F-8339-56798EFA835A}"/>
              </a:ext>
            </a:extLst>
          </p:cNvPr>
          <p:cNvSpPr>
            <a:spLocks noGrp="1"/>
          </p:cNvSpPr>
          <p:nvPr/>
        </p:nvSpPr>
        <p:spPr>
          <a:xfrm>
            <a:off x="548640" y="3429000"/>
            <a:ext cx="1024128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Products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CF797FF-CA9A-43E0-BEFC-CEFEDF2632DA}"/>
              </a:ext>
            </a:extLst>
          </p:cNvPr>
          <p:cNvSpPr>
            <a:spLocks noGrp="1"/>
          </p:cNvSpPr>
          <p:nvPr/>
        </p:nvSpPr>
        <p:spPr>
          <a:xfrm>
            <a:off x="1737360" y="3429000"/>
            <a:ext cx="1216152" cy="411480"/>
          </a:xfrm>
          <a:prstGeom prst="roundRect">
            <a:avLst>
              <a:gd name="adj" fmla="val 48889"/>
            </a:avLst>
          </a:prstGeom>
          <a:solidFill>
            <a:srgbClr val="202C52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61E47F1-9A6D-4D0E-ABF2-435E6B3E63AC}"/>
              </a:ext>
            </a:extLst>
          </p:cNvPr>
          <p:cNvSpPr>
            <a:spLocks noGrp="1"/>
          </p:cNvSpPr>
          <p:nvPr/>
        </p:nvSpPr>
        <p:spPr>
          <a:xfrm>
            <a:off x="1737360" y="3429000"/>
            <a:ext cx="1216152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Components</a:t>
            </a: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4FC3988-E664-44B9-8ECB-A31CF50FB89C}"/>
              </a:ext>
            </a:extLst>
          </p:cNvPr>
          <p:cNvSpPr>
            <a:spLocks noGrp="1"/>
          </p:cNvSpPr>
          <p:nvPr/>
        </p:nvSpPr>
        <p:spPr>
          <a:xfrm>
            <a:off x="3118104" y="3429000"/>
            <a:ext cx="832104" cy="411480"/>
          </a:xfrm>
          <a:prstGeom prst="roundRect">
            <a:avLst>
              <a:gd name="adj" fmla="val 48889"/>
            </a:avLst>
          </a:prstGeom>
          <a:solidFill>
            <a:srgbClr val="202C52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7E6D730-2CF9-49B7-ABE2-FA47A901DC08}"/>
              </a:ext>
            </a:extLst>
          </p:cNvPr>
          <p:cNvSpPr>
            <a:spLocks noGrp="1"/>
          </p:cNvSpPr>
          <p:nvPr/>
        </p:nvSpPr>
        <p:spPr>
          <a:xfrm>
            <a:off x="3118104" y="3429000"/>
            <a:ext cx="832104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Orders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FE8FB4B-AC38-40DC-8EA6-9F2C1D34817C}"/>
              </a:ext>
            </a:extLst>
          </p:cNvPr>
          <p:cNvSpPr>
            <a:spLocks noGrp="1"/>
          </p:cNvSpPr>
          <p:nvPr/>
        </p:nvSpPr>
        <p:spPr>
          <a:xfrm>
            <a:off x="4114800" y="3429000"/>
            <a:ext cx="1120140" cy="411480"/>
          </a:xfrm>
          <a:prstGeom prst="roundRect">
            <a:avLst>
              <a:gd name="adj" fmla="val 48889"/>
            </a:avLst>
          </a:prstGeom>
          <a:solidFill>
            <a:srgbClr val="202C52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6001F2C-A1A2-43D5-96D0-7B6D8495B550}"/>
              </a:ext>
            </a:extLst>
          </p:cNvPr>
          <p:cNvSpPr>
            <a:spLocks noGrp="1"/>
          </p:cNvSpPr>
          <p:nvPr/>
        </p:nvSpPr>
        <p:spPr>
          <a:xfrm>
            <a:off x="4114800" y="3429000"/>
            <a:ext cx="11201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Customers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1F5EF32-2682-4D10-936A-2AAFBDD8A9C6}"/>
              </a:ext>
            </a:extLst>
          </p:cNvPr>
          <p:cNvSpPr>
            <a:spLocks noGrp="1"/>
          </p:cNvSpPr>
          <p:nvPr/>
        </p:nvSpPr>
        <p:spPr>
          <a:xfrm>
            <a:off x="614934" y="3886200"/>
            <a:ext cx="4892040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20000"/>
              </a:lnSpc>
              <a:buNone/>
            </a:pPr>
            <a:r>
              <a:rPr sz="1300" b="1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State includes inventory, demand, capacity, lead time, routes, orders, priorities, source, and effective time.</a:t>
            </a: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856977F-4B68-4E08-816F-F1D9390B12A2}"/>
              </a:ext>
            </a:extLst>
          </p:cNvPr>
          <p:cNvSpPr>
            <a:spLocks noGrp="1"/>
          </p:cNvSpPr>
          <p:nvPr/>
        </p:nvSpPr>
        <p:spPr>
          <a:xfrm>
            <a:off x="5779008" y="1705356"/>
            <a:ext cx="5879592" cy="4160520"/>
          </a:xfrm>
          <a:prstGeom prst="roundRect">
            <a:avLst>
              <a:gd name="adj" fmla="val 2198"/>
            </a:avLst>
          </a:prstGeom>
          <a:solidFill>
            <a:srgbClr val="141B33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AF9C343-22C5-419F-A54A-DDA29A1530CC}"/>
              </a:ext>
            </a:extLst>
          </p:cNvPr>
          <p:cNvSpPr>
            <a:spLocks noGrp="1"/>
          </p:cNvSpPr>
          <p:nvPr/>
        </p:nvSpPr>
        <p:spPr>
          <a:xfrm>
            <a:off x="6035040" y="18745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 dirty="0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Illustrative affected </a:t>
            </a:r>
            <a:r>
              <a:rPr lang="en-HK" sz="1400" b="1" dirty="0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graph </a:t>
            </a:r>
            <a:r>
              <a:rPr sz="1400" b="1" dirty="0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path</a:t>
            </a: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E02E12F1-34FA-4EAB-AC8A-6C1A11460130}"/>
              </a:ext>
            </a:extLst>
          </p:cNvPr>
          <p:cNvSpPr>
            <a:spLocks noGrp="1"/>
          </p:cNvSpPr>
          <p:nvPr/>
        </p:nvSpPr>
        <p:spPr>
          <a:xfrm>
            <a:off x="6126480" y="2377440"/>
            <a:ext cx="2926080" cy="402336"/>
          </a:xfrm>
          <a:prstGeom prst="roundRect">
            <a:avLst>
              <a:gd name="adj" fmla="val 18182"/>
            </a:avLst>
          </a:prstGeom>
          <a:solidFill>
            <a:srgbClr val="1B2444"/>
          </a:solidFill>
        </p:spPr>
        <p:txBody>
          <a:bodyPr/>
          <a:lstStyle/>
          <a:p>
            <a:endParaRPr lang="en-HK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3B58E68-A07C-4CB7-A578-80711081346D}"/>
              </a:ext>
            </a:extLst>
          </p:cNvPr>
          <p:cNvSpPr>
            <a:spLocks noGrp="1"/>
          </p:cNvSpPr>
          <p:nvPr/>
        </p:nvSpPr>
        <p:spPr>
          <a:xfrm>
            <a:off x="6309360" y="2505456"/>
            <a:ext cx="146304" cy="146304"/>
          </a:xfrm>
          <a:prstGeom prst="ellipse">
            <a:avLst/>
          </a:prstGeom>
          <a:solidFill>
            <a:srgbClr val="2DD4BF"/>
          </a:solidFill>
        </p:spPr>
        <p:txBody>
          <a:bodyPr/>
          <a:lstStyle/>
          <a:p>
            <a:endParaRPr lang="en-HK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63D45D0-66B3-47BC-9B96-B14EC719B562}"/>
              </a:ext>
            </a:extLst>
          </p:cNvPr>
          <p:cNvSpPr>
            <a:spLocks noGrp="1"/>
          </p:cNvSpPr>
          <p:nvPr/>
        </p:nvSpPr>
        <p:spPr>
          <a:xfrm>
            <a:off x="6583680" y="2377440"/>
            <a:ext cx="237744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Taiwan earthquake</a:t>
            </a: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7C96F727-A5C1-4223-BD9A-4094856B595C}"/>
              </a:ext>
            </a:extLst>
          </p:cNvPr>
          <p:cNvSpPr>
            <a:spLocks noGrp="1"/>
          </p:cNvSpPr>
          <p:nvPr/>
        </p:nvSpPr>
        <p:spPr>
          <a:xfrm>
            <a:off x="9189720" y="2377440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i="1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↓ affects</a:t>
            </a: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DD127266-DC63-4980-BF37-892CF98AA5B0}"/>
              </a:ext>
            </a:extLst>
          </p:cNvPr>
          <p:cNvSpPr>
            <a:spLocks noGrp="1"/>
          </p:cNvSpPr>
          <p:nvPr/>
        </p:nvSpPr>
        <p:spPr>
          <a:xfrm>
            <a:off x="6126480" y="2944368"/>
            <a:ext cx="2926080" cy="402336"/>
          </a:xfrm>
          <a:prstGeom prst="roundRect">
            <a:avLst>
              <a:gd name="adj" fmla="val 18182"/>
            </a:avLst>
          </a:prstGeom>
          <a:solidFill>
            <a:srgbClr val="1B2444"/>
          </a:solidFill>
        </p:spPr>
        <p:txBody>
          <a:bodyPr/>
          <a:lstStyle/>
          <a:p>
            <a:endParaRPr lang="en-HK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D36F7706-5869-415C-B953-917C721E174C}"/>
              </a:ext>
            </a:extLst>
          </p:cNvPr>
          <p:cNvSpPr>
            <a:spLocks noGrp="1"/>
          </p:cNvSpPr>
          <p:nvPr/>
        </p:nvSpPr>
        <p:spPr>
          <a:xfrm>
            <a:off x="6309360" y="3072384"/>
            <a:ext cx="146304" cy="146304"/>
          </a:xfrm>
          <a:prstGeom prst="ellipse">
            <a:avLst/>
          </a:prstGeom>
          <a:solidFill>
            <a:srgbClr val="38BDF8"/>
          </a:solidFill>
        </p:spPr>
        <p:txBody>
          <a:bodyPr/>
          <a:lstStyle/>
          <a:p>
            <a:endParaRPr lang="en-HK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ED2A3218-1C13-471D-9BC7-1E282732CCD7}"/>
              </a:ext>
            </a:extLst>
          </p:cNvPr>
          <p:cNvSpPr>
            <a:spLocks noGrp="1"/>
          </p:cNvSpPr>
          <p:nvPr/>
        </p:nvSpPr>
        <p:spPr>
          <a:xfrm>
            <a:off x="6583680" y="2944368"/>
            <a:ext cx="237744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Supplier A site</a:t>
            </a: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CFDBBF55-9B77-4EB0-8CEF-D24378413C84}"/>
              </a:ext>
            </a:extLst>
          </p:cNvPr>
          <p:cNvSpPr>
            <a:spLocks noGrp="1"/>
          </p:cNvSpPr>
          <p:nvPr/>
        </p:nvSpPr>
        <p:spPr>
          <a:xfrm>
            <a:off x="9189720" y="2944368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i="1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↓ supplies</a:t>
            </a: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64052669-6C0A-489E-B37B-CEA09F3A2083}"/>
              </a:ext>
            </a:extLst>
          </p:cNvPr>
          <p:cNvSpPr>
            <a:spLocks noGrp="1"/>
          </p:cNvSpPr>
          <p:nvPr/>
        </p:nvSpPr>
        <p:spPr>
          <a:xfrm>
            <a:off x="6126480" y="3511296"/>
            <a:ext cx="2926080" cy="402336"/>
          </a:xfrm>
          <a:prstGeom prst="roundRect">
            <a:avLst>
              <a:gd name="adj" fmla="val 18182"/>
            </a:avLst>
          </a:prstGeom>
          <a:solidFill>
            <a:srgbClr val="1B2444"/>
          </a:solidFill>
        </p:spPr>
        <p:txBody>
          <a:bodyPr/>
          <a:lstStyle/>
          <a:p>
            <a:endParaRPr lang="en-HK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4425C6D0-0C31-4D80-8134-925ED5158945}"/>
              </a:ext>
            </a:extLst>
          </p:cNvPr>
          <p:cNvSpPr>
            <a:spLocks noGrp="1"/>
          </p:cNvSpPr>
          <p:nvPr/>
        </p:nvSpPr>
        <p:spPr>
          <a:xfrm>
            <a:off x="6309360" y="3639312"/>
            <a:ext cx="146304" cy="146304"/>
          </a:xfrm>
          <a:prstGeom prst="ellipse">
            <a:avLst/>
          </a:prstGeom>
          <a:solidFill>
            <a:srgbClr val="34D399"/>
          </a:solidFill>
        </p:spPr>
        <p:txBody>
          <a:bodyPr/>
          <a:lstStyle/>
          <a:p>
            <a:endParaRPr lang="en-HK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0A41FAE8-200D-472A-A2B6-874A80A81AD9}"/>
              </a:ext>
            </a:extLst>
          </p:cNvPr>
          <p:cNvSpPr>
            <a:spLocks noGrp="1"/>
          </p:cNvSpPr>
          <p:nvPr/>
        </p:nvSpPr>
        <p:spPr>
          <a:xfrm>
            <a:off x="6583680" y="3511296"/>
            <a:ext cx="237744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Controller chip</a:t>
            </a: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E347DD46-AC6A-4C6C-A532-0923D7990D20}"/>
              </a:ext>
            </a:extLst>
          </p:cNvPr>
          <p:cNvSpPr>
            <a:spLocks noGrp="1"/>
          </p:cNvSpPr>
          <p:nvPr/>
        </p:nvSpPr>
        <p:spPr>
          <a:xfrm>
            <a:off x="9189720" y="3511296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i="1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↓ required by</a:t>
            </a:r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EFF7A967-AD5C-4750-9362-E669F65F9496}"/>
              </a:ext>
            </a:extLst>
          </p:cNvPr>
          <p:cNvSpPr>
            <a:spLocks noGrp="1"/>
          </p:cNvSpPr>
          <p:nvPr/>
        </p:nvSpPr>
        <p:spPr>
          <a:xfrm>
            <a:off x="6126480" y="4078224"/>
            <a:ext cx="2926080" cy="402336"/>
          </a:xfrm>
          <a:prstGeom prst="roundRect">
            <a:avLst>
              <a:gd name="adj" fmla="val 18182"/>
            </a:avLst>
          </a:prstGeom>
          <a:solidFill>
            <a:srgbClr val="1B2444"/>
          </a:solidFill>
        </p:spPr>
        <p:txBody>
          <a:bodyPr/>
          <a:lstStyle/>
          <a:p>
            <a:endParaRPr lang="en-HK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31939E24-47B8-4BC4-9F07-401D7AA41902}"/>
              </a:ext>
            </a:extLst>
          </p:cNvPr>
          <p:cNvSpPr>
            <a:spLocks noGrp="1"/>
          </p:cNvSpPr>
          <p:nvPr/>
        </p:nvSpPr>
        <p:spPr>
          <a:xfrm>
            <a:off x="6309360" y="4206240"/>
            <a:ext cx="146304" cy="146304"/>
          </a:xfrm>
          <a:prstGeom prst="ellipse">
            <a:avLst/>
          </a:prstGeom>
          <a:solidFill>
            <a:srgbClr val="F59E0B"/>
          </a:solidFill>
        </p:spPr>
        <p:txBody>
          <a:bodyPr/>
          <a:lstStyle/>
          <a:p>
            <a:endParaRPr lang="en-HK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4A9F274A-8A0E-4BF1-B7AB-B4B72D32DCC1}"/>
              </a:ext>
            </a:extLst>
          </p:cNvPr>
          <p:cNvSpPr>
            <a:spLocks noGrp="1"/>
          </p:cNvSpPr>
          <p:nvPr/>
        </p:nvSpPr>
        <p:spPr>
          <a:xfrm>
            <a:off x="6583680" y="4078224"/>
            <a:ext cx="237744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product SKUs</a:t>
            </a: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0B815EB1-26D8-4E4B-81DE-9FBF971BBCE2}"/>
              </a:ext>
            </a:extLst>
          </p:cNvPr>
          <p:cNvSpPr>
            <a:spLocks noGrp="1"/>
          </p:cNvSpPr>
          <p:nvPr/>
        </p:nvSpPr>
        <p:spPr>
          <a:xfrm>
            <a:off x="9189720" y="4078224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i="1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↓ fulfills</a:t>
            </a: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2C98B1B1-C56E-419B-9C1D-AEB2A6C9F01E}"/>
              </a:ext>
            </a:extLst>
          </p:cNvPr>
          <p:cNvSpPr>
            <a:spLocks noGrp="1"/>
          </p:cNvSpPr>
          <p:nvPr/>
        </p:nvSpPr>
        <p:spPr>
          <a:xfrm>
            <a:off x="6126480" y="4645152"/>
            <a:ext cx="2926080" cy="402336"/>
          </a:xfrm>
          <a:prstGeom prst="roundRect">
            <a:avLst>
              <a:gd name="adj" fmla="val 18182"/>
            </a:avLst>
          </a:prstGeom>
          <a:solidFill>
            <a:srgbClr val="1B2444"/>
          </a:solidFill>
        </p:spPr>
        <p:txBody>
          <a:bodyPr/>
          <a:lstStyle/>
          <a:p>
            <a:endParaRPr lang="en-HK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800A6C12-FDF1-470F-ACE5-1BDAE90890BC}"/>
              </a:ext>
            </a:extLst>
          </p:cNvPr>
          <p:cNvSpPr>
            <a:spLocks noGrp="1"/>
          </p:cNvSpPr>
          <p:nvPr/>
        </p:nvSpPr>
        <p:spPr>
          <a:xfrm>
            <a:off x="6309360" y="4773168"/>
            <a:ext cx="146304" cy="146304"/>
          </a:xfrm>
          <a:prstGeom prst="ellipse">
            <a:avLst/>
          </a:prstGeom>
          <a:solidFill>
            <a:srgbClr val="38BDF8"/>
          </a:solidFill>
        </p:spPr>
        <p:txBody>
          <a:bodyPr/>
          <a:lstStyle/>
          <a:p>
            <a:endParaRPr lang="en-HK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69FDDF1E-9348-4995-B123-B1F83B697299}"/>
              </a:ext>
            </a:extLst>
          </p:cNvPr>
          <p:cNvSpPr>
            <a:spLocks noGrp="1"/>
          </p:cNvSpPr>
          <p:nvPr/>
        </p:nvSpPr>
        <p:spPr>
          <a:xfrm>
            <a:off x="6583680" y="4645152"/>
            <a:ext cx="237744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 customer orders</a:t>
            </a:r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C761E62F-2375-4A2D-8B3D-B0CC8CA5B626}"/>
              </a:ext>
            </a:extLst>
          </p:cNvPr>
          <p:cNvSpPr>
            <a:spLocks noGrp="1"/>
          </p:cNvSpPr>
          <p:nvPr/>
        </p:nvSpPr>
        <p:spPr>
          <a:xfrm>
            <a:off x="9189720" y="4645152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i="1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↓ owned by</a:t>
            </a:r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450A40F2-3447-4B9B-9705-6B4947B561C2}"/>
              </a:ext>
            </a:extLst>
          </p:cNvPr>
          <p:cNvSpPr>
            <a:spLocks noGrp="1"/>
          </p:cNvSpPr>
          <p:nvPr/>
        </p:nvSpPr>
        <p:spPr>
          <a:xfrm>
            <a:off x="6126480" y="5212080"/>
            <a:ext cx="2926080" cy="402336"/>
          </a:xfrm>
          <a:prstGeom prst="roundRect">
            <a:avLst>
              <a:gd name="adj" fmla="val 18182"/>
            </a:avLst>
          </a:prstGeom>
          <a:solidFill>
            <a:srgbClr val="1B2444"/>
          </a:solidFill>
        </p:spPr>
        <p:txBody>
          <a:bodyPr/>
          <a:lstStyle/>
          <a:p>
            <a:endParaRPr lang="en-HK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BC008766-7A38-4F29-ABE1-8355988071CE}"/>
              </a:ext>
            </a:extLst>
          </p:cNvPr>
          <p:cNvSpPr>
            <a:spLocks noGrp="1"/>
          </p:cNvSpPr>
          <p:nvPr/>
        </p:nvSpPr>
        <p:spPr>
          <a:xfrm>
            <a:off x="6309360" y="5340096"/>
            <a:ext cx="146304" cy="146304"/>
          </a:xfrm>
          <a:prstGeom prst="ellipse">
            <a:avLst/>
          </a:prstGeom>
          <a:solidFill>
            <a:srgbClr val="2DD4BF"/>
          </a:solidFill>
        </p:spPr>
        <p:txBody>
          <a:bodyPr/>
          <a:lstStyle/>
          <a:p>
            <a:endParaRPr lang="en-HK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F2EE24BF-E88C-4C2F-8823-0868225CE9C6}"/>
              </a:ext>
            </a:extLst>
          </p:cNvPr>
          <p:cNvSpPr>
            <a:spLocks noGrp="1"/>
          </p:cNvSpPr>
          <p:nvPr/>
        </p:nvSpPr>
        <p:spPr>
          <a:xfrm>
            <a:off x="6583680" y="5212080"/>
            <a:ext cx="237744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Enterprise teams</a:t>
            </a: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054DAC49-E0EA-470F-9127-56D31A6D1126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Chainsilience AI</a:t>
            </a: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7C2D00E7-4143-4DDC-B7BA-C817D43B4CB7}"/>
              </a:ext>
            </a:extLst>
          </p:cNvPr>
          <p:cNvSpPr>
            <a:spLocks noGrp="1"/>
          </p:cNvSpPr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IDSOL 2026  ·  The Digital Twin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FBC2135-C8E4-785C-E9F3-FB5D219CD484}"/>
              </a:ext>
            </a:extLst>
          </p:cNvPr>
          <p:cNvCxnSpPr/>
          <p:nvPr/>
        </p:nvCxnSpPr>
        <p:spPr>
          <a:xfrm flipV="1">
            <a:off x="5443442" y="5486400"/>
            <a:ext cx="865918" cy="687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FBA0F1E8-5C13-AF9E-A4FA-67423A9C42B3}"/>
              </a:ext>
            </a:extLst>
          </p:cNvPr>
          <p:cNvSpPr txBox="1"/>
          <p:nvPr/>
        </p:nvSpPr>
        <p:spPr>
          <a:xfrm>
            <a:off x="4755187" y="6062579"/>
            <a:ext cx="9595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400" b="1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Node </a:t>
            </a:r>
            <a:endParaRPr lang="en-HK" sz="2400" b="1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CB24C3D-D05A-43B4-3074-854D61DE5CA7}"/>
              </a:ext>
            </a:extLst>
          </p:cNvPr>
          <p:cNvCxnSpPr>
            <a:cxnSpLocks/>
          </p:cNvCxnSpPr>
          <p:nvPr/>
        </p:nvCxnSpPr>
        <p:spPr>
          <a:xfrm flipH="1">
            <a:off x="9413595" y="1466845"/>
            <a:ext cx="490953" cy="923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61AFD761-5AB4-30C1-95FA-0C87B67DD631}"/>
              </a:ext>
            </a:extLst>
          </p:cNvPr>
          <p:cNvSpPr txBox="1"/>
          <p:nvPr/>
        </p:nvSpPr>
        <p:spPr>
          <a:xfrm>
            <a:off x="9615468" y="1005180"/>
            <a:ext cx="9595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400" b="1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Edge </a:t>
            </a:r>
            <a:endParaRPr lang="en-HK" sz="2400" b="1" dirty="0"/>
          </a:p>
        </p:txBody>
      </p:sp>
    </p:spTree>
    <p:extLst>
      <p:ext uri="{BB962C8B-B14F-4D97-AF65-F5344CB8AC3E}">
        <p14:creationId xmlns:p14="http://schemas.microsoft.com/office/powerpoint/2010/main" val="844454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CD4A71A-A0BC-44CB-A767-4A0CA1DB0D63}"/>
              </a:ext>
            </a:extLst>
          </p:cNvPr>
          <p:cNvSpPr>
            <a:spLocks noGrp="1"/>
          </p:cNvSpPr>
          <p:nvPr/>
        </p:nvSpPr>
        <p:spPr>
          <a:xfrm>
            <a:off x="548640" y="45720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100" b="1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HYBRID DSAI STACK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F7C95C5-A96E-4251-A3CA-00EC492C1E2F}"/>
              </a:ext>
            </a:extLst>
          </p:cNvPr>
          <p:cNvSpPr>
            <a:spLocks noGrp="1"/>
          </p:cNvSpPr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Each component performs one accountable job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B5B7509-D9F3-48BE-A472-0F4D78423215}"/>
              </a:ext>
            </a:extLst>
          </p:cNvPr>
          <p:cNvSpPr>
            <a:spLocks noGrp="1"/>
          </p:cNvSpPr>
          <p:nvPr/>
        </p:nvSpPr>
        <p:spPr>
          <a:xfrm>
            <a:off x="548640" y="164592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Language understanding, structured context, quantitative analysis, and authorization remain separate.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1007C16-38EB-48A0-8045-9B7A9CF3648B}"/>
              </a:ext>
            </a:extLst>
          </p:cNvPr>
          <p:cNvSpPr>
            <a:spLocks noGrp="1"/>
          </p:cNvSpPr>
          <p:nvPr/>
        </p:nvSpPr>
        <p:spPr>
          <a:xfrm>
            <a:off x="548640" y="2148840"/>
            <a:ext cx="5577840" cy="566928"/>
          </a:xfrm>
          <a:prstGeom prst="roundRect">
            <a:avLst>
              <a:gd name="adj" fmla="val 16129"/>
            </a:avLst>
          </a:prstGeom>
          <a:solidFill>
            <a:srgbClr val="1B2444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56F8D1A-D614-413A-B0F8-7DAFB36B8F37}"/>
              </a:ext>
            </a:extLst>
          </p:cNvPr>
          <p:cNvSpPr>
            <a:spLocks noGrp="1"/>
          </p:cNvSpPr>
          <p:nvPr/>
        </p:nvSpPr>
        <p:spPr>
          <a:xfrm>
            <a:off x="777240" y="2340864"/>
            <a:ext cx="182880" cy="182880"/>
          </a:xfrm>
          <a:prstGeom prst="ellipse">
            <a:avLst/>
          </a:prstGeom>
          <a:solidFill>
            <a:srgbClr val="2DD4BF"/>
          </a:solidFill>
        </p:spPr>
        <p:txBody>
          <a:bodyPr/>
          <a:lstStyle/>
          <a:p>
            <a:endParaRPr lang="en-HK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4AE7EFA-E987-4766-86F4-4933A849A85F}"/>
              </a:ext>
            </a:extLst>
          </p:cNvPr>
          <p:cNvSpPr>
            <a:spLocks noGrp="1"/>
          </p:cNvSpPr>
          <p:nvPr/>
        </p:nvSpPr>
        <p:spPr>
          <a:xfrm>
            <a:off x="1097280" y="2148840"/>
            <a:ext cx="265176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LLM + NLP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8C2A453-094A-42D4-8F68-5AF6DBC4E319}"/>
              </a:ext>
            </a:extLst>
          </p:cNvPr>
          <p:cNvSpPr>
            <a:spLocks noGrp="1"/>
          </p:cNvSpPr>
          <p:nvPr/>
        </p:nvSpPr>
        <p:spPr>
          <a:xfrm>
            <a:off x="3657600" y="2148840"/>
            <a:ext cx="237744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15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Relevance, extraction, explanation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5471DCA-32BC-4497-B119-5A3A9A338CEE}"/>
              </a:ext>
            </a:extLst>
          </p:cNvPr>
          <p:cNvSpPr>
            <a:spLocks noGrp="1"/>
          </p:cNvSpPr>
          <p:nvPr/>
        </p:nvSpPr>
        <p:spPr>
          <a:xfrm>
            <a:off x="548640" y="2788920"/>
            <a:ext cx="5577840" cy="566928"/>
          </a:xfrm>
          <a:prstGeom prst="roundRect">
            <a:avLst>
              <a:gd name="adj" fmla="val 16129"/>
            </a:avLst>
          </a:prstGeom>
          <a:solidFill>
            <a:srgbClr val="1B2444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F39A29A-D97B-4554-AB80-0898E645CE50}"/>
              </a:ext>
            </a:extLst>
          </p:cNvPr>
          <p:cNvSpPr>
            <a:spLocks noGrp="1"/>
          </p:cNvSpPr>
          <p:nvPr/>
        </p:nvSpPr>
        <p:spPr>
          <a:xfrm>
            <a:off x="777240" y="2980944"/>
            <a:ext cx="182880" cy="182880"/>
          </a:xfrm>
          <a:prstGeom prst="ellipse">
            <a:avLst/>
          </a:prstGeom>
          <a:solidFill>
            <a:srgbClr val="38BDF8"/>
          </a:solidFill>
        </p:spPr>
        <p:txBody>
          <a:bodyPr/>
          <a:lstStyle/>
          <a:p>
            <a:endParaRPr lang="en-HK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1250726-FBD2-4026-ADA7-FE22221DF4E0}"/>
              </a:ext>
            </a:extLst>
          </p:cNvPr>
          <p:cNvSpPr>
            <a:spLocks noGrp="1"/>
          </p:cNvSpPr>
          <p:nvPr/>
        </p:nvSpPr>
        <p:spPr>
          <a:xfrm>
            <a:off x="1097280" y="2788920"/>
            <a:ext cx="265176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RAG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3B48C7E-74D6-4CB4-82BE-364ED88B6E1B}"/>
              </a:ext>
            </a:extLst>
          </p:cNvPr>
          <p:cNvSpPr>
            <a:spLocks noGrp="1"/>
          </p:cNvSpPr>
          <p:nvPr/>
        </p:nvSpPr>
        <p:spPr>
          <a:xfrm>
            <a:off x="3657600" y="2788920"/>
            <a:ext cx="237744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15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Authorized evidence and constraints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EB862F1-7505-4D87-991C-9712A179FC0F}"/>
              </a:ext>
            </a:extLst>
          </p:cNvPr>
          <p:cNvSpPr>
            <a:spLocks noGrp="1"/>
          </p:cNvSpPr>
          <p:nvPr/>
        </p:nvSpPr>
        <p:spPr>
          <a:xfrm>
            <a:off x="548640" y="3429000"/>
            <a:ext cx="5577840" cy="566928"/>
          </a:xfrm>
          <a:prstGeom prst="roundRect">
            <a:avLst>
              <a:gd name="adj" fmla="val 16129"/>
            </a:avLst>
          </a:prstGeom>
          <a:solidFill>
            <a:srgbClr val="1B2444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44621E5-7FDE-46E1-97A3-9720973E7DB3}"/>
              </a:ext>
            </a:extLst>
          </p:cNvPr>
          <p:cNvSpPr>
            <a:spLocks noGrp="1"/>
          </p:cNvSpPr>
          <p:nvPr/>
        </p:nvSpPr>
        <p:spPr>
          <a:xfrm>
            <a:off x="777240" y="3621024"/>
            <a:ext cx="182880" cy="182880"/>
          </a:xfrm>
          <a:prstGeom prst="ellipse">
            <a:avLst/>
          </a:prstGeom>
          <a:solidFill>
            <a:srgbClr val="F59E0B"/>
          </a:solidFill>
        </p:spPr>
        <p:txBody>
          <a:bodyPr/>
          <a:lstStyle/>
          <a:p>
            <a:endParaRPr lang="en-HK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92685EE-592C-454F-B01B-ADB49B92A121}"/>
              </a:ext>
            </a:extLst>
          </p:cNvPr>
          <p:cNvSpPr>
            <a:spLocks noGrp="1"/>
          </p:cNvSpPr>
          <p:nvPr/>
        </p:nvSpPr>
        <p:spPr>
          <a:xfrm>
            <a:off x="1097280" y="3429000"/>
            <a:ext cx="265176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HK" sz="1300" b="1" dirty="0">
                <a:solidFill>
                  <a:srgbClr val="FFFFFF"/>
                </a:solidFill>
                <a:ea typeface="Calibri"/>
                <a:cs typeface="Calibri"/>
              </a:rPr>
              <a:t>Digital twin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1411FE2-B3CD-478F-B814-C4B652BFE517}"/>
              </a:ext>
            </a:extLst>
          </p:cNvPr>
          <p:cNvSpPr>
            <a:spLocks noGrp="1"/>
          </p:cNvSpPr>
          <p:nvPr/>
        </p:nvSpPr>
        <p:spPr>
          <a:xfrm>
            <a:off x="3601994" y="3645615"/>
            <a:ext cx="2377440" cy="31509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HK" sz="1150" dirty="0">
                <a:solidFill>
                  <a:srgbClr val="9FB0CC"/>
                </a:solidFill>
                <a:ea typeface="Calibri"/>
                <a:cs typeface="Calibri"/>
              </a:rPr>
              <a:t>Versioned replica of enterprise entities</a:t>
            </a:r>
          </a:p>
          <a:p>
            <a:pPr marL="0" indent="0" algn="r">
              <a:buNone/>
            </a:pPr>
            <a:endParaRPr lang="en-HK" sz="1150" dirty="0">
              <a:solidFill>
                <a:srgbClr val="9FB0CC"/>
              </a:solidFill>
              <a:ea typeface="Calibri"/>
              <a:cs typeface="Calibri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F02CA72-B230-4EBF-97DD-A75C27EF4776}"/>
              </a:ext>
            </a:extLst>
          </p:cNvPr>
          <p:cNvSpPr>
            <a:spLocks noGrp="1"/>
          </p:cNvSpPr>
          <p:nvPr/>
        </p:nvSpPr>
        <p:spPr>
          <a:xfrm>
            <a:off x="548640" y="4069080"/>
            <a:ext cx="5577840" cy="566928"/>
          </a:xfrm>
          <a:prstGeom prst="roundRect">
            <a:avLst>
              <a:gd name="adj" fmla="val 16129"/>
            </a:avLst>
          </a:prstGeom>
          <a:solidFill>
            <a:srgbClr val="1B2444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8BE23F7-0C77-4533-AE52-C8D03C105755}"/>
              </a:ext>
            </a:extLst>
          </p:cNvPr>
          <p:cNvSpPr>
            <a:spLocks noGrp="1"/>
          </p:cNvSpPr>
          <p:nvPr/>
        </p:nvSpPr>
        <p:spPr>
          <a:xfrm>
            <a:off x="777240" y="4261104"/>
            <a:ext cx="182880" cy="182880"/>
          </a:xfrm>
          <a:prstGeom prst="ellipse">
            <a:avLst/>
          </a:prstGeom>
          <a:solidFill>
            <a:srgbClr val="F43F5E"/>
          </a:solidFill>
        </p:spPr>
        <p:txBody>
          <a:bodyPr/>
          <a:lstStyle/>
          <a:p>
            <a:endParaRPr lang="en-HK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78AA61C-8206-4267-B5F8-09BB4328D73C}"/>
              </a:ext>
            </a:extLst>
          </p:cNvPr>
          <p:cNvSpPr>
            <a:spLocks noGrp="1"/>
          </p:cNvSpPr>
          <p:nvPr/>
        </p:nvSpPr>
        <p:spPr>
          <a:xfrm>
            <a:off x="1097280" y="4069080"/>
            <a:ext cx="265176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HK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Knowledge graph</a:t>
            </a:r>
            <a:endParaRPr sz="1300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568E9FB-B414-45AA-B053-65AEC84ECC41}"/>
              </a:ext>
            </a:extLst>
          </p:cNvPr>
          <p:cNvSpPr>
            <a:spLocks noGrp="1"/>
          </p:cNvSpPr>
          <p:nvPr/>
        </p:nvSpPr>
        <p:spPr>
          <a:xfrm>
            <a:off x="3657600" y="4069080"/>
            <a:ext cx="237744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en-HK" sz="115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Affected supply chain paths</a:t>
            </a:r>
            <a:endParaRPr sz="1150" dirty="0">
              <a:solidFill>
                <a:srgbClr val="9FB0C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3A9B2B0D-3279-4981-BD07-4905C45E0B6E}"/>
              </a:ext>
            </a:extLst>
          </p:cNvPr>
          <p:cNvSpPr>
            <a:spLocks noGrp="1"/>
          </p:cNvSpPr>
          <p:nvPr/>
        </p:nvSpPr>
        <p:spPr>
          <a:xfrm>
            <a:off x="548640" y="4709160"/>
            <a:ext cx="5577840" cy="566928"/>
          </a:xfrm>
          <a:prstGeom prst="roundRect">
            <a:avLst>
              <a:gd name="adj" fmla="val 16129"/>
            </a:avLst>
          </a:prstGeom>
          <a:solidFill>
            <a:srgbClr val="1B2444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737A94EA-C146-4BCB-A6D4-3F756BDEA5C9}"/>
              </a:ext>
            </a:extLst>
          </p:cNvPr>
          <p:cNvSpPr>
            <a:spLocks noGrp="1"/>
          </p:cNvSpPr>
          <p:nvPr/>
        </p:nvSpPr>
        <p:spPr>
          <a:xfrm>
            <a:off x="777240" y="4901184"/>
            <a:ext cx="182880" cy="182880"/>
          </a:xfrm>
          <a:prstGeom prst="ellipse">
            <a:avLst/>
          </a:prstGeom>
          <a:solidFill>
            <a:srgbClr val="34D399"/>
          </a:solidFill>
        </p:spPr>
        <p:txBody>
          <a:bodyPr/>
          <a:lstStyle/>
          <a:p>
            <a:endParaRPr lang="en-HK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17123BE-9099-4906-A870-3B22C77898B1}"/>
              </a:ext>
            </a:extLst>
          </p:cNvPr>
          <p:cNvSpPr>
            <a:spLocks noGrp="1"/>
          </p:cNvSpPr>
          <p:nvPr/>
        </p:nvSpPr>
        <p:spPr>
          <a:xfrm>
            <a:off x="1097280" y="4709160"/>
            <a:ext cx="265176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Simulation + optimization</a:t>
            </a: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C1625BB-644C-4A6F-8C4C-C610647FE7DF}"/>
              </a:ext>
            </a:extLst>
          </p:cNvPr>
          <p:cNvSpPr>
            <a:spLocks noGrp="1"/>
          </p:cNvSpPr>
          <p:nvPr/>
        </p:nvSpPr>
        <p:spPr>
          <a:xfrm>
            <a:off x="3657600" y="4709160"/>
            <a:ext cx="237744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15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Impact, feasibility, trade-offs</a:t>
            </a: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F47C4D3B-C595-4FEE-9FC4-20D1E3FC681D}"/>
              </a:ext>
            </a:extLst>
          </p:cNvPr>
          <p:cNvSpPr>
            <a:spLocks noGrp="1"/>
          </p:cNvSpPr>
          <p:nvPr/>
        </p:nvSpPr>
        <p:spPr>
          <a:xfrm>
            <a:off x="548640" y="5349240"/>
            <a:ext cx="5577840" cy="566928"/>
          </a:xfrm>
          <a:prstGeom prst="roundRect">
            <a:avLst>
              <a:gd name="adj" fmla="val 16129"/>
            </a:avLst>
          </a:prstGeom>
          <a:solidFill>
            <a:srgbClr val="1B2444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2AA939BA-2525-4B74-8581-5D879F1DAAE6}"/>
              </a:ext>
            </a:extLst>
          </p:cNvPr>
          <p:cNvSpPr>
            <a:spLocks noGrp="1"/>
          </p:cNvSpPr>
          <p:nvPr/>
        </p:nvSpPr>
        <p:spPr>
          <a:xfrm>
            <a:off x="777240" y="5541264"/>
            <a:ext cx="182880" cy="182880"/>
          </a:xfrm>
          <a:prstGeom prst="ellipse">
            <a:avLst/>
          </a:prstGeom>
          <a:solidFill>
            <a:srgbClr val="38BDF8"/>
          </a:solidFill>
        </p:spPr>
        <p:txBody>
          <a:bodyPr/>
          <a:lstStyle/>
          <a:p>
            <a:endParaRPr lang="en-HK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88D9E3F-6684-440A-9DED-F48AE8742C06}"/>
              </a:ext>
            </a:extLst>
          </p:cNvPr>
          <p:cNvSpPr>
            <a:spLocks noGrp="1"/>
          </p:cNvSpPr>
          <p:nvPr/>
        </p:nvSpPr>
        <p:spPr>
          <a:xfrm>
            <a:off x="1097280" y="5349240"/>
            <a:ext cx="265176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Policy + human approval</a:t>
            </a: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B5531C4F-E4B4-4FB9-B630-3DEE998C7FE2}"/>
              </a:ext>
            </a:extLst>
          </p:cNvPr>
          <p:cNvSpPr>
            <a:spLocks noGrp="1"/>
          </p:cNvSpPr>
          <p:nvPr/>
        </p:nvSpPr>
        <p:spPr>
          <a:xfrm>
            <a:off x="3657600" y="5349240"/>
            <a:ext cx="237744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15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Authorization and accountability</a:t>
            </a: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19353FDC-78A0-4020-A8F1-9A998C6B803D}"/>
              </a:ext>
            </a:extLst>
          </p:cNvPr>
          <p:cNvSpPr>
            <a:spLocks noGrp="1"/>
          </p:cNvSpPr>
          <p:nvPr/>
        </p:nvSpPr>
        <p:spPr>
          <a:xfrm>
            <a:off x="6464808" y="1801368"/>
            <a:ext cx="5193792" cy="4114800"/>
          </a:xfrm>
          <a:prstGeom prst="roundRect">
            <a:avLst>
              <a:gd name="adj" fmla="val 2222"/>
            </a:avLst>
          </a:prstGeom>
          <a:solidFill>
            <a:srgbClr val="141B33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E542EFA3-489B-4206-92BF-77AEB22A2EFF}"/>
              </a:ext>
            </a:extLst>
          </p:cNvPr>
          <p:cNvSpPr>
            <a:spLocks noGrp="1"/>
          </p:cNvSpPr>
          <p:nvPr/>
        </p:nvSpPr>
        <p:spPr>
          <a:xfrm>
            <a:off x="6446520" y="2057400"/>
            <a:ext cx="5193792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HK" sz="9600" b="1" dirty="0">
                <a:solidFill>
                  <a:srgbClr val="F43F5E"/>
                </a:solidFill>
                <a:latin typeface="Calibri"/>
                <a:ea typeface="Calibri"/>
                <a:cs typeface="Calibri"/>
              </a:rPr>
              <a:t>87/100</a:t>
            </a:r>
            <a:endParaRPr sz="9600" b="1" dirty="0">
              <a:solidFill>
                <a:srgbClr val="F43F5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D6B994B5-6B24-420B-9E80-95FD0577893F}"/>
              </a:ext>
            </a:extLst>
          </p:cNvPr>
          <p:cNvSpPr>
            <a:spLocks noGrp="1"/>
          </p:cNvSpPr>
          <p:nvPr/>
        </p:nvSpPr>
        <p:spPr>
          <a:xfrm>
            <a:off x="6446520" y="3429000"/>
            <a:ext cx="5193792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HK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Critical Risk</a:t>
            </a:r>
            <a:endParaRPr sz="1800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36EA2868-2A55-4E88-845D-DFAF0F11E769}"/>
              </a:ext>
            </a:extLst>
          </p:cNvPr>
          <p:cNvSpPr>
            <a:spLocks noGrp="1"/>
          </p:cNvSpPr>
          <p:nvPr/>
        </p:nvSpPr>
        <p:spPr>
          <a:xfrm>
            <a:off x="6858000" y="4114800"/>
            <a:ext cx="4370832" cy="0"/>
          </a:xfrm>
          <a:prstGeom prst="line">
            <a:avLst/>
          </a:prstGeom>
          <a:noFill/>
          <a:ln w="12700">
            <a:solidFill>
              <a:srgbClr val="202C52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2FD1FEB5-8109-4630-A432-D374367DED26}"/>
              </a:ext>
            </a:extLst>
          </p:cNvPr>
          <p:cNvSpPr>
            <a:spLocks noGrp="1"/>
          </p:cNvSpPr>
          <p:nvPr/>
        </p:nvSpPr>
        <p:spPr>
          <a:xfrm>
            <a:off x="7072884" y="3968990"/>
            <a:ext cx="4370832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</a:pPr>
            <a:r>
              <a:rPr lang="en-HK" sz="1350" b="1" dirty="0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Deterministic</a:t>
            </a:r>
            <a:r>
              <a:rPr sz="1350" b="1" dirty="0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 services calculate. </a:t>
            </a:r>
            <a:r>
              <a:rPr lang="en-US" sz="1350" b="1" dirty="0">
                <a:solidFill>
                  <a:srgbClr val="2DD4BF"/>
                </a:solidFill>
                <a:ea typeface="Calibri"/>
                <a:cs typeface="Calibri"/>
              </a:rPr>
              <a:t>The LLM interprets and explains score reasoning. </a:t>
            </a:r>
            <a:r>
              <a:rPr sz="1350" b="1" dirty="0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Enterprise policy and authorized roles decide.</a:t>
            </a: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616E96F1-A00E-429B-AD97-E1E5F0E1122C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Chainsilience AI</a:t>
            </a: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2E302045-253D-4922-8B6A-23F1A6248FF1}"/>
              </a:ext>
            </a:extLst>
          </p:cNvPr>
          <p:cNvSpPr>
            <a:spLocks noGrp="1"/>
          </p:cNvSpPr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IDSOL 2026  ·  Hybrid DSAI Stack</a:t>
            </a:r>
          </a:p>
        </p:txBody>
      </p:sp>
    </p:spTree>
    <p:extLst>
      <p:ext uri="{BB962C8B-B14F-4D97-AF65-F5344CB8AC3E}">
        <p14:creationId xmlns:p14="http://schemas.microsoft.com/office/powerpoint/2010/main" val="443514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6128093-E0E6-42CC-AEA5-236EFDBCF8F3}"/>
              </a:ext>
            </a:extLst>
          </p:cNvPr>
          <p:cNvSpPr>
            <a:spLocks noGrp="1"/>
          </p:cNvSpPr>
          <p:nvPr/>
        </p:nvSpPr>
        <p:spPr>
          <a:xfrm>
            <a:off x="548640" y="45720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100" b="1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IMPACT ENGINE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B7918B5-8894-4B20-AAA9-F436068BC628}"/>
              </a:ext>
            </a:extLst>
          </p:cNvPr>
          <p:cNvSpPr>
            <a:spLocks noGrp="1"/>
          </p:cNvSpPr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Operational impact becomes reproducible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C8C8558-FA90-48C0-91F2-01D25309BAC5}"/>
              </a:ext>
            </a:extLst>
          </p:cNvPr>
          <p:cNvSpPr>
            <a:spLocks noGrp="1"/>
          </p:cNvSpPr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Illustrative Orion Controls outputs from one frozen enterprise snapshot.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7050C33-AF53-47D6-AD39-AE74F6EA6FF0}"/>
              </a:ext>
            </a:extLst>
          </p:cNvPr>
          <p:cNvSpPr>
            <a:spLocks noGrp="1"/>
          </p:cNvSpPr>
          <p:nvPr/>
        </p:nvSpPr>
        <p:spPr>
          <a:xfrm>
            <a:off x="548640" y="219456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1B2444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A33FB31-E493-4FFF-970D-B1488DFDA316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40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93D4539-75A3-454E-A13D-36B1D296E58A}"/>
              </a:ext>
            </a:extLst>
          </p:cNvPr>
          <p:cNvSpPr>
            <a:spLocks noGrp="1"/>
          </p:cNvSpPr>
          <p:nvPr/>
        </p:nvSpPr>
        <p:spPr>
          <a:xfrm>
            <a:off x="841248" y="321868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25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projected shortage day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A6B58D5-3F34-4200-8208-76AC3C9134DD}"/>
              </a:ext>
            </a:extLst>
          </p:cNvPr>
          <p:cNvSpPr>
            <a:spLocks noGrp="1"/>
          </p:cNvSpPr>
          <p:nvPr/>
        </p:nvSpPr>
        <p:spPr>
          <a:xfrm>
            <a:off x="4279392" y="219456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1B2444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48696B2-3827-4845-ACFA-C628590013C6}"/>
              </a:ext>
            </a:extLst>
          </p:cNvPr>
          <p:cNvSpPr>
            <a:spLocks noGrp="1"/>
          </p:cNvSpPr>
          <p:nvPr/>
        </p:nvSpPr>
        <p:spPr>
          <a:xfrm>
            <a:off x="4553712" y="2395728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40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1F03C2B-98E0-48E4-9857-C77D5BF78DDD}"/>
              </a:ext>
            </a:extLst>
          </p:cNvPr>
          <p:cNvSpPr>
            <a:spLocks noGrp="1"/>
          </p:cNvSpPr>
          <p:nvPr/>
        </p:nvSpPr>
        <p:spPr>
          <a:xfrm>
            <a:off x="4572000" y="321868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25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days of inventory coverage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E1A682E-8969-4842-B4AD-C69DF80615DD}"/>
              </a:ext>
            </a:extLst>
          </p:cNvPr>
          <p:cNvSpPr>
            <a:spLocks noGrp="1"/>
          </p:cNvSpPr>
          <p:nvPr/>
        </p:nvSpPr>
        <p:spPr>
          <a:xfrm>
            <a:off x="8010144" y="219456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1B2444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FC51351-184F-4056-9A7D-AB240B746075}"/>
              </a:ext>
            </a:extLst>
          </p:cNvPr>
          <p:cNvSpPr>
            <a:spLocks noGrp="1"/>
          </p:cNvSpPr>
          <p:nvPr/>
        </p:nvSpPr>
        <p:spPr>
          <a:xfrm>
            <a:off x="8284464" y="2395728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4000" b="1">
                <a:solidFill>
                  <a:srgbClr val="F43F5E"/>
                </a:solidFill>
                <a:latin typeface="Calibri"/>
                <a:ea typeface="Calibri"/>
                <a:cs typeface="Calibri"/>
              </a:rPr>
              <a:t>71%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823491C-2921-41A6-A705-DAC576443CD8}"/>
              </a:ext>
            </a:extLst>
          </p:cNvPr>
          <p:cNvSpPr>
            <a:spLocks noGrp="1"/>
          </p:cNvSpPr>
          <p:nvPr/>
        </p:nvSpPr>
        <p:spPr>
          <a:xfrm>
            <a:off x="8302752" y="321868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HK" sz="125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Production stoppage probability</a:t>
            </a:r>
            <a:endParaRPr sz="1250" dirty="0">
              <a:solidFill>
                <a:srgbClr val="9FB0C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EDDAC0E-B492-41F1-B487-B887E707346A}"/>
              </a:ext>
            </a:extLst>
          </p:cNvPr>
          <p:cNvSpPr>
            <a:spLocks noGrp="1"/>
          </p:cNvSpPr>
          <p:nvPr/>
        </p:nvSpPr>
        <p:spPr>
          <a:xfrm>
            <a:off x="548640" y="397764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1B2444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67B4A5B-EBE2-4D1E-9C2B-44378C0FAF4D}"/>
              </a:ext>
            </a:extLst>
          </p:cNvPr>
          <p:cNvSpPr>
            <a:spLocks noGrp="1"/>
          </p:cNvSpPr>
          <p:nvPr/>
        </p:nvSpPr>
        <p:spPr>
          <a:xfrm>
            <a:off x="822960" y="4178808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4000" b="1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$180K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F333C52-7415-4371-B148-F79C9673910D}"/>
              </a:ext>
            </a:extLst>
          </p:cNvPr>
          <p:cNvSpPr>
            <a:spLocks noGrp="1"/>
          </p:cNvSpPr>
          <p:nvPr/>
        </p:nvSpPr>
        <p:spPr>
          <a:xfrm>
            <a:off x="841248" y="500176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25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mitigation cost estimate</a:t>
            </a: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FCD55AB-444F-4B0D-AE36-8656CE76B3DF}"/>
              </a:ext>
            </a:extLst>
          </p:cNvPr>
          <p:cNvSpPr>
            <a:spLocks noGrp="1"/>
          </p:cNvSpPr>
          <p:nvPr/>
        </p:nvSpPr>
        <p:spPr>
          <a:xfrm>
            <a:off x="4279392" y="397764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1B2444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686D701-4401-4D8E-A827-81EF2002A52A}"/>
              </a:ext>
            </a:extLst>
          </p:cNvPr>
          <p:cNvSpPr>
            <a:spLocks noGrp="1"/>
          </p:cNvSpPr>
          <p:nvPr/>
        </p:nvSpPr>
        <p:spPr>
          <a:xfrm>
            <a:off x="4553712" y="4178808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40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3 weeks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70FF943-CC30-4A6D-A112-B0C5F6CD63E5}"/>
              </a:ext>
            </a:extLst>
          </p:cNvPr>
          <p:cNvSpPr>
            <a:spLocks noGrp="1"/>
          </p:cNvSpPr>
          <p:nvPr/>
        </p:nvSpPr>
        <p:spPr>
          <a:xfrm>
            <a:off x="4572000" y="500176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25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illustrative recovery range</a:t>
            </a: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A34A2D03-1C4C-4E52-872D-EC4E2C6A89E7}"/>
              </a:ext>
            </a:extLst>
          </p:cNvPr>
          <p:cNvSpPr>
            <a:spLocks noGrp="1"/>
          </p:cNvSpPr>
          <p:nvPr/>
        </p:nvSpPr>
        <p:spPr>
          <a:xfrm>
            <a:off x="8010144" y="397764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1B2444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A9DB214-1BB6-4D40-88D3-54190913F7C5}"/>
              </a:ext>
            </a:extLst>
          </p:cNvPr>
          <p:cNvSpPr>
            <a:spLocks noGrp="1"/>
          </p:cNvSpPr>
          <p:nvPr/>
        </p:nvSpPr>
        <p:spPr>
          <a:xfrm>
            <a:off x="8284464" y="4178808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40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FB2C6C7-67DE-486A-B40F-5B82A65C61E5}"/>
              </a:ext>
            </a:extLst>
          </p:cNvPr>
          <p:cNvSpPr>
            <a:spLocks noGrp="1"/>
          </p:cNvSpPr>
          <p:nvPr/>
        </p:nvSpPr>
        <p:spPr>
          <a:xfrm>
            <a:off x="8302752" y="500176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25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customer orders on affected path</a:t>
            </a: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6C255B2-F98E-4C1A-A8CC-7519990B1860}"/>
              </a:ext>
            </a:extLst>
          </p:cNvPr>
          <p:cNvSpPr>
            <a:spLocks noGrp="1"/>
          </p:cNvSpPr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 dirty="0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Method: deterministic inventory and cost calculations plus Monte Carlo simulation. The LLM explains outputs and </a:t>
            </a:r>
            <a:r>
              <a:rPr lang="en-HK" sz="1250" b="1" dirty="0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reasoning behind the numbers</a:t>
            </a:r>
            <a:r>
              <a:rPr sz="1250" b="1" dirty="0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; the LLM does not perform the calculations.</a:t>
            </a: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057EC92-D286-4D44-B044-040F76B1352D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Chainsilience AI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FE501D0-478D-4D22-B447-A8FD3E04B632}"/>
              </a:ext>
            </a:extLst>
          </p:cNvPr>
          <p:cNvSpPr>
            <a:spLocks noGrp="1"/>
          </p:cNvSpPr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IDSOL 2026  ·  Impact Engine</a:t>
            </a:r>
          </a:p>
        </p:txBody>
      </p:sp>
    </p:spTree>
    <p:extLst>
      <p:ext uri="{BB962C8B-B14F-4D97-AF65-F5344CB8AC3E}">
        <p14:creationId xmlns:p14="http://schemas.microsoft.com/office/powerpoint/2010/main" val="1515983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D9B6A56-0073-4698-AF6C-EDDE84799495}"/>
              </a:ext>
            </a:extLst>
          </p:cNvPr>
          <p:cNvSpPr>
            <a:spLocks noGrp="1"/>
          </p:cNvSpPr>
          <p:nvPr/>
        </p:nvSpPr>
        <p:spPr>
          <a:xfrm>
            <a:off x="548640" y="45720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100" b="1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MITIGATION PLANNING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97C5AEE-6201-459F-AA31-93E07ECF3EFE}"/>
              </a:ext>
            </a:extLst>
          </p:cNvPr>
          <p:cNvSpPr>
            <a:spLocks noGrp="1"/>
          </p:cNvSpPr>
          <p:nvPr/>
        </p:nvSpPr>
        <p:spPr>
          <a:xfrm>
            <a:off x="502920" y="749808"/>
            <a:ext cx="10506950" cy="8961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8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Candidate </a:t>
            </a:r>
            <a:r>
              <a:rPr lang="en-HK" sz="28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mitigation </a:t>
            </a:r>
            <a:r>
              <a:rPr sz="28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actions are grounded, checked, and compared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823D1DE-8863-478A-B290-F4D9D9CC4295}"/>
              </a:ext>
            </a:extLst>
          </p:cNvPr>
          <p:cNvSpPr>
            <a:spLocks noGrp="1"/>
          </p:cNvSpPr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5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RAG </a:t>
            </a:r>
            <a:r>
              <a:rPr lang="en-HK" sz="145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provides tailored mitigation options</a:t>
            </a:r>
            <a:r>
              <a:rPr sz="145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 and </a:t>
            </a:r>
            <a:r>
              <a:rPr lang="en-HK" sz="145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constraints</a:t>
            </a:r>
            <a:r>
              <a:rPr sz="145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; deterministic services validate option</a:t>
            </a:r>
            <a:r>
              <a:rPr lang="en-HK" sz="145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s numerically</a:t>
            </a:r>
            <a:r>
              <a:rPr sz="145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graphicFrame>
        <p:nvGraphicFramePr>
          <p:cNvPr id="26" name="Chart 0"/>
          <p:cNvGraphicFramePr/>
          <p:nvPr/>
        </p:nvGraphicFramePr>
        <p:xfrm>
          <a:off x="548640" y="2240280"/>
          <a:ext cx="57607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>
            <a:extLst>
              <a:ext uri="{FF2B5EF4-FFF2-40B4-BE49-F238E27FC236}">
                <a16:creationId xmlns:a16="http://schemas.microsoft.com/office/drawing/2014/main" id="{5CF7AF02-A752-47E8-8F02-0E6E284BA162}"/>
              </a:ext>
            </a:extLst>
          </p:cNvPr>
          <p:cNvSpPr>
            <a:spLocks noGrp="1"/>
          </p:cNvSpPr>
          <p:nvPr/>
        </p:nvSpPr>
        <p:spPr>
          <a:xfrm>
            <a:off x="6550317" y="2350008"/>
            <a:ext cx="5120640" cy="3383280"/>
          </a:xfrm>
          <a:prstGeom prst="roundRect">
            <a:avLst>
              <a:gd name="adj" fmla="val 2703"/>
            </a:avLst>
          </a:prstGeom>
          <a:solidFill>
            <a:srgbClr val="141B33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075AC0E-4357-4EEA-B558-AD6F46E04AE3}"/>
              </a:ext>
            </a:extLst>
          </p:cNvPr>
          <p:cNvSpPr>
            <a:spLocks noGrp="1"/>
          </p:cNvSpPr>
          <p:nvPr/>
        </p:nvSpPr>
        <p:spPr>
          <a:xfrm>
            <a:off x="6766560" y="23774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 dirty="0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Illustrative scenario </a:t>
            </a:r>
            <a:r>
              <a:rPr lang="en-HK" sz="1400" b="1" dirty="0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simulation </a:t>
            </a:r>
            <a:r>
              <a:rPr sz="1400" b="1" dirty="0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comparison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57027495-46AE-4A56-804B-1017D11E428E}"/>
              </a:ext>
            </a:extLst>
          </p:cNvPr>
          <p:cNvSpPr>
            <a:spLocks noGrp="1"/>
          </p:cNvSpPr>
          <p:nvPr/>
        </p:nvSpPr>
        <p:spPr>
          <a:xfrm>
            <a:off x="6766560" y="2834640"/>
            <a:ext cx="4663440" cy="841248"/>
          </a:xfrm>
          <a:prstGeom prst="roundRect">
            <a:avLst>
              <a:gd name="adj" fmla="val 10870"/>
            </a:avLst>
          </a:prstGeom>
          <a:solidFill>
            <a:srgbClr val="1B2444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98462F4E-F1F5-475B-BD3C-760F86226C21}"/>
              </a:ext>
            </a:extLst>
          </p:cNvPr>
          <p:cNvSpPr>
            <a:spLocks noGrp="1"/>
          </p:cNvSpPr>
          <p:nvPr/>
        </p:nvSpPr>
        <p:spPr>
          <a:xfrm>
            <a:off x="6995160" y="3163824"/>
            <a:ext cx="182880" cy="182880"/>
          </a:xfrm>
          <a:prstGeom prst="ellipse">
            <a:avLst/>
          </a:prstGeom>
          <a:solidFill>
            <a:srgbClr val="F59E0B"/>
          </a:solidFill>
        </p:spPr>
        <p:txBody>
          <a:bodyPr/>
          <a:lstStyle/>
          <a:p>
            <a:endParaRPr lang="en-HK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E697304-6BC4-4E33-8BD4-597DFD4BA0A8}"/>
              </a:ext>
            </a:extLst>
          </p:cNvPr>
          <p:cNvSpPr>
            <a:spLocks noGrp="1"/>
          </p:cNvSpPr>
          <p:nvPr/>
        </p:nvSpPr>
        <p:spPr>
          <a:xfrm>
            <a:off x="7269480" y="292608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 · Switch 25% to Supplier B</a:t>
            </a: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568FBDA-276A-4293-92A1-C1932EF30602}"/>
              </a:ext>
            </a:extLst>
          </p:cNvPr>
          <p:cNvSpPr>
            <a:spLocks noGrp="1"/>
          </p:cNvSpPr>
          <p:nvPr/>
        </p:nvSpPr>
        <p:spPr>
          <a:xfrm>
            <a:off x="7269480" y="3273552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$180K estimate · 5-day changeover · qualification checked</a:t>
            </a: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64AA13F0-D59D-4D02-BD9D-1F981D63C427}"/>
              </a:ext>
            </a:extLst>
          </p:cNvPr>
          <p:cNvSpPr>
            <a:spLocks noGrp="1"/>
          </p:cNvSpPr>
          <p:nvPr/>
        </p:nvSpPr>
        <p:spPr>
          <a:xfrm>
            <a:off x="6766560" y="3767328"/>
            <a:ext cx="4663440" cy="841248"/>
          </a:xfrm>
          <a:prstGeom prst="roundRect">
            <a:avLst>
              <a:gd name="adj" fmla="val 10870"/>
            </a:avLst>
          </a:prstGeom>
          <a:solidFill>
            <a:srgbClr val="1B2444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00018171-3A9B-424F-A27C-2071D2051C39}"/>
              </a:ext>
            </a:extLst>
          </p:cNvPr>
          <p:cNvSpPr>
            <a:spLocks noGrp="1"/>
          </p:cNvSpPr>
          <p:nvPr/>
        </p:nvSpPr>
        <p:spPr>
          <a:xfrm>
            <a:off x="6995160" y="4096512"/>
            <a:ext cx="182880" cy="182880"/>
          </a:xfrm>
          <a:prstGeom prst="ellipse">
            <a:avLst/>
          </a:prstGeom>
          <a:solidFill>
            <a:srgbClr val="34D399"/>
          </a:solidFill>
        </p:spPr>
        <p:txBody>
          <a:bodyPr/>
          <a:lstStyle/>
          <a:p>
            <a:endParaRPr lang="en-HK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3A4F081B-0B75-41E0-AD28-286D5B4B23C2}"/>
              </a:ext>
            </a:extLst>
          </p:cNvPr>
          <p:cNvSpPr>
            <a:spLocks noGrp="1"/>
          </p:cNvSpPr>
          <p:nvPr/>
        </p:nvSpPr>
        <p:spPr>
          <a:xfrm>
            <a:off x="7269480" y="3858768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 · Use qualified air freight</a:t>
            </a: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6970EDA9-1273-4653-AD99-D7293DD70A56}"/>
              </a:ext>
            </a:extLst>
          </p:cNvPr>
          <p:cNvSpPr>
            <a:spLocks noGrp="1"/>
          </p:cNvSpPr>
          <p:nvPr/>
        </p:nvSpPr>
        <p:spPr>
          <a:xfrm>
            <a:off x="7269480" y="420624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HK" sz="110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$300K estimate </a:t>
            </a:r>
            <a:r>
              <a:rPr sz="110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· carrier · customs · capacity · cost checked</a:t>
            </a: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2CE51EAF-1CE1-423D-9983-1FF819353D07}"/>
              </a:ext>
            </a:extLst>
          </p:cNvPr>
          <p:cNvSpPr>
            <a:spLocks noGrp="1"/>
          </p:cNvSpPr>
          <p:nvPr/>
        </p:nvSpPr>
        <p:spPr>
          <a:xfrm>
            <a:off x="6766560" y="4700016"/>
            <a:ext cx="4663440" cy="841248"/>
          </a:xfrm>
          <a:prstGeom prst="roundRect">
            <a:avLst>
              <a:gd name="adj" fmla="val 10870"/>
            </a:avLst>
          </a:prstGeom>
          <a:solidFill>
            <a:srgbClr val="1B2444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404502E9-00A4-49C2-80AB-3610459F4D60}"/>
              </a:ext>
            </a:extLst>
          </p:cNvPr>
          <p:cNvSpPr>
            <a:spLocks noGrp="1"/>
          </p:cNvSpPr>
          <p:nvPr/>
        </p:nvSpPr>
        <p:spPr>
          <a:xfrm>
            <a:off x="6995160" y="5029200"/>
            <a:ext cx="182880" cy="182880"/>
          </a:xfrm>
          <a:prstGeom prst="ellipse">
            <a:avLst/>
          </a:prstGeom>
          <a:solidFill>
            <a:srgbClr val="38BDF8"/>
          </a:solidFill>
        </p:spPr>
        <p:txBody>
          <a:bodyPr/>
          <a:lstStyle/>
          <a:p>
            <a:endParaRPr lang="en-HK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88BA676C-AB53-4971-8D3C-45DCB3F7F491}"/>
              </a:ext>
            </a:extLst>
          </p:cNvPr>
          <p:cNvSpPr>
            <a:spLocks noGrp="1"/>
          </p:cNvSpPr>
          <p:nvPr/>
        </p:nvSpPr>
        <p:spPr>
          <a:xfrm>
            <a:off x="7269480" y="4791456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 · Delay low-priority orders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265226D-7E4B-43C7-9DBA-9C58B69A7BA4}"/>
              </a:ext>
            </a:extLst>
          </p:cNvPr>
          <p:cNvSpPr>
            <a:spLocks noGrp="1"/>
          </p:cNvSpPr>
          <p:nvPr/>
        </p:nvSpPr>
        <p:spPr>
          <a:xfrm>
            <a:off x="7269480" y="5138928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HK" sz="110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$0 estimate </a:t>
            </a:r>
            <a:r>
              <a:rPr lang="en-HK" sz="1100" dirty="0">
                <a:solidFill>
                  <a:srgbClr val="9FB0CC"/>
                </a:solidFill>
                <a:ea typeface="Calibri"/>
                <a:cs typeface="Calibri"/>
              </a:rPr>
              <a:t>·</a:t>
            </a:r>
            <a:r>
              <a:rPr lang="en-HK" sz="110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Priority · contract · service commitments checked</a:t>
            </a: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D2BF05D9-0910-4639-B25D-7D4AF21B9568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Chainsilience AI</a:t>
            </a: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83B866B6-3961-4F35-8CEF-2D8D5B106307}"/>
              </a:ext>
            </a:extLst>
          </p:cNvPr>
          <p:cNvSpPr>
            <a:spLocks noGrp="1"/>
          </p:cNvSpPr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IDSOL 2026  ·  Mitigation Planning</a:t>
            </a:r>
          </a:p>
        </p:txBody>
      </p:sp>
    </p:spTree>
    <p:extLst>
      <p:ext uri="{BB962C8B-B14F-4D97-AF65-F5344CB8AC3E}">
        <p14:creationId xmlns:p14="http://schemas.microsoft.com/office/powerpoint/2010/main" val="705337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0A9ED74-1C32-4837-A847-B6E0AAF064E9}"/>
              </a:ext>
            </a:extLst>
          </p:cNvPr>
          <p:cNvSpPr>
            <a:spLocks noGrp="1"/>
          </p:cNvSpPr>
          <p:nvPr/>
        </p:nvSpPr>
        <p:spPr>
          <a:xfrm>
            <a:off x="548640" y="45720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100" b="1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ACTION GOVERNANCE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CFD2822-A3F9-4CFD-8E07-74B7437E17D0}"/>
              </a:ext>
            </a:extLst>
          </p:cNvPr>
          <p:cNvSpPr>
            <a:spLocks noGrp="1"/>
          </p:cNvSpPr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HK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r</a:t>
            </a:r>
            <a:r>
              <a:rPr sz="3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ecommendations</a:t>
            </a:r>
            <a:r>
              <a:rPr sz="3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remain reviewable drafts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118B4FF-AD4E-4EAA-B68D-F6CCD4030E48}"/>
              </a:ext>
            </a:extLst>
          </p:cNvPr>
          <p:cNvSpPr>
            <a:spLocks noGrp="1"/>
          </p:cNvSpPr>
          <p:nvPr/>
        </p:nvSpPr>
        <p:spPr>
          <a:xfrm>
            <a:off x="525780" y="1737360"/>
            <a:ext cx="5577840" cy="4114800"/>
          </a:xfrm>
          <a:prstGeom prst="roundRect">
            <a:avLst>
              <a:gd name="adj" fmla="val 2222"/>
            </a:avLst>
          </a:prstGeom>
          <a:solidFill>
            <a:srgbClr val="141B33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45D04F3-0103-4DE2-8393-254BEADF76DC}"/>
              </a:ext>
            </a:extLst>
          </p:cNvPr>
          <p:cNvSpPr>
            <a:spLocks noGrp="1"/>
          </p:cNvSpPr>
          <p:nvPr/>
        </p:nvSpPr>
        <p:spPr>
          <a:xfrm>
            <a:off x="822960" y="19202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HK" sz="1500" b="1" dirty="0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One reviewable recommendation package</a:t>
            </a:r>
            <a:endParaRPr sz="1500" b="1" dirty="0">
              <a:solidFill>
                <a:srgbClr val="2DD4B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F0D8B02-0131-4F94-A0BB-124743FC6FEA}"/>
              </a:ext>
            </a:extLst>
          </p:cNvPr>
          <p:cNvSpPr>
            <a:spLocks noGrp="1"/>
          </p:cNvSpPr>
          <p:nvPr/>
        </p:nvSpPr>
        <p:spPr>
          <a:xfrm>
            <a:off x="872387" y="244602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F43F5E"/>
          </a:solidFill>
        </p:spPr>
        <p:txBody>
          <a:bodyPr/>
          <a:lstStyle/>
          <a:p>
            <a:endParaRPr lang="en-HK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A360CF9-00BD-4FC4-A775-16D1A9E5198C}"/>
              </a:ext>
            </a:extLst>
          </p:cNvPr>
          <p:cNvSpPr>
            <a:spLocks noGrp="1"/>
          </p:cNvSpPr>
          <p:nvPr/>
        </p:nvSpPr>
        <p:spPr>
          <a:xfrm>
            <a:off x="822960" y="244602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 dirty="0">
                <a:solidFill>
                  <a:srgbClr val="0B0F1E"/>
                </a:solidFill>
                <a:latin typeface="Calibri"/>
                <a:ea typeface="Calibri"/>
                <a:cs typeface="Calibri"/>
              </a:rPr>
              <a:t>Evidence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F7D230F-1448-4382-AD89-3251478A6C49}"/>
              </a:ext>
            </a:extLst>
          </p:cNvPr>
          <p:cNvSpPr>
            <a:spLocks noGrp="1"/>
          </p:cNvSpPr>
          <p:nvPr/>
        </p:nvSpPr>
        <p:spPr>
          <a:xfrm>
            <a:off x="822960" y="283464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Verified sources · cited passages · affected graph path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03006D7-BED7-4C22-A4AB-44ECDFFCA240}"/>
              </a:ext>
            </a:extLst>
          </p:cNvPr>
          <p:cNvSpPr>
            <a:spLocks noGrp="1"/>
          </p:cNvSpPr>
          <p:nvPr/>
        </p:nvSpPr>
        <p:spPr>
          <a:xfrm>
            <a:off x="822959" y="3566160"/>
            <a:ext cx="2377441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</p:spPr>
        <p:txBody>
          <a:bodyPr/>
          <a:lstStyle/>
          <a:p>
            <a:endParaRPr lang="en-HK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370F5D8-D232-4ABC-A6FB-F39C3317D370}"/>
              </a:ext>
            </a:extLst>
          </p:cNvPr>
          <p:cNvSpPr>
            <a:spLocks noGrp="1"/>
          </p:cNvSpPr>
          <p:nvPr/>
        </p:nvSpPr>
        <p:spPr>
          <a:xfrm>
            <a:off x="822960" y="35661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HK" sz="1100" b="1" dirty="0"/>
              <a:t>AI-recommended mitigation strategies</a:t>
            </a:r>
            <a:endParaRPr sz="1100" b="1" dirty="0">
              <a:solidFill>
                <a:srgbClr val="0B0F1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083A2E9-6C24-4476-AFA2-6A5F8B34B068}"/>
              </a:ext>
            </a:extLst>
          </p:cNvPr>
          <p:cNvSpPr>
            <a:spLocks noGrp="1"/>
          </p:cNvSpPr>
          <p:nvPr/>
        </p:nvSpPr>
        <p:spPr>
          <a:xfrm>
            <a:off x="807720" y="390906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5000"/>
              </a:lnSpc>
            </a:pPr>
            <a:r>
              <a:rPr lang="en-US" sz="125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Proposed actions · projected impact · cost · </a:t>
            </a:r>
            <a:r>
              <a:rPr lang="en-US" sz="1250" dirty="0">
                <a:solidFill>
                  <a:srgbClr val="9FB0CC"/>
                </a:solidFill>
                <a:ea typeface="Calibri"/>
                <a:cs typeface="Calibri"/>
              </a:rPr>
              <a:t>recovery time · financial impact </a:t>
            </a:r>
            <a:endParaRPr sz="1250" dirty="0">
              <a:solidFill>
                <a:srgbClr val="9FB0C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6785B2A-A1A2-4A65-8770-FAEED87539CB}"/>
              </a:ext>
            </a:extLst>
          </p:cNvPr>
          <p:cNvSpPr>
            <a:spLocks noGrp="1"/>
          </p:cNvSpPr>
          <p:nvPr/>
        </p:nvSpPr>
        <p:spPr>
          <a:xfrm>
            <a:off x="822960" y="475488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2DD4BF"/>
          </a:solidFill>
        </p:spPr>
        <p:txBody>
          <a:bodyPr/>
          <a:lstStyle/>
          <a:p>
            <a:endParaRPr lang="en-HK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987921A-CC52-434F-B675-6B6A35623552}"/>
              </a:ext>
            </a:extLst>
          </p:cNvPr>
          <p:cNvSpPr>
            <a:spLocks noGrp="1"/>
          </p:cNvSpPr>
          <p:nvPr/>
        </p:nvSpPr>
        <p:spPr>
          <a:xfrm>
            <a:off x="822960" y="475488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HK" sz="1100" b="1" dirty="0"/>
              <a:t>Human review and decision</a:t>
            </a:r>
            <a:endParaRPr sz="1100" b="1" dirty="0">
              <a:solidFill>
                <a:srgbClr val="0B0F1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30FD4DC-94AB-4F9B-9517-8A5726D86014}"/>
              </a:ext>
            </a:extLst>
          </p:cNvPr>
          <p:cNvSpPr>
            <a:spLocks noGrp="1"/>
          </p:cNvSpPr>
          <p:nvPr/>
        </p:nvSpPr>
        <p:spPr>
          <a:xfrm>
            <a:off x="807720" y="502920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Named approver · edits · approval status · deadline · audit history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47A587FB-E31F-4B04-AD89-C541A5E99999}"/>
              </a:ext>
            </a:extLst>
          </p:cNvPr>
          <p:cNvSpPr>
            <a:spLocks noGrp="1"/>
          </p:cNvSpPr>
          <p:nvPr/>
        </p:nvSpPr>
        <p:spPr>
          <a:xfrm>
            <a:off x="6355080" y="1737360"/>
            <a:ext cx="5285232" cy="2606040"/>
          </a:xfrm>
          <a:prstGeom prst="roundRect">
            <a:avLst>
              <a:gd name="adj" fmla="val 3509"/>
            </a:avLst>
          </a:prstGeom>
          <a:solidFill>
            <a:srgbClr val="1B2444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BE2DC80-AC0E-4B8E-98A5-C5F42CF8FAD3}"/>
              </a:ext>
            </a:extLst>
          </p:cNvPr>
          <p:cNvSpPr>
            <a:spLocks noGrp="1"/>
          </p:cNvSpPr>
          <p:nvPr/>
        </p:nvSpPr>
        <p:spPr>
          <a:xfrm>
            <a:off x="6583680" y="187452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dirty="0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AI-drafted supplier request</a:t>
            </a:r>
            <a:r>
              <a:rPr lang="en-HK" sz="1300" b="1" dirty="0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 email</a:t>
            </a:r>
            <a:endParaRPr sz="1300" b="1" dirty="0">
              <a:solidFill>
                <a:srgbClr val="38BDF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9A78502-CAB4-45EF-9E8E-B004A3E5CDAD}"/>
              </a:ext>
            </a:extLst>
          </p:cNvPr>
          <p:cNvSpPr>
            <a:spLocks noGrp="1"/>
          </p:cNvSpPr>
          <p:nvPr/>
        </p:nvSpPr>
        <p:spPr>
          <a:xfrm>
            <a:off x="6583680" y="2240280"/>
            <a:ext cx="484632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20000"/>
              </a:lnSpc>
              <a:buNone/>
            </a:pPr>
            <a:r>
              <a:rPr sz="125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“Please confirm facility status, available capacity, revised lead time, allocation policy, and next update time for Purchase Order 1042.”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E0AD139-0C24-492B-961F-754652B2C73C}"/>
              </a:ext>
            </a:extLst>
          </p:cNvPr>
          <p:cNvSpPr>
            <a:spLocks noGrp="1"/>
          </p:cNvSpPr>
          <p:nvPr/>
        </p:nvSpPr>
        <p:spPr>
          <a:xfrm>
            <a:off x="6583680" y="365760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dirty="0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Supplier</a:t>
            </a:r>
            <a:r>
              <a:rPr lang="en-HK" sz="1100" dirty="0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/</a:t>
            </a:r>
            <a:r>
              <a:rPr sz="1100" dirty="0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customer</a:t>
            </a:r>
            <a:r>
              <a:rPr lang="en-HK" sz="1100" dirty="0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/</a:t>
            </a:r>
            <a:r>
              <a:rPr sz="1100" dirty="0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executive drafts remain editable and approval-gated.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88C9A9C-12D3-445A-85F5-4F10B6980DDA}"/>
              </a:ext>
            </a:extLst>
          </p:cNvPr>
          <p:cNvSpPr>
            <a:spLocks noGrp="1"/>
          </p:cNvSpPr>
          <p:nvPr/>
        </p:nvSpPr>
        <p:spPr>
          <a:xfrm>
            <a:off x="6355080" y="4526280"/>
            <a:ext cx="5285232" cy="1325880"/>
          </a:xfrm>
          <a:prstGeom prst="roundRect">
            <a:avLst>
              <a:gd name="adj" fmla="val 6897"/>
            </a:avLst>
          </a:prstGeom>
          <a:solidFill>
            <a:srgbClr val="141B33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25BC815-F727-44C1-8A0D-D881946F301D}"/>
              </a:ext>
            </a:extLst>
          </p:cNvPr>
          <p:cNvSpPr>
            <a:spLocks noGrp="1"/>
          </p:cNvSpPr>
          <p:nvPr/>
        </p:nvSpPr>
        <p:spPr>
          <a:xfrm>
            <a:off x="6629400" y="4526280"/>
            <a:ext cx="4754880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</a:pPr>
            <a:r>
              <a:rPr sz="1250" b="1" dirty="0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Policy gateway: Consequential actions require named authorization. MCP may expose typed tools, but authentication, validation,</a:t>
            </a:r>
            <a:r>
              <a:rPr lang="en-HK" sz="1250" b="1" dirty="0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 and</a:t>
            </a:r>
            <a:r>
              <a:rPr sz="1250" b="1" dirty="0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 approval remain </a:t>
            </a:r>
            <a:r>
              <a:rPr lang="en-HK" sz="1250" b="1" dirty="0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enterprise</a:t>
            </a:r>
            <a:r>
              <a:rPr sz="1250" b="1" dirty="0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 responsibilities.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CEA59C7-890E-4350-B072-C577D6F64114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Chainsilience AI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52F7925-3793-480E-BB90-7C1961866E12}"/>
              </a:ext>
            </a:extLst>
          </p:cNvPr>
          <p:cNvSpPr>
            <a:spLocks noGrp="1"/>
          </p:cNvSpPr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IDSOL 2026  ·  Action Governance</a:t>
            </a:r>
          </a:p>
        </p:txBody>
      </p:sp>
    </p:spTree>
    <p:extLst>
      <p:ext uri="{BB962C8B-B14F-4D97-AF65-F5344CB8AC3E}">
        <p14:creationId xmlns:p14="http://schemas.microsoft.com/office/powerpoint/2010/main" val="1712476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A679FD0-6A71-4E38-8BC9-BDD9AC0EEB72}"/>
              </a:ext>
            </a:extLst>
          </p:cNvPr>
          <p:cNvSpPr>
            <a:spLocks noGrp="1"/>
          </p:cNvSpPr>
          <p:nvPr/>
        </p:nvSpPr>
        <p:spPr>
          <a:xfrm>
            <a:off x="548640" y="45720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100" b="1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DECISION DASHBOARD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1A1E877-154C-4257-B1FD-1A1B515B4480}"/>
              </a:ext>
            </a:extLst>
          </p:cNvPr>
          <p:cNvSpPr>
            <a:spLocks noGrp="1"/>
          </p:cNvSpPr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Evidence, exposure, impact, and action share one view</a:t>
            </a:r>
          </a:p>
        </p:txBody>
      </p:sp>
      <p:graphicFrame>
        <p:nvGraphicFramePr>
          <p:cNvPr id="35" name="Chart 0"/>
          <p:cNvGraphicFramePr/>
          <p:nvPr>
            <p:extLst>
              <p:ext uri="{D42A27DB-BD31-4B8C-83A1-F6EECF244321}">
                <p14:modId xmlns:p14="http://schemas.microsoft.com/office/powerpoint/2010/main" val="2131509877"/>
              </p:ext>
            </p:extLst>
          </p:nvPr>
        </p:nvGraphicFramePr>
        <p:xfrm>
          <a:off x="457200" y="1965960"/>
          <a:ext cx="39319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>
            <a:extLst>
              <a:ext uri="{FF2B5EF4-FFF2-40B4-BE49-F238E27FC236}">
                <a16:creationId xmlns:a16="http://schemas.microsoft.com/office/drawing/2014/main" id="{F6EF8070-C974-42F8-90AD-943404348953}"/>
              </a:ext>
            </a:extLst>
          </p:cNvPr>
          <p:cNvSpPr>
            <a:spLocks noGrp="1"/>
          </p:cNvSpPr>
          <p:nvPr/>
        </p:nvSpPr>
        <p:spPr>
          <a:xfrm>
            <a:off x="4663439" y="1965960"/>
            <a:ext cx="7186939" cy="3703320"/>
          </a:xfrm>
          <a:prstGeom prst="roundRect">
            <a:avLst>
              <a:gd name="adj" fmla="val 2469"/>
            </a:avLst>
          </a:prstGeom>
          <a:solidFill>
            <a:srgbClr val="141B33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561F560-80D6-4F5D-BC50-A694A2EED31D}"/>
              </a:ext>
            </a:extLst>
          </p:cNvPr>
          <p:cNvSpPr>
            <a:spLocks noGrp="1"/>
          </p:cNvSpPr>
          <p:nvPr/>
        </p:nvSpPr>
        <p:spPr>
          <a:xfrm>
            <a:off x="4892040" y="21031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Top enterprise exposures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062A123-2B6C-4B2B-A242-946FA1F03001}"/>
              </a:ext>
            </a:extLst>
          </p:cNvPr>
          <p:cNvSpPr>
            <a:spLocks noGrp="1"/>
          </p:cNvSpPr>
          <p:nvPr/>
        </p:nvSpPr>
        <p:spPr>
          <a:xfrm>
            <a:off x="4892040" y="256032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 b="1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EVENT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8B85109-EF8E-406E-BC6E-C5B43514E708}"/>
              </a:ext>
            </a:extLst>
          </p:cNvPr>
          <p:cNvSpPr>
            <a:spLocks noGrp="1"/>
          </p:cNvSpPr>
          <p:nvPr/>
        </p:nvSpPr>
        <p:spPr>
          <a:xfrm>
            <a:off x="7315200" y="256032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 b="1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AFFECTED PATH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35ACC9-071F-4F6D-8E3E-4D8194269790}"/>
              </a:ext>
            </a:extLst>
          </p:cNvPr>
          <p:cNvSpPr>
            <a:spLocks noGrp="1"/>
          </p:cNvSpPr>
          <p:nvPr/>
        </p:nvSpPr>
        <p:spPr>
          <a:xfrm>
            <a:off x="9235440" y="25603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 b="1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TRIAGE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517D25D-A51D-4051-B08F-DF49ADCDA808}"/>
              </a:ext>
            </a:extLst>
          </p:cNvPr>
          <p:cNvSpPr>
            <a:spLocks noGrp="1"/>
          </p:cNvSpPr>
          <p:nvPr/>
        </p:nvSpPr>
        <p:spPr>
          <a:xfrm>
            <a:off x="10332720" y="25603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 b="1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IMPACT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177A0E2F-69E4-4F31-8A96-640C0E64FE42}"/>
              </a:ext>
            </a:extLst>
          </p:cNvPr>
          <p:cNvSpPr>
            <a:spLocks noGrp="1"/>
          </p:cNvSpPr>
          <p:nvPr/>
        </p:nvSpPr>
        <p:spPr>
          <a:xfrm>
            <a:off x="4892040" y="2894076"/>
            <a:ext cx="6657630" cy="658368"/>
          </a:xfrm>
          <a:prstGeom prst="roundRect">
            <a:avLst>
              <a:gd name="adj" fmla="val 13889"/>
            </a:avLst>
          </a:prstGeom>
          <a:solidFill>
            <a:srgbClr val="1B2444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1E45C3D-E51D-4915-A965-54D29D80ECB0}"/>
              </a:ext>
            </a:extLst>
          </p:cNvPr>
          <p:cNvSpPr>
            <a:spLocks noGrp="1"/>
          </p:cNvSpPr>
          <p:nvPr/>
        </p:nvSpPr>
        <p:spPr>
          <a:xfrm>
            <a:off x="5074920" y="2926080"/>
            <a:ext cx="228600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Taiwan earthquake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CBE92928-0E95-4FA9-91E3-D2812016D55D}"/>
              </a:ext>
            </a:extLst>
          </p:cNvPr>
          <p:cNvSpPr>
            <a:spLocks noGrp="1"/>
          </p:cNvSpPr>
          <p:nvPr/>
        </p:nvSpPr>
        <p:spPr>
          <a:xfrm>
            <a:off x="7315200" y="2926080"/>
            <a:ext cx="192024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Supplier A → chip → 7 orders</a:t>
            </a: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45DB7595-DCAC-4F3E-B8D0-88894A14E917}"/>
              </a:ext>
            </a:extLst>
          </p:cNvPr>
          <p:cNvSpPr>
            <a:spLocks noGrp="1"/>
          </p:cNvSpPr>
          <p:nvPr/>
        </p:nvSpPr>
        <p:spPr>
          <a:xfrm>
            <a:off x="9235440" y="3118104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43F5E"/>
          </a:solidFill>
        </p:spPr>
        <p:txBody>
          <a:bodyPr/>
          <a:lstStyle/>
          <a:p>
            <a:endParaRPr lang="en-HK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C1EB4AC7-2504-43EF-A795-BB0D57BECF81}"/>
              </a:ext>
            </a:extLst>
          </p:cNvPr>
          <p:cNvSpPr>
            <a:spLocks noGrp="1"/>
          </p:cNvSpPr>
          <p:nvPr/>
        </p:nvSpPr>
        <p:spPr>
          <a:xfrm>
            <a:off x="9235440" y="3118104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0B0F1E"/>
                </a:solidFill>
                <a:latin typeface="Calibri"/>
                <a:ea typeface="Calibri"/>
                <a:cs typeface="Calibri"/>
              </a:rPr>
              <a:t>Critical</a:t>
            </a: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78D7EA61-FD6E-4E58-8A54-C2E39E70AAB4}"/>
              </a:ext>
            </a:extLst>
          </p:cNvPr>
          <p:cNvSpPr>
            <a:spLocks noGrp="1"/>
          </p:cNvSpPr>
          <p:nvPr/>
        </p:nvSpPr>
        <p:spPr>
          <a:xfrm>
            <a:off x="10332720" y="2910078"/>
            <a:ext cx="118872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HK" sz="1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$600K revenue</a:t>
            </a:r>
            <a:r>
              <a:rPr lang="en-HK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HK" sz="1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at</a:t>
            </a:r>
            <a:r>
              <a:rPr lang="en-HK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HK" sz="1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risk</a:t>
            </a:r>
            <a:endParaRPr sz="1000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D17A3793-1241-44C0-BFDC-67D10B0E2C95}"/>
              </a:ext>
            </a:extLst>
          </p:cNvPr>
          <p:cNvSpPr>
            <a:spLocks noGrp="1"/>
          </p:cNvSpPr>
          <p:nvPr/>
        </p:nvSpPr>
        <p:spPr>
          <a:xfrm>
            <a:off x="4892040" y="3675888"/>
            <a:ext cx="6657630" cy="658368"/>
          </a:xfrm>
          <a:prstGeom prst="roundRect">
            <a:avLst>
              <a:gd name="adj" fmla="val 13889"/>
            </a:avLst>
          </a:prstGeom>
          <a:solidFill>
            <a:srgbClr val="1B2444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6FA770C1-C43C-4B34-9F9E-D605D013D7FC}"/>
              </a:ext>
            </a:extLst>
          </p:cNvPr>
          <p:cNvSpPr>
            <a:spLocks noGrp="1"/>
          </p:cNvSpPr>
          <p:nvPr/>
        </p:nvSpPr>
        <p:spPr>
          <a:xfrm>
            <a:off x="5074920" y="3675888"/>
            <a:ext cx="228600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Port congestion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413F23CD-6B38-48BA-8F43-6080F4C8A782}"/>
              </a:ext>
            </a:extLst>
          </p:cNvPr>
          <p:cNvSpPr>
            <a:spLocks noGrp="1"/>
          </p:cNvSpPr>
          <p:nvPr/>
        </p:nvSpPr>
        <p:spPr>
          <a:xfrm>
            <a:off x="7315200" y="3675888"/>
            <a:ext cx="192024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Shanghai–LA route</a:t>
            </a: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122D1BC3-1077-4EAC-B352-EE1735615058}"/>
              </a:ext>
            </a:extLst>
          </p:cNvPr>
          <p:cNvSpPr>
            <a:spLocks noGrp="1"/>
          </p:cNvSpPr>
          <p:nvPr/>
        </p:nvSpPr>
        <p:spPr>
          <a:xfrm>
            <a:off x="9235440" y="3867912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</p:spPr>
        <p:txBody>
          <a:bodyPr/>
          <a:lstStyle/>
          <a:p>
            <a:endParaRPr lang="en-HK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90B5B391-BBE2-4AD4-BFD4-150A7D38FA61}"/>
              </a:ext>
            </a:extLst>
          </p:cNvPr>
          <p:cNvSpPr>
            <a:spLocks noGrp="1"/>
          </p:cNvSpPr>
          <p:nvPr/>
        </p:nvSpPr>
        <p:spPr>
          <a:xfrm>
            <a:off x="9235440" y="3867912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0B0F1E"/>
                </a:solidFill>
                <a:latin typeface="Calibri"/>
                <a:ea typeface="Calibri"/>
                <a:cs typeface="Calibri"/>
              </a:rPr>
              <a:t>High</a:t>
            </a: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E98F8D10-A203-4F22-99A1-5ED8E8B34CBC}"/>
              </a:ext>
            </a:extLst>
          </p:cNvPr>
          <p:cNvSpPr>
            <a:spLocks noGrp="1"/>
          </p:cNvSpPr>
          <p:nvPr/>
        </p:nvSpPr>
        <p:spPr>
          <a:xfrm>
            <a:off x="10378440" y="3665409"/>
            <a:ext cx="105156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6-day delay</a:t>
            </a: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527CD7DF-2055-467E-A46C-546EBD81CF88}"/>
              </a:ext>
            </a:extLst>
          </p:cNvPr>
          <p:cNvSpPr>
            <a:spLocks noGrp="1"/>
          </p:cNvSpPr>
          <p:nvPr/>
        </p:nvSpPr>
        <p:spPr>
          <a:xfrm>
            <a:off x="4892040" y="4425696"/>
            <a:ext cx="6657630" cy="658368"/>
          </a:xfrm>
          <a:prstGeom prst="roundRect">
            <a:avLst>
              <a:gd name="adj" fmla="val 13889"/>
            </a:avLst>
          </a:prstGeom>
          <a:solidFill>
            <a:srgbClr val="1B2444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D1288EF1-E396-4023-95D6-6635835BE40C}"/>
              </a:ext>
            </a:extLst>
          </p:cNvPr>
          <p:cNvSpPr>
            <a:spLocks noGrp="1"/>
          </p:cNvSpPr>
          <p:nvPr/>
        </p:nvSpPr>
        <p:spPr>
          <a:xfrm>
            <a:off x="5074920" y="4425696"/>
            <a:ext cx="228600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Export restriction</a:t>
            </a: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F05F32F2-6598-45E3-B53D-EBBF6555E359}"/>
              </a:ext>
            </a:extLst>
          </p:cNvPr>
          <p:cNvSpPr>
            <a:spLocks noGrp="1"/>
          </p:cNvSpPr>
          <p:nvPr/>
        </p:nvSpPr>
        <p:spPr>
          <a:xfrm>
            <a:off x="7315200" y="4425696"/>
            <a:ext cx="192024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Rare-earth supplier</a:t>
            </a:r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5CA5B47A-081B-4301-A661-75D1B90FF502}"/>
              </a:ext>
            </a:extLst>
          </p:cNvPr>
          <p:cNvSpPr>
            <a:spLocks noGrp="1"/>
          </p:cNvSpPr>
          <p:nvPr/>
        </p:nvSpPr>
        <p:spPr>
          <a:xfrm>
            <a:off x="9235440" y="46177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</p:spPr>
        <p:txBody>
          <a:bodyPr/>
          <a:lstStyle/>
          <a:p>
            <a:endParaRPr lang="en-HK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BC757B2D-D105-476C-80BF-6EC8E5F39A9A}"/>
              </a:ext>
            </a:extLst>
          </p:cNvPr>
          <p:cNvSpPr>
            <a:spLocks noGrp="1"/>
          </p:cNvSpPr>
          <p:nvPr/>
        </p:nvSpPr>
        <p:spPr>
          <a:xfrm>
            <a:off x="9235440" y="4617720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0B0F1E"/>
                </a:solidFill>
                <a:latin typeface="Calibri"/>
                <a:ea typeface="Calibri"/>
                <a:cs typeface="Calibri"/>
              </a:rPr>
              <a:t>High</a:t>
            </a:r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18C404BD-D6E8-4FB4-BA97-C1591639AFB4}"/>
              </a:ext>
            </a:extLst>
          </p:cNvPr>
          <p:cNvSpPr>
            <a:spLocks noGrp="1"/>
          </p:cNvSpPr>
          <p:nvPr/>
        </p:nvSpPr>
        <p:spPr>
          <a:xfrm>
            <a:off x="10378440" y="4440747"/>
            <a:ext cx="105156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+18% cost</a:t>
            </a: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68B5AC2C-DF33-4032-8BF4-5B5161D2E223}"/>
              </a:ext>
            </a:extLst>
          </p:cNvPr>
          <p:cNvSpPr>
            <a:spLocks noGrp="1"/>
          </p:cNvSpPr>
          <p:nvPr/>
        </p:nvSpPr>
        <p:spPr>
          <a:xfrm>
            <a:off x="4892040" y="5257800"/>
            <a:ext cx="64922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Each alert separates the no-action baseline, projected mitigated outcome, and realized outcome—and links every figure to evidence and the twin snapshot.</a:t>
            </a:r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3CA1237E-422A-42AB-8F1D-56E1B8B5C6D8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Chainsilience AI</a:t>
            </a:r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A2299E7F-5672-426B-9FAB-C15F5FED319F}"/>
              </a:ext>
            </a:extLst>
          </p:cNvPr>
          <p:cNvSpPr>
            <a:spLocks noGrp="1"/>
          </p:cNvSpPr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IDSOL 2026  ·  Decision Dashboard</a:t>
            </a:r>
          </a:p>
        </p:txBody>
      </p:sp>
    </p:spTree>
    <p:extLst>
      <p:ext uri="{BB962C8B-B14F-4D97-AF65-F5344CB8AC3E}">
        <p14:creationId xmlns:p14="http://schemas.microsoft.com/office/powerpoint/2010/main" val="270943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3DFC13E-7BAA-469D-884C-AC6FAB0734CE}"/>
              </a:ext>
            </a:extLst>
          </p:cNvPr>
          <p:cNvSpPr>
            <a:spLocks noGrp="1"/>
          </p:cNvSpPr>
          <p:nvPr/>
        </p:nvSpPr>
        <p:spPr>
          <a:xfrm>
            <a:off x="548640" y="45720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100" b="1" dirty="0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ILLUSTRATIVE REPLAY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8EFF3F2-86A3-4964-BC78-26EF658DDF6A}"/>
              </a:ext>
            </a:extLst>
          </p:cNvPr>
          <p:cNvSpPr>
            <a:spLocks noGrp="1"/>
          </p:cNvSpPr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HK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Case Study: </a:t>
            </a:r>
            <a:r>
              <a:rPr sz="3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Taiwan earthquake</a:t>
            </a:r>
            <a:r>
              <a:rPr lang="en-HK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’s </a:t>
            </a:r>
            <a:r>
              <a:rPr sz="3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evidence to decision</a:t>
            </a:r>
            <a:r>
              <a:rPr lang="en-HK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flow</a:t>
            </a:r>
            <a:endParaRPr sz="3200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644EC99-2253-44CD-AD8F-22897D4DD757}"/>
              </a:ext>
            </a:extLst>
          </p:cNvPr>
          <p:cNvSpPr>
            <a:spLocks noGrp="1"/>
          </p:cNvSpPr>
          <p:nvPr/>
        </p:nvSpPr>
        <p:spPr>
          <a:xfrm>
            <a:off x="640080" y="1783080"/>
            <a:ext cx="548640" cy="548640"/>
          </a:xfrm>
          <a:prstGeom prst="ellipse">
            <a:avLst/>
          </a:prstGeom>
          <a:solidFill>
            <a:srgbClr val="2DD4BF"/>
          </a:solidFill>
        </p:spPr>
        <p:txBody>
          <a:bodyPr/>
          <a:lstStyle/>
          <a:p>
            <a:endParaRPr lang="en-HK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487222B-F62F-4CC2-B179-95FF5B4057EE}"/>
              </a:ext>
            </a:extLst>
          </p:cNvPr>
          <p:cNvSpPr>
            <a:spLocks noGrp="1"/>
          </p:cNvSpPr>
          <p:nvPr/>
        </p:nvSpPr>
        <p:spPr>
          <a:xfrm>
            <a:off x="640080" y="17830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0B0F1E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42C3EE4-98E6-4B76-880C-4493C55BEAC6}"/>
              </a:ext>
            </a:extLst>
          </p:cNvPr>
          <p:cNvSpPr>
            <a:spLocks noGrp="1"/>
          </p:cNvSpPr>
          <p:nvPr/>
        </p:nvSpPr>
        <p:spPr>
          <a:xfrm>
            <a:off x="1371600" y="1764792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Dated event collected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462DAD9-EF58-4939-B1C1-63B1769DA953}"/>
              </a:ext>
            </a:extLst>
          </p:cNvPr>
          <p:cNvSpPr>
            <a:spLocks noGrp="1"/>
          </p:cNvSpPr>
          <p:nvPr/>
        </p:nvSpPr>
        <p:spPr>
          <a:xfrm>
            <a:off x="1371600" y="2167128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i="1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M7.4 source record retained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2E2DE41-6E41-4CE6-8F36-CE7936E6E8C0}"/>
              </a:ext>
            </a:extLst>
          </p:cNvPr>
          <p:cNvSpPr>
            <a:spLocks noGrp="1"/>
          </p:cNvSpPr>
          <p:nvPr/>
        </p:nvSpPr>
        <p:spPr>
          <a:xfrm>
            <a:off x="914400" y="2350008"/>
            <a:ext cx="0" cy="502920"/>
          </a:xfrm>
          <a:prstGeom prst="line">
            <a:avLst/>
          </a:prstGeom>
          <a:noFill/>
          <a:ln w="19050">
            <a:solidFill>
              <a:srgbClr val="202C52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86DBA12-87F4-4AD1-9C2C-EDC2B20503FF}"/>
              </a:ext>
            </a:extLst>
          </p:cNvPr>
          <p:cNvSpPr>
            <a:spLocks noGrp="1"/>
          </p:cNvSpPr>
          <p:nvPr/>
        </p:nvSpPr>
        <p:spPr>
          <a:xfrm>
            <a:off x="640080" y="2862072"/>
            <a:ext cx="548640" cy="548640"/>
          </a:xfrm>
          <a:prstGeom prst="ellipse">
            <a:avLst/>
          </a:prstGeom>
          <a:solidFill>
            <a:srgbClr val="38BDF8"/>
          </a:solidFill>
        </p:spPr>
        <p:txBody>
          <a:bodyPr/>
          <a:lstStyle/>
          <a:p>
            <a:endParaRPr lang="en-HK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03A8B91-87B3-429C-860F-4AFEC74A4945}"/>
              </a:ext>
            </a:extLst>
          </p:cNvPr>
          <p:cNvSpPr>
            <a:spLocks noGrp="1"/>
          </p:cNvSpPr>
          <p:nvPr/>
        </p:nvSpPr>
        <p:spPr>
          <a:xfrm>
            <a:off x="640080" y="286207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0B0F1E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A2688E5-0468-4B11-8B30-06FD4E85E0E4}"/>
              </a:ext>
            </a:extLst>
          </p:cNvPr>
          <p:cNvSpPr>
            <a:spLocks noGrp="1"/>
          </p:cNvSpPr>
          <p:nvPr/>
        </p:nvSpPr>
        <p:spPr>
          <a:xfrm>
            <a:off x="1371600" y="2843784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Relevance + verification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E1F3E0E-A0F2-4707-9FC8-BEA6A56FF714}"/>
              </a:ext>
            </a:extLst>
          </p:cNvPr>
          <p:cNvSpPr>
            <a:spLocks noGrp="1"/>
          </p:cNvSpPr>
          <p:nvPr/>
        </p:nvSpPr>
        <p:spPr>
          <a:xfrm>
            <a:off x="1371600" y="324612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i="1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claims cross-checked and cited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4082227-0E95-4EC8-A59B-074A8886AA4F}"/>
              </a:ext>
            </a:extLst>
          </p:cNvPr>
          <p:cNvSpPr>
            <a:spLocks noGrp="1"/>
          </p:cNvSpPr>
          <p:nvPr/>
        </p:nvSpPr>
        <p:spPr>
          <a:xfrm>
            <a:off x="914400" y="3429000"/>
            <a:ext cx="0" cy="502920"/>
          </a:xfrm>
          <a:prstGeom prst="line">
            <a:avLst/>
          </a:prstGeom>
          <a:noFill/>
          <a:ln w="19050">
            <a:solidFill>
              <a:srgbClr val="202C52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F74F581-4694-4F1C-9722-67FEF04648DD}"/>
              </a:ext>
            </a:extLst>
          </p:cNvPr>
          <p:cNvSpPr>
            <a:spLocks noGrp="1"/>
          </p:cNvSpPr>
          <p:nvPr/>
        </p:nvSpPr>
        <p:spPr>
          <a:xfrm>
            <a:off x="640080" y="3941064"/>
            <a:ext cx="548640" cy="548640"/>
          </a:xfrm>
          <a:prstGeom prst="ellipse">
            <a:avLst/>
          </a:prstGeom>
          <a:solidFill>
            <a:srgbClr val="34D399"/>
          </a:solidFill>
        </p:spPr>
        <p:txBody>
          <a:bodyPr/>
          <a:lstStyle/>
          <a:p>
            <a:endParaRPr lang="en-HK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B3846D2-22F4-46FA-9F7D-77642C2CE959}"/>
              </a:ext>
            </a:extLst>
          </p:cNvPr>
          <p:cNvSpPr>
            <a:spLocks noGrp="1"/>
          </p:cNvSpPr>
          <p:nvPr/>
        </p:nvSpPr>
        <p:spPr>
          <a:xfrm>
            <a:off x="640080" y="3941064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0B0F1E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B8955BA-0D1B-469F-9A51-528EFBEDB5C1}"/>
              </a:ext>
            </a:extLst>
          </p:cNvPr>
          <p:cNvSpPr>
            <a:spLocks noGrp="1"/>
          </p:cNvSpPr>
          <p:nvPr/>
        </p:nvSpPr>
        <p:spPr>
          <a:xfrm>
            <a:off x="1371600" y="3922776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Affected path mapped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5B7E181-6A26-497E-958D-622012B8AF58}"/>
              </a:ext>
            </a:extLst>
          </p:cNvPr>
          <p:cNvSpPr>
            <a:spLocks noGrp="1"/>
          </p:cNvSpPr>
          <p:nvPr/>
        </p:nvSpPr>
        <p:spPr>
          <a:xfrm>
            <a:off x="1371600" y="4325112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i="1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event → site → supplier → chip → orders</a:t>
            </a: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42E8E66-63E8-40AC-99B8-81FBCA7F1F4D}"/>
              </a:ext>
            </a:extLst>
          </p:cNvPr>
          <p:cNvSpPr>
            <a:spLocks noGrp="1"/>
          </p:cNvSpPr>
          <p:nvPr/>
        </p:nvSpPr>
        <p:spPr>
          <a:xfrm>
            <a:off x="914400" y="4507992"/>
            <a:ext cx="0" cy="502920"/>
          </a:xfrm>
          <a:prstGeom prst="line">
            <a:avLst/>
          </a:prstGeom>
          <a:noFill/>
          <a:ln w="19050">
            <a:solidFill>
              <a:srgbClr val="202C52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00B6B1B-9D7B-4ACF-855A-C03B9FFDBF1C}"/>
              </a:ext>
            </a:extLst>
          </p:cNvPr>
          <p:cNvSpPr>
            <a:spLocks noGrp="1"/>
          </p:cNvSpPr>
          <p:nvPr/>
        </p:nvSpPr>
        <p:spPr>
          <a:xfrm>
            <a:off x="640080" y="5020056"/>
            <a:ext cx="548640" cy="548640"/>
          </a:xfrm>
          <a:prstGeom prst="ellipse">
            <a:avLst/>
          </a:prstGeom>
          <a:solidFill>
            <a:srgbClr val="F59E0B"/>
          </a:solidFill>
        </p:spPr>
        <p:txBody>
          <a:bodyPr/>
          <a:lstStyle/>
          <a:p>
            <a:endParaRPr lang="en-HK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3305F5F-69B8-469C-A9C5-50DBBDE6D51C}"/>
              </a:ext>
            </a:extLst>
          </p:cNvPr>
          <p:cNvSpPr>
            <a:spLocks noGrp="1"/>
          </p:cNvSpPr>
          <p:nvPr/>
        </p:nvSpPr>
        <p:spPr>
          <a:xfrm>
            <a:off x="640080" y="5020056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0B0F1E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1029365-3121-4498-92E6-884425A9552C}"/>
              </a:ext>
            </a:extLst>
          </p:cNvPr>
          <p:cNvSpPr>
            <a:spLocks noGrp="1"/>
          </p:cNvSpPr>
          <p:nvPr/>
        </p:nvSpPr>
        <p:spPr>
          <a:xfrm>
            <a:off x="1371600" y="5001768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HK" sz="14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Digital </a:t>
            </a:r>
            <a:r>
              <a:rPr sz="14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Twin snapshot simulated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374BF46-692F-4C97-B68C-CC7B8208126F}"/>
              </a:ext>
            </a:extLst>
          </p:cNvPr>
          <p:cNvSpPr>
            <a:spLocks noGrp="1"/>
          </p:cNvSpPr>
          <p:nvPr/>
        </p:nvSpPr>
        <p:spPr>
          <a:xfrm>
            <a:off x="1371600" y="5404104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i="1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12 DOC · baseline shortage day 13</a:t>
            </a: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B9C83AC0-807A-4B2C-A828-6619B1216D33}"/>
              </a:ext>
            </a:extLst>
          </p:cNvPr>
          <p:cNvSpPr>
            <a:spLocks noGrp="1"/>
          </p:cNvSpPr>
          <p:nvPr/>
        </p:nvSpPr>
        <p:spPr>
          <a:xfrm>
            <a:off x="6309360" y="1783080"/>
            <a:ext cx="548640" cy="548640"/>
          </a:xfrm>
          <a:prstGeom prst="ellipse">
            <a:avLst/>
          </a:prstGeom>
          <a:solidFill>
            <a:srgbClr val="F43F5E"/>
          </a:solidFill>
        </p:spPr>
        <p:txBody>
          <a:bodyPr/>
          <a:lstStyle/>
          <a:p>
            <a:endParaRPr lang="en-HK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82E5255-95AD-4A08-BEBB-DD9FE6C619F6}"/>
              </a:ext>
            </a:extLst>
          </p:cNvPr>
          <p:cNvSpPr>
            <a:spLocks noGrp="1"/>
          </p:cNvSpPr>
          <p:nvPr/>
        </p:nvSpPr>
        <p:spPr>
          <a:xfrm>
            <a:off x="6309360" y="17830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0B0F1E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39F32EE-015B-4367-B135-8DE31748ADB2}"/>
              </a:ext>
            </a:extLst>
          </p:cNvPr>
          <p:cNvSpPr>
            <a:spLocks noGrp="1"/>
          </p:cNvSpPr>
          <p:nvPr/>
        </p:nvSpPr>
        <p:spPr>
          <a:xfrm>
            <a:off x="7040880" y="1764792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Options grounded by RAG</a:t>
            </a: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D20A4B2-8C84-433F-80BD-64973E8443DF}"/>
              </a:ext>
            </a:extLst>
          </p:cNvPr>
          <p:cNvSpPr>
            <a:spLocks noGrp="1"/>
          </p:cNvSpPr>
          <p:nvPr/>
        </p:nvSpPr>
        <p:spPr>
          <a:xfrm>
            <a:off x="7040880" y="2167128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HK" sz="1150" i="1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Switching 25% to supplier B from Vietnam</a:t>
            </a:r>
            <a:r>
              <a:rPr sz="1150" i="1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HK" sz="1150" i="1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Air Freight, etc.</a:t>
            </a:r>
            <a:endParaRPr sz="1150" i="1" dirty="0">
              <a:solidFill>
                <a:srgbClr val="9FB0C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620B4B75-581C-4F27-97B7-10B33B1B92AF}"/>
              </a:ext>
            </a:extLst>
          </p:cNvPr>
          <p:cNvSpPr>
            <a:spLocks noGrp="1"/>
          </p:cNvSpPr>
          <p:nvPr/>
        </p:nvSpPr>
        <p:spPr>
          <a:xfrm>
            <a:off x="6583680" y="2350008"/>
            <a:ext cx="0" cy="502920"/>
          </a:xfrm>
          <a:prstGeom prst="line">
            <a:avLst/>
          </a:prstGeom>
          <a:noFill/>
          <a:ln w="19050">
            <a:solidFill>
              <a:srgbClr val="202C52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7C01B225-DB87-48EB-BA28-970233055720}"/>
              </a:ext>
            </a:extLst>
          </p:cNvPr>
          <p:cNvSpPr>
            <a:spLocks noGrp="1"/>
          </p:cNvSpPr>
          <p:nvPr/>
        </p:nvSpPr>
        <p:spPr>
          <a:xfrm>
            <a:off x="6309360" y="2862072"/>
            <a:ext cx="548640" cy="548640"/>
          </a:xfrm>
          <a:prstGeom prst="ellipse">
            <a:avLst/>
          </a:prstGeom>
          <a:solidFill>
            <a:srgbClr val="2DD4BF"/>
          </a:solidFill>
        </p:spPr>
        <p:txBody>
          <a:bodyPr/>
          <a:lstStyle/>
          <a:p>
            <a:endParaRPr lang="en-HK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71BB8BEC-FFDE-4BAC-9AC7-E7782BB886EE}"/>
              </a:ext>
            </a:extLst>
          </p:cNvPr>
          <p:cNvSpPr>
            <a:spLocks noGrp="1"/>
          </p:cNvSpPr>
          <p:nvPr/>
        </p:nvSpPr>
        <p:spPr>
          <a:xfrm>
            <a:off x="6309360" y="286207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0B0F1E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B1FD7ED3-5CA4-4FBB-86BA-8E7296BA3E3D}"/>
              </a:ext>
            </a:extLst>
          </p:cNvPr>
          <p:cNvSpPr>
            <a:spLocks noGrp="1"/>
          </p:cNvSpPr>
          <p:nvPr/>
        </p:nvSpPr>
        <p:spPr>
          <a:xfrm>
            <a:off x="7040880" y="2843784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Trade-offs validated</a:t>
            </a: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FF6636AC-419B-4219-A09F-E635B668A6A9}"/>
              </a:ext>
            </a:extLst>
          </p:cNvPr>
          <p:cNvSpPr>
            <a:spLocks noGrp="1"/>
          </p:cNvSpPr>
          <p:nvPr/>
        </p:nvSpPr>
        <p:spPr>
          <a:xfrm>
            <a:off x="7040880" y="324612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HK" sz="1150" i="1" dirty="0">
                <a:solidFill>
                  <a:srgbClr val="9FB0CC"/>
                </a:solidFill>
                <a:ea typeface="Calibri"/>
                <a:cs typeface="Calibri"/>
              </a:rPr>
              <a:t> recovery time = 1 week</a:t>
            </a:r>
            <a:r>
              <a:rPr sz="1150" i="1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 · cost</a:t>
            </a:r>
            <a:r>
              <a:rPr lang="en-HK" sz="1150" i="1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 = $180K</a:t>
            </a:r>
            <a:r>
              <a:rPr sz="1150" i="1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 · r</a:t>
            </a:r>
            <a:r>
              <a:rPr lang="en-HK" sz="1150" i="1" dirty="0" err="1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isk</a:t>
            </a:r>
            <a:r>
              <a:rPr lang="en-HK" sz="1150" i="1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 reduced = 64% </a:t>
            </a:r>
            <a:endParaRPr sz="1150" i="1" dirty="0">
              <a:solidFill>
                <a:srgbClr val="9FB0C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E4DC2C83-AE73-46DE-A652-141F5BC4E14B}"/>
              </a:ext>
            </a:extLst>
          </p:cNvPr>
          <p:cNvSpPr>
            <a:spLocks noGrp="1"/>
          </p:cNvSpPr>
          <p:nvPr/>
        </p:nvSpPr>
        <p:spPr>
          <a:xfrm>
            <a:off x="6583680" y="3429000"/>
            <a:ext cx="0" cy="502920"/>
          </a:xfrm>
          <a:prstGeom prst="line">
            <a:avLst/>
          </a:prstGeom>
          <a:noFill/>
          <a:ln w="19050">
            <a:solidFill>
              <a:srgbClr val="202C52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C19A81C1-E5A2-4269-836C-4BA2E5A5258D}"/>
              </a:ext>
            </a:extLst>
          </p:cNvPr>
          <p:cNvSpPr>
            <a:spLocks noGrp="1"/>
          </p:cNvSpPr>
          <p:nvPr/>
        </p:nvSpPr>
        <p:spPr>
          <a:xfrm>
            <a:off x="6309360" y="3941064"/>
            <a:ext cx="548640" cy="548640"/>
          </a:xfrm>
          <a:prstGeom prst="ellipse">
            <a:avLst/>
          </a:prstGeom>
          <a:solidFill>
            <a:srgbClr val="38BDF8"/>
          </a:solidFill>
        </p:spPr>
        <p:txBody>
          <a:bodyPr/>
          <a:lstStyle/>
          <a:p>
            <a:endParaRPr lang="en-HK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5E8B37B5-717D-4B07-A9E9-6C7DCD6B16CE}"/>
              </a:ext>
            </a:extLst>
          </p:cNvPr>
          <p:cNvSpPr>
            <a:spLocks noGrp="1"/>
          </p:cNvSpPr>
          <p:nvPr/>
        </p:nvSpPr>
        <p:spPr>
          <a:xfrm>
            <a:off x="6309360" y="3941064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0B0F1E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72DEF648-D6E8-490F-B88A-FEF31637C74A}"/>
              </a:ext>
            </a:extLst>
          </p:cNvPr>
          <p:cNvSpPr>
            <a:spLocks noGrp="1"/>
          </p:cNvSpPr>
          <p:nvPr/>
        </p:nvSpPr>
        <p:spPr>
          <a:xfrm>
            <a:off x="7040880" y="3922776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Decision recorded</a:t>
            </a: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C2FE88E7-AF4D-4212-A01B-6286FFDFE1DC}"/>
              </a:ext>
            </a:extLst>
          </p:cNvPr>
          <p:cNvSpPr>
            <a:spLocks noGrp="1"/>
          </p:cNvSpPr>
          <p:nvPr/>
        </p:nvSpPr>
        <p:spPr>
          <a:xfrm>
            <a:off x="7040880" y="4325112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i="1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human approval and </a:t>
            </a:r>
            <a:r>
              <a:rPr lang="en-HK" sz="1150" i="1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drafts email to the Vietnam supplier and USA customers</a:t>
            </a:r>
            <a:endParaRPr sz="1150" i="1" dirty="0">
              <a:solidFill>
                <a:srgbClr val="9FB0C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F9AC4784-6955-44C2-9290-4A7781563723}"/>
              </a:ext>
            </a:extLst>
          </p:cNvPr>
          <p:cNvSpPr>
            <a:spLocks noGrp="1"/>
          </p:cNvSpPr>
          <p:nvPr/>
        </p:nvSpPr>
        <p:spPr>
          <a:xfrm>
            <a:off x="6583680" y="4507992"/>
            <a:ext cx="0" cy="502920"/>
          </a:xfrm>
          <a:prstGeom prst="line">
            <a:avLst/>
          </a:prstGeom>
          <a:noFill/>
          <a:ln w="19050">
            <a:solidFill>
              <a:srgbClr val="202C52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0C9DD7FC-7539-473C-8299-E1EFDBB5FB0C}"/>
              </a:ext>
            </a:extLst>
          </p:cNvPr>
          <p:cNvSpPr>
            <a:spLocks noGrp="1"/>
          </p:cNvSpPr>
          <p:nvPr/>
        </p:nvSpPr>
        <p:spPr>
          <a:xfrm>
            <a:off x="6309360" y="5257800"/>
            <a:ext cx="539496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</a:pPr>
            <a:r>
              <a:rPr sz="1500" b="1" i="1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Design-test inputs are illustrative; earthquake evidence is historical and source-linked.</a:t>
            </a: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D3657138-B03E-40CA-89C6-99AFA7F1673B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Chainsilience AI</a:t>
            </a: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1134D98A-9F20-497F-84C3-964553850A35}"/>
              </a:ext>
            </a:extLst>
          </p:cNvPr>
          <p:cNvSpPr>
            <a:spLocks noGrp="1"/>
          </p:cNvSpPr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IDSOL 2026  ·  Illustrative Replay</a:t>
            </a:r>
          </a:p>
        </p:txBody>
      </p:sp>
    </p:spTree>
    <p:extLst>
      <p:ext uri="{BB962C8B-B14F-4D97-AF65-F5344CB8AC3E}">
        <p14:creationId xmlns:p14="http://schemas.microsoft.com/office/powerpoint/2010/main" val="301117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56C33EA-24B6-442D-8B91-582C20FE97C0}"/>
              </a:ext>
            </a:extLst>
          </p:cNvPr>
          <p:cNvSpPr>
            <a:spLocks noGrp="1"/>
          </p:cNvSpPr>
          <p:nvPr/>
        </p:nvSpPr>
        <p:spPr>
          <a:xfrm>
            <a:off x="548640" y="45720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100" b="1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PILOT &amp; VALUE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DEB06DB-D536-40B6-8BD1-FAA34733CBDB}"/>
              </a:ext>
            </a:extLst>
          </p:cNvPr>
          <p:cNvSpPr>
            <a:spLocks noGrp="1"/>
          </p:cNvSpPr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Claims are designed to be tested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AA04209-1D9B-4AB3-9911-05EFD74F259F}"/>
              </a:ext>
            </a:extLst>
          </p:cNvPr>
          <p:cNvSpPr>
            <a:spLocks noGrp="1"/>
          </p:cNvSpPr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Pilot acceptance criteria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0D6E5E1-6E46-4653-8E92-27C4CF9F51B7}"/>
              </a:ext>
            </a:extLst>
          </p:cNvPr>
          <p:cNvSpPr>
            <a:spLocks noGrp="1"/>
          </p:cNvSpPr>
          <p:nvPr/>
        </p:nvSpPr>
        <p:spPr>
          <a:xfrm>
            <a:off x="594360" y="2258568"/>
            <a:ext cx="201168" cy="201168"/>
          </a:xfrm>
          <a:prstGeom prst="ellipse">
            <a:avLst/>
          </a:prstGeom>
          <a:solidFill>
            <a:srgbClr val="2DD4BF"/>
          </a:solidFill>
        </p:spPr>
        <p:txBody>
          <a:bodyPr/>
          <a:lstStyle/>
          <a:p>
            <a:endParaRPr lang="en-HK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46F8181-703E-45A1-B3E0-69D14FF24B0C}"/>
              </a:ext>
            </a:extLst>
          </p:cNvPr>
          <p:cNvSpPr>
            <a:spLocks noGrp="1"/>
          </p:cNvSpPr>
          <p:nvPr/>
        </p:nvSpPr>
        <p:spPr>
          <a:xfrm>
            <a:off x="960120" y="2148840"/>
            <a:ext cx="507492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0000"/>
              </a:lnSpc>
              <a:buNone/>
            </a:pPr>
            <a:r>
              <a:rPr sz="135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Detection: ≥</a:t>
            </a:r>
            <a:r>
              <a:rPr lang="en-HK" sz="135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 85%</a:t>
            </a:r>
            <a:r>
              <a:rPr sz="135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HK" sz="135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of disruptions</a:t>
            </a:r>
            <a:r>
              <a:rPr sz="135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 within 24 hours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90F17AA-D652-46A3-993E-9844392B6029}"/>
              </a:ext>
            </a:extLst>
          </p:cNvPr>
          <p:cNvSpPr>
            <a:spLocks noGrp="1"/>
          </p:cNvSpPr>
          <p:nvPr/>
        </p:nvSpPr>
        <p:spPr>
          <a:xfrm>
            <a:off x="594360" y="3008376"/>
            <a:ext cx="201168" cy="201168"/>
          </a:xfrm>
          <a:prstGeom prst="ellipse">
            <a:avLst/>
          </a:prstGeom>
          <a:solidFill>
            <a:srgbClr val="2DD4BF"/>
          </a:solidFill>
        </p:spPr>
        <p:txBody>
          <a:bodyPr/>
          <a:lstStyle/>
          <a:p>
            <a:endParaRPr lang="en-HK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BD61C37-2DCC-483E-9C8D-E2B86AE59D04}"/>
              </a:ext>
            </a:extLst>
          </p:cNvPr>
          <p:cNvSpPr>
            <a:spLocks noGrp="1"/>
          </p:cNvSpPr>
          <p:nvPr/>
        </p:nvSpPr>
        <p:spPr>
          <a:xfrm>
            <a:off x="960120" y="2898648"/>
            <a:ext cx="507492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0000"/>
              </a:lnSpc>
              <a:buNone/>
            </a:pPr>
            <a:r>
              <a:rPr sz="135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Verification: &lt;2% unsupported claims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C8B494F-D6E2-4878-9CE9-AF38202B19F6}"/>
              </a:ext>
            </a:extLst>
          </p:cNvPr>
          <p:cNvSpPr>
            <a:spLocks noGrp="1"/>
          </p:cNvSpPr>
          <p:nvPr/>
        </p:nvSpPr>
        <p:spPr>
          <a:xfrm>
            <a:off x="594360" y="3758184"/>
            <a:ext cx="201168" cy="201168"/>
          </a:xfrm>
          <a:prstGeom prst="ellipse">
            <a:avLst/>
          </a:prstGeom>
          <a:solidFill>
            <a:srgbClr val="2DD4BF"/>
          </a:solidFill>
        </p:spPr>
        <p:txBody>
          <a:bodyPr/>
          <a:lstStyle/>
          <a:p>
            <a:endParaRPr lang="en-HK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426C5AF-F2F2-4010-A4D8-FD3257D066DA}"/>
              </a:ext>
            </a:extLst>
          </p:cNvPr>
          <p:cNvSpPr>
            <a:spLocks noGrp="1"/>
          </p:cNvSpPr>
          <p:nvPr/>
        </p:nvSpPr>
        <p:spPr>
          <a:xfrm>
            <a:off x="960120" y="3648456"/>
            <a:ext cx="507492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0000"/>
              </a:lnSpc>
              <a:buNone/>
            </a:pPr>
            <a:r>
              <a:rPr sz="135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Mapping: ≥</a:t>
            </a:r>
            <a:r>
              <a:rPr lang="en-HK" sz="135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 80% correct </a:t>
            </a:r>
            <a:r>
              <a:rPr sz="135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affected </a:t>
            </a:r>
            <a:r>
              <a:rPr lang="en-HK" sz="135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supply chain </a:t>
            </a:r>
            <a:r>
              <a:rPr sz="135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paths</a:t>
            </a:r>
            <a:r>
              <a:rPr lang="en-HK" sz="135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 connected to disruption</a:t>
            </a:r>
            <a:endParaRPr sz="1350" dirty="0">
              <a:solidFill>
                <a:srgbClr val="9FB0C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379047F-394D-4045-BCCC-182D5784AD30}"/>
              </a:ext>
            </a:extLst>
          </p:cNvPr>
          <p:cNvSpPr>
            <a:spLocks noGrp="1"/>
          </p:cNvSpPr>
          <p:nvPr/>
        </p:nvSpPr>
        <p:spPr>
          <a:xfrm>
            <a:off x="594360" y="4507992"/>
            <a:ext cx="201168" cy="201168"/>
          </a:xfrm>
          <a:prstGeom prst="ellipse">
            <a:avLst/>
          </a:prstGeom>
          <a:solidFill>
            <a:srgbClr val="2DD4BF"/>
          </a:solidFill>
        </p:spPr>
        <p:txBody>
          <a:bodyPr/>
          <a:lstStyle/>
          <a:p>
            <a:endParaRPr lang="en-HK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4439BA4-D152-49E8-B6E0-58C4277D6FD4}"/>
              </a:ext>
            </a:extLst>
          </p:cNvPr>
          <p:cNvSpPr>
            <a:spLocks noGrp="1"/>
          </p:cNvSpPr>
          <p:nvPr/>
        </p:nvSpPr>
        <p:spPr>
          <a:xfrm>
            <a:off x="960120" y="4498848"/>
            <a:ext cx="507492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0000"/>
              </a:lnSpc>
              <a:buNone/>
            </a:pPr>
            <a:r>
              <a:rPr sz="135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Action: ≥</a:t>
            </a:r>
            <a:r>
              <a:rPr lang="en-HK" sz="135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 90% </a:t>
            </a:r>
            <a:r>
              <a:rPr sz="135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feasible recommendations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83D3A94-9873-49FA-BC93-8206D86E17F7}"/>
              </a:ext>
            </a:extLst>
          </p:cNvPr>
          <p:cNvSpPr>
            <a:spLocks noGrp="1"/>
          </p:cNvSpPr>
          <p:nvPr/>
        </p:nvSpPr>
        <p:spPr>
          <a:xfrm>
            <a:off x="594360" y="5257800"/>
            <a:ext cx="201168" cy="201168"/>
          </a:xfrm>
          <a:prstGeom prst="ellipse">
            <a:avLst/>
          </a:prstGeom>
          <a:solidFill>
            <a:srgbClr val="2DD4BF"/>
          </a:solidFill>
        </p:spPr>
        <p:txBody>
          <a:bodyPr/>
          <a:lstStyle/>
          <a:p>
            <a:endParaRPr lang="en-HK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820901E-7049-470B-ACEF-98AC12E3DE0B}"/>
              </a:ext>
            </a:extLst>
          </p:cNvPr>
          <p:cNvSpPr>
            <a:spLocks noGrp="1"/>
          </p:cNvSpPr>
          <p:nvPr/>
        </p:nvSpPr>
        <p:spPr>
          <a:xfrm>
            <a:off x="960120" y="5251571"/>
            <a:ext cx="507492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0000"/>
              </a:lnSpc>
              <a:buNone/>
            </a:pPr>
            <a:r>
              <a:rPr sz="135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Workflow: 50% faster alert-to-decision time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990B103-28FA-4681-A65C-BC9335079635}"/>
              </a:ext>
            </a:extLst>
          </p:cNvPr>
          <p:cNvSpPr>
            <a:spLocks noGrp="1"/>
          </p:cNvSpPr>
          <p:nvPr/>
        </p:nvSpPr>
        <p:spPr>
          <a:xfrm>
            <a:off x="6675120" y="2286000"/>
            <a:ext cx="46634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</a:pPr>
            <a:endParaRPr sz="1250" dirty="0">
              <a:solidFill>
                <a:srgbClr val="9FB0C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38321863-E790-40F1-95DD-CDBDD5A11980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Chainsilience AI</a:t>
            </a: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656EDF45-D9FC-4774-B2F8-2145835C6412}"/>
              </a:ext>
            </a:extLst>
          </p:cNvPr>
          <p:cNvSpPr>
            <a:spLocks noGrp="1"/>
          </p:cNvSpPr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6B7A9E"/>
                </a:solidFill>
                <a:latin typeface="Calibri"/>
                <a:ea typeface="Calibri"/>
                <a:cs typeface="Calibri"/>
              </a:rPr>
              <a:t>IDSOL 2026  ·  Pilot &amp; Value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8FB7E9B-A0B9-42D8-0606-76B62AA825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7662" y="948720"/>
            <a:ext cx="3475334" cy="521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85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9C2550E-1FFA-470C-B6C2-DD85AD5F22F1}"/>
              </a:ext>
            </a:extLst>
          </p:cNvPr>
          <p:cNvSpPr>
            <a:spLocks noGrp="1"/>
          </p:cNvSpPr>
          <p:nvPr/>
        </p:nvSpPr>
        <p:spPr>
          <a:xfrm>
            <a:off x="941832" y="5788152"/>
            <a:ext cx="731520" cy="365760"/>
          </a:xfrm>
          <a:prstGeom prst="line">
            <a:avLst/>
          </a:prstGeom>
          <a:noFill/>
          <a:ln w="12700">
            <a:solidFill>
              <a:srgbClr val="2DD4B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3C233BB-9FFE-4426-BAFF-4313B23430F3}"/>
              </a:ext>
            </a:extLst>
          </p:cNvPr>
          <p:cNvSpPr>
            <a:spLocks noGrp="1"/>
          </p:cNvSpPr>
          <p:nvPr/>
        </p:nvSpPr>
        <p:spPr>
          <a:xfrm>
            <a:off x="1673352" y="6153912"/>
            <a:ext cx="731520" cy="0"/>
          </a:xfrm>
          <a:prstGeom prst="line">
            <a:avLst/>
          </a:prstGeom>
          <a:noFill/>
          <a:ln w="12700">
            <a:solidFill>
              <a:srgbClr val="38BDF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2EFA922-2C44-44B8-AB43-3878458F2698}"/>
              </a:ext>
            </a:extLst>
          </p:cNvPr>
          <p:cNvSpPr>
            <a:spLocks noGrp="1"/>
          </p:cNvSpPr>
          <p:nvPr/>
        </p:nvSpPr>
        <p:spPr>
          <a:xfrm>
            <a:off x="822960" y="5669280"/>
            <a:ext cx="182880" cy="182880"/>
          </a:xfrm>
          <a:prstGeom prst="ellipse">
            <a:avLst/>
          </a:prstGeom>
          <a:solidFill>
            <a:srgbClr val="2DD4BF"/>
          </a:solidFill>
        </p:spPr>
        <p:txBody>
          <a:bodyPr/>
          <a:lstStyle/>
          <a:p>
            <a:endParaRPr lang="en-HK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5EF1B0F-BA8E-461D-9CCD-687C3E004152}"/>
              </a:ext>
            </a:extLst>
          </p:cNvPr>
          <p:cNvSpPr>
            <a:spLocks noGrp="1"/>
          </p:cNvSpPr>
          <p:nvPr/>
        </p:nvSpPr>
        <p:spPr>
          <a:xfrm>
            <a:off x="1554480" y="6035040"/>
            <a:ext cx="182880" cy="182880"/>
          </a:xfrm>
          <a:prstGeom prst="ellipse">
            <a:avLst/>
          </a:prstGeom>
          <a:solidFill>
            <a:srgbClr val="38BDF8"/>
          </a:solidFill>
        </p:spPr>
        <p:txBody>
          <a:bodyPr/>
          <a:lstStyle/>
          <a:p>
            <a:endParaRPr lang="en-HK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03557FF-C65D-4A18-B40F-CF71ACFC12DD}"/>
              </a:ext>
            </a:extLst>
          </p:cNvPr>
          <p:cNvSpPr>
            <a:spLocks noGrp="1"/>
          </p:cNvSpPr>
          <p:nvPr/>
        </p:nvSpPr>
        <p:spPr>
          <a:xfrm>
            <a:off x="2286000" y="5623560"/>
            <a:ext cx="182880" cy="182880"/>
          </a:xfrm>
          <a:prstGeom prst="ellipse">
            <a:avLst/>
          </a:prstGeom>
          <a:solidFill>
            <a:srgbClr val="2DD4BF"/>
          </a:solidFill>
        </p:spPr>
        <p:txBody>
          <a:bodyPr/>
          <a:lstStyle/>
          <a:p>
            <a:endParaRPr lang="en-HK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347A1F7-8301-4029-B5BE-96B8927DB9DA}"/>
              </a:ext>
            </a:extLst>
          </p:cNvPr>
          <p:cNvSpPr>
            <a:spLocks noGrp="1"/>
          </p:cNvSpPr>
          <p:nvPr/>
        </p:nvSpPr>
        <p:spPr>
          <a:xfrm>
            <a:off x="1188720" y="6309360"/>
            <a:ext cx="182880" cy="182880"/>
          </a:xfrm>
          <a:prstGeom prst="ellipse">
            <a:avLst/>
          </a:prstGeom>
          <a:solidFill>
            <a:srgbClr val="38BDF8"/>
          </a:solidFill>
        </p:spPr>
        <p:txBody>
          <a:bodyPr/>
          <a:lstStyle/>
          <a:p>
            <a:endParaRPr lang="en-HK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108ECC1-0091-4B84-BF6B-DEEA07BD6E3F}"/>
              </a:ext>
            </a:extLst>
          </p:cNvPr>
          <p:cNvSpPr>
            <a:spLocks noGrp="1"/>
          </p:cNvSpPr>
          <p:nvPr/>
        </p:nvSpPr>
        <p:spPr>
          <a:xfrm>
            <a:off x="689891" y="1997399"/>
            <a:ext cx="10587709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900" i="1" dirty="0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Verified disruption evidence. Enterprise-specific impact</a:t>
            </a:r>
            <a:r>
              <a:rPr lang="en-HK" sz="1900" i="1" dirty="0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s and tailored mitigations</a:t>
            </a:r>
            <a:r>
              <a:rPr sz="1900" i="1" dirty="0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. Human-approved action.</a:t>
            </a:r>
            <a:endParaRPr lang="en-HK" sz="1900" i="1" dirty="0">
              <a:solidFill>
                <a:srgbClr val="2DD4BF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HK" sz="1900" i="1" dirty="0">
              <a:solidFill>
                <a:srgbClr val="2DD4BF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HK" sz="1900" i="1" dirty="0">
                <a:solidFill>
                  <a:srgbClr val="2DD4BF"/>
                </a:solidFill>
                <a:latin typeface="Calibri"/>
                <a:ea typeface="Calibri"/>
                <a:cs typeface="Calibri"/>
                <a:hlinkClick r:id="rId3"/>
              </a:rPr>
              <a:t>Start counteracting supply chain disruptions today.</a:t>
            </a:r>
            <a:endParaRPr sz="1900" i="1" dirty="0">
              <a:solidFill>
                <a:srgbClr val="2DD4B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1AAF736-D514-433F-B73C-BB9B912C9DE7}"/>
              </a:ext>
            </a:extLst>
          </p:cNvPr>
          <p:cNvSpPr>
            <a:spLocks noGrp="1"/>
          </p:cNvSpPr>
          <p:nvPr/>
        </p:nvSpPr>
        <p:spPr>
          <a:xfrm>
            <a:off x="685800" y="324612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1B2444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BE5E755-3691-4CB8-9446-17EF192DB8DA}"/>
              </a:ext>
            </a:extLst>
          </p:cNvPr>
          <p:cNvSpPr>
            <a:spLocks noGrp="1"/>
          </p:cNvSpPr>
          <p:nvPr/>
        </p:nvSpPr>
        <p:spPr>
          <a:xfrm>
            <a:off x="1005840" y="34747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4 × Computer Science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B9B1917-9075-4CCA-BB45-A5DDC4C5D37C}"/>
              </a:ext>
            </a:extLst>
          </p:cNvPr>
          <p:cNvSpPr>
            <a:spLocks noGrp="1"/>
          </p:cNvSpPr>
          <p:nvPr/>
        </p:nvSpPr>
        <p:spPr>
          <a:xfrm>
            <a:off x="1005840" y="3977640"/>
            <a:ext cx="475488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HK" sz="130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Ka Woon Ho, Ke Xin Cao, Mo Xia, Andrew Li</a:t>
            </a:r>
            <a:endParaRPr sz="1300" dirty="0">
              <a:solidFill>
                <a:srgbClr val="9FB0C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457F9E5-5CF5-4564-AF96-EBA6E5C8AB17}"/>
              </a:ext>
            </a:extLst>
          </p:cNvPr>
          <p:cNvSpPr>
            <a:spLocks noGrp="1"/>
          </p:cNvSpPr>
          <p:nvPr/>
        </p:nvSpPr>
        <p:spPr>
          <a:xfrm>
            <a:off x="6263640" y="324612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1B2444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A8A8F47-6BB7-48D6-A9B8-45E5A5C46B7B}"/>
              </a:ext>
            </a:extLst>
          </p:cNvPr>
          <p:cNvSpPr>
            <a:spLocks noGrp="1"/>
          </p:cNvSpPr>
          <p:nvPr/>
        </p:nvSpPr>
        <p:spPr>
          <a:xfrm>
            <a:off x="6583680" y="34747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2DD4BF"/>
                </a:solidFill>
                <a:latin typeface="Calibri"/>
                <a:ea typeface="Calibri"/>
                <a:cs typeface="Calibri"/>
              </a:rPr>
              <a:t>1 × Rotman Commerce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199E2FF-99AC-40A4-8235-D7A118CE215E}"/>
              </a:ext>
            </a:extLst>
          </p:cNvPr>
          <p:cNvSpPr>
            <a:spLocks noGrp="1"/>
          </p:cNvSpPr>
          <p:nvPr/>
        </p:nvSpPr>
        <p:spPr>
          <a:xfrm>
            <a:off x="6583680" y="3977640"/>
            <a:ext cx="475488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HK" sz="1300" dirty="0">
                <a:solidFill>
                  <a:srgbClr val="9FB0CC"/>
                </a:solidFill>
                <a:latin typeface="Calibri"/>
                <a:ea typeface="Calibri"/>
                <a:cs typeface="Calibri"/>
              </a:rPr>
              <a:t>Gary Leng</a:t>
            </a:r>
            <a:endParaRPr sz="1300" dirty="0">
              <a:solidFill>
                <a:srgbClr val="9FB0C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413802E-924F-442B-BBBE-EE7FD5ACCAA6}"/>
              </a:ext>
            </a:extLst>
          </p:cNvPr>
          <p:cNvSpPr>
            <a:spLocks noGrp="1"/>
          </p:cNvSpPr>
          <p:nvPr/>
        </p:nvSpPr>
        <p:spPr>
          <a:xfrm>
            <a:off x="685800" y="5074920"/>
            <a:ext cx="10927080" cy="960120"/>
          </a:xfrm>
          <a:prstGeom prst="roundRect">
            <a:avLst>
              <a:gd name="adj" fmla="val 9524"/>
            </a:avLst>
          </a:prstGeom>
          <a:solidFill>
            <a:srgbClr val="141B33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B2E7594-F81B-4F83-9D42-5AAC86E1547B}"/>
              </a:ext>
            </a:extLst>
          </p:cNvPr>
          <p:cNvSpPr>
            <a:spLocks noGrp="1"/>
          </p:cNvSpPr>
          <p:nvPr/>
        </p:nvSpPr>
        <p:spPr>
          <a:xfrm>
            <a:off x="1005840" y="5074920"/>
            <a:ext cx="1033272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University of Toronto  ·  Focus: SMEs, startups, and semiconductor supply networks  ·  Functional prototype ready for demonstration.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5FF0618-50E3-8F94-C192-68095E3A6C4C}"/>
              </a:ext>
            </a:extLst>
          </p:cNvPr>
          <p:cNvSpPr/>
          <p:nvPr/>
        </p:nvSpPr>
        <p:spPr>
          <a:xfrm>
            <a:off x="640078" y="311685"/>
            <a:ext cx="5858913" cy="13883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CF5E948-7190-E534-7F1C-2EDB0B193D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104" y="-66810"/>
            <a:ext cx="5369279" cy="223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997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2401</Words>
  <Application>Microsoft Office PowerPoint</Application>
  <DocSecurity>0</DocSecurity>
  <PresentationFormat>Widescreen</PresentationFormat>
  <Paragraphs>297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Anson Ho</cp:lastModifiedBy>
  <cp:revision>18</cp:revision>
  <dcterms:created xsi:type="dcterms:W3CDTF">2026-07-21T14:39:06Z</dcterms:created>
  <dcterms:modified xsi:type="dcterms:W3CDTF">2026-07-23T07:25:14Z</dcterms:modified>
</cp:coreProperties>
</file>