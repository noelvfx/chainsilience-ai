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2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0c6a721d6fd4ce0" /><Relationship Type="http://schemas.openxmlformats.org/officeDocument/2006/relationships/extended-properties" Target="/docProps/app.xml" Id="Rf1d92ec41c3f4b6c" /><Relationship Type="http://schemas.openxmlformats.org/officeDocument/2006/relationships/officeDocument" Target="/ppt/presentation.xml" Id="Re43ad4d1f003499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749326ff900461f"/>
  </p:sldMasterIdLst>
  <p:notesMasterIdLst>
    <p:notesMasterId xmlns:r="http://schemas.openxmlformats.org/officeDocument/2006/relationships" r:id="Rb4765883ad724457"/>
  </p:notesMasterIdLst>
  <p:sldIdLst>
    <p:sldId xmlns:r="http://schemas.openxmlformats.org/officeDocument/2006/relationships" id="256" r:id="Rfc24257a6fec47b9"/>
    <p:sldId xmlns:r="http://schemas.openxmlformats.org/officeDocument/2006/relationships" id="257" r:id="Radfe9e51080e40d7"/>
    <p:sldId xmlns:r="http://schemas.openxmlformats.org/officeDocument/2006/relationships" id="258" r:id="Rd517a7b92af84191"/>
    <p:sldId xmlns:r="http://schemas.openxmlformats.org/officeDocument/2006/relationships" id="259" r:id="R943e84b5c1914b2e"/>
    <p:sldId xmlns:r="http://schemas.openxmlformats.org/officeDocument/2006/relationships" id="260" r:id="R7843002cd65c4499"/>
    <p:sldId xmlns:r="http://schemas.openxmlformats.org/officeDocument/2006/relationships" id="261" r:id="R6d52af8cc5014120"/>
    <p:sldId xmlns:r="http://schemas.openxmlformats.org/officeDocument/2006/relationships" id="262" r:id="Re332442fbbe149e1"/>
    <p:sldId xmlns:r="http://schemas.openxmlformats.org/officeDocument/2006/relationships" id="263" r:id="Ra21b3eb8d443415e"/>
    <p:sldId xmlns:r="http://schemas.openxmlformats.org/officeDocument/2006/relationships" id="264" r:id="R967937941f3848ad"/>
    <p:sldId xmlns:r="http://schemas.openxmlformats.org/officeDocument/2006/relationships" id="265" r:id="Rbd36a2fee5db4516"/>
    <p:sldId xmlns:r="http://schemas.openxmlformats.org/officeDocument/2006/relationships" id="266" r:id="R4e519859487c4115"/>
    <p:sldId xmlns:r="http://schemas.openxmlformats.org/officeDocument/2006/relationships" id="267" r:id="Rf7cc0ad32f784022"/>
    <p:sldId xmlns:r="http://schemas.openxmlformats.org/officeDocument/2006/relationships" id="268" r:id="Rd5d53db4c1ff4f05"/>
    <p:sldId xmlns:r="http://schemas.openxmlformats.org/officeDocument/2006/relationships" id="269" r:id="Re91d19934fd84d3c"/>
    <p:sldId xmlns:r="http://schemas.openxmlformats.org/officeDocument/2006/relationships" id="270" r:id="Rec8957a7b8f342b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d63b93d1b8a475f" /><Relationship Type="http://schemas.openxmlformats.org/officeDocument/2006/relationships/slideMaster" Target="/ppt/slideMasters/slideMaster1.xml" Id="R2749326ff900461f" /><Relationship Type="http://schemas.openxmlformats.org/officeDocument/2006/relationships/notesMaster" Target="/ppt/notesMasters/notesMaster1.xml" Id="Rb4765883ad724457" /><Relationship Type="http://schemas.openxmlformats.org/officeDocument/2006/relationships/presProps" Target="/ppt/presProps.xml" Id="R2600b0e582dd413f" /><Relationship Type="http://schemas.openxmlformats.org/officeDocument/2006/relationships/viewProps" Target="/ppt/viewProps.xml" Id="R902fd870570042e2" /><Relationship Type="http://schemas.openxmlformats.org/officeDocument/2006/relationships/tableStyles" Target="/ppt/tableStyles.xml" Id="Rce9c5d4ed61b4d95" /><Relationship Type="http://schemas.openxmlformats.org/officeDocument/2006/relationships/slide" Target="/ppt/slides/slide1.xml" Id="Rfc24257a6fec47b9" /><Relationship Type="http://schemas.openxmlformats.org/officeDocument/2006/relationships/slide" Target="/ppt/slides/slide2.xml" Id="Radfe9e51080e40d7" /><Relationship Type="http://schemas.openxmlformats.org/officeDocument/2006/relationships/slide" Target="/ppt/slides/slide3.xml" Id="Rd517a7b92af84191" /><Relationship Type="http://schemas.openxmlformats.org/officeDocument/2006/relationships/slide" Target="/ppt/slides/slide4.xml" Id="R943e84b5c1914b2e" /><Relationship Type="http://schemas.openxmlformats.org/officeDocument/2006/relationships/slide" Target="/ppt/slides/slide5.xml" Id="R7843002cd65c4499" /><Relationship Type="http://schemas.openxmlformats.org/officeDocument/2006/relationships/slide" Target="/ppt/slides/slide6.xml" Id="R6d52af8cc5014120" /><Relationship Type="http://schemas.openxmlformats.org/officeDocument/2006/relationships/slide" Target="/ppt/slides/slide7.xml" Id="Re332442fbbe149e1" /><Relationship Type="http://schemas.openxmlformats.org/officeDocument/2006/relationships/slide" Target="/ppt/slides/slide8.xml" Id="Ra21b3eb8d443415e" /><Relationship Type="http://schemas.openxmlformats.org/officeDocument/2006/relationships/slide" Target="/ppt/slides/slide9.xml" Id="R967937941f3848ad" /><Relationship Type="http://schemas.openxmlformats.org/officeDocument/2006/relationships/slide" Target="/ppt/slides/slide10.xml" Id="Rbd36a2fee5db4516" /><Relationship Type="http://schemas.openxmlformats.org/officeDocument/2006/relationships/slide" Target="/ppt/slides/slide11.xml" Id="R4e519859487c4115" /><Relationship Type="http://schemas.openxmlformats.org/officeDocument/2006/relationships/slide" Target="/ppt/slides/slide12.xml" Id="Rf7cc0ad32f784022" /><Relationship Type="http://schemas.openxmlformats.org/officeDocument/2006/relationships/slide" Target="/ppt/slides/slide13.xml" Id="Rd5d53db4c1ff4f05" /><Relationship Type="http://schemas.openxmlformats.org/officeDocument/2006/relationships/slide" Target="/ppt/slides/slide14.xml" Id="Re91d19934fd84d3c" /><Relationship Type="http://schemas.openxmlformats.org/officeDocument/2006/relationships/slide" Target="/ppt/slides/slide15.xml" Id="Rec8957a7b8f342b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29cf3cf0c3448d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6a9c19096d74e10" /><Relationship Type="http://schemas.openxmlformats.org/officeDocument/2006/relationships/notesMaster" Target="/ppt/notesMasters/notesMaster1.xml" Id="R2c1044c109c8472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c02dd25e3aa47ab" /><Relationship Type="http://schemas.openxmlformats.org/officeDocument/2006/relationships/notesMaster" Target="/ppt/notesMasters/notesMaster1.xml" Id="R125d626d1938441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518286448d24335" /><Relationship Type="http://schemas.openxmlformats.org/officeDocument/2006/relationships/notesMaster" Target="/ppt/notesMasters/notesMaster1.xml" Id="R1e6b8f60503443b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da33c38a9ff4fc1" /><Relationship Type="http://schemas.openxmlformats.org/officeDocument/2006/relationships/notesMaster" Target="/ppt/notesMasters/notesMaster1.xml" Id="R4046ccc299f0433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27d1f267709478c" /><Relationship Type="http://schemas.openxmlformats.org/officeDocument/2006/relationships/notesMaster" Target="/ppt/notesMasters/notesMaster1.xml" Id="Re47722d715df4f8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956894dda204a54" /><Relationship Type="http://schemas.openxmlformats.org/officeDocument/2006/relationships/notesMaster" Target="/ppt/notesMasters/notesMaster1.xml" Id="R51e68ab2b5b7423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bc581a8ab4845dc" /><Relationship Type="http://schemas.openxmlformats.org/officeDocument/2006/relationships/notesMaster" Target="/ppt/notesMasters/notesMaster1.xml" Id="R3fac5e3b23db483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d676e76754343a8" /><Relationship Type="http://schemas.openxmlformats.org/officeDocument/2006/relationships/notesMaster" Target="/ppt/notesMasters/notesMaster1.xml" Id="Rc3b8d84a3ca847d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2e2e9e114814d40" /><Relationship Type="http://schemas.openxmlformats.org/officeDocument/2006/relationships/notesMaster" Target="/ppt/notesMasters/notesMaster1.xml" Id="R4ebf4a4866c5459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8f382e0d6594be9" /><Relationship Type="http://schemas.openxmlformats.org/officeDocument/2006/relationships/notesMaster" Target="/ppt/notesMasters/notesMaster1.xml" Id="Rba5f7204dd8c424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863df5d0a6b439a" /><Relationship Type="http://schemas.openxmlformats.org/officeDocument/2006/relationships/notesMaster" Target="/ppt/notesMasters/notesMaster1.xml" Id="R8143821b6d4747c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0f3db41f1da419a" /><Relationship Type="http://schemas.openxmlformats.org/officeDocument/2006/relationships/notesMaster" Target="/ppt/notesMasters/notesMaster1.xml" Id="R883081d7262c440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b6d5c99bdd34462" /><Relationship Type="http://schemas.openxmlformats.org/officeDocument/2006/relationships/notesMaster" Target="/ppt/notesMasters/notesMaster1.xml" Id="Ra8a31bd8506349d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da80f3bf6514b8e" /><Relationship Type="http://schemas.openxmlformats.org/officeDocument/2006/relationships/notesMaster" Target="/ppt/notesMasters/notesMaster1.xml" Id="R78cca2716cd247c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9e5a5e23a1d45d3" /><Relationship Type="http://schemas.openxmlformats.org/officeDocument/2006/relationships/notesMaster" Target="/ppt/notesMasters/notesMaster1.xml" Id="R61a582234c1e416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Chainsilience AI — supply chain resilience. We're a UofT team: four CS students build the AI, and I lead product and go-to-market from Rotman. In the next ~10 minutes I'll show how our platform turns a flood of global disruption news into a specific, costed action plan for one company.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single disruption — an earthquake, an export ban, a port closure — can be devastating for a company that depends on one region. Today the bottleneck is human: someone has to read everything and manually connect a headline to their own suppliers. Small companies simply don't have that capacity, and even large ones react too late.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figures come straight from our worked semiconductor scenario. The point: the gap between an event and a production stoppage is often measured in days, and the revenue at stake is in the millions. The companies least able to absorb that are precisely our target users.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Four pillars. We monitor and verify the outside world, we model the inside of your business as a digital twin, we predict the impact where those two meet, and then we help you act — with scenarios and drafted communications. The key differentiator is the middle: mapping events to your specific operations.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Six stages, running continuously. Note stage two — verification — before anything is trusted. And the whole thing is a loop: once a company acts, we compare predicted vs. actual outcomes and feed that back, so the system learns each customer's real lead times and supplier behavior.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where the team's second idea folds in. Before we let a story drive a $180K decision, we verify it: dedupe across sources, score credibility, and — importantly in 2026 — run a deepfake detector on any video or audio evidence. It combines visual, audio, sync, and metadata signals into a manipulation-risk score. Crucially it's framed as evidence for a human, not a verdict.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heart of the product. We don't just tag a news article 'semiconductor' — we know Supplier A gives you 42% of your wafers, those wafers go into Product X, and Product X has three big customer orders behind it. That chain is what lets us translate a distant event into your revenue at risk.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Judges will ask 'is this a black box?' No. The score is a transparent product of six factors, each traceable to a number in the digital twin. So instead of just showing '87', we show WHY it's 87 — which is what makes a procurement manager actually trust and act on 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'so what'. A CFO doesn't care that there was an earthquake — they care that $1.2M of revenue and 14 orders are exposed, with a 71% chance of a stoppage. We deliberately use a hybrid rules-plus-forecasting approach so it's buildable for a prototype and still defensible.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payoff of the digital twin. Doing nothing leaves a 71% stoppage risk. Switching a quarter of orders drops it to 34% for $180K. Air freight gets you to 18% but costs more. We lay the trade-offs side by side so a human can choose based on their priorities — cost, speed, or protecting key customers.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Recommendations are grouped by urgency, each with an expected benefit, cost, owner and deadline. We also draft the outbound comms — to suppliers, customers, and executives. But nothing is automated end-to-end: a human always reviews and approves. That's both safer and what real procurement teams require.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dashboard shows a clear overview, not raw news. At a glance: how many critical vs. low risks, the top exposures ranked by impact, a global risk map, inventory countdowns, and a news feed filtered to only company-relevant events. It turns the platform from passive monitoring into an operational tool.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live demo we'll run. An earthquake is detected and verified, we trace it through the digital twin to a specific 42%-dependency on wafers, calculate 12 days of cover and 71% stoppage risk, compare three responses, recommend shifting 25% of orders, and draft the emails — all before the dashboard finishes updating. The takeaway line: this connects an external event to YOUR data and produces a real operational decision.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Two messages here. First, our moat isn't the news feed — anyone can scrape news. It's the mapping to a company-specific digital twin plus explainability and action. Second, for the competition we're deliberately narrow: one industry, one full workflow, end to end. Depth over breadth is what makes a convincing prototype.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 close: Chainsilience turns global disruption into an action your business can take. Our CS team builds the models; I own product and go-to-market. We're ready to run the full workflow live for you now. Thank you — happy to take questions.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67100628924e20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1cbf0a61b354623" /><Relationship Type="http://schemas.openxmlformats.org/officeDocument/2006/relationships/slideLayout" Target="/ppt/slideLayouts/slideLayout1.xml" Id="R4fb1b494165543ce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fb1b494165543ce"/>
  </p:sldLayoutIdLst>
  <p:hf sldNum="0" hdr="0" ftr="0" dt="0"/>
  <p:txStyles>
    <p:titleStyle>
      <a:lvl1pPr xmlns:a="http://schemas.openxmlformats.org/drawingml/2006/main" algn="ctr"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59749b599740e2" /><Relationship Type="http://schemas.openxmlformats.org/officeDocument/2006/relationships/notesSlide" Target="/ppt/notesSlides/notesSlide1.xml" Id="R7097a1654a9e459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9ea87791fb4419" /><Relationship Type="http://schemas.openxmlformats.org/officeDocument/2006/relationships/notesSlide" Target="/ppt/notesSlides/notesSlide2.xml" Id="R230fe177665c4c8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282ecc23104ba6" /><Relationship Type="http://schemas.openxmlformats.org/officeDocument/2006/relationships/notesSlide" Target="/ppt/notesSlides/notesSlide3.xml" Id="R78cfae3dab8f47b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3bfce1e68a49c0" /><Relationship Type="http://schemas.openxmlformats.org/officeDocument/2006/relationships/notesSlide" Target="/ppt/notesSlides/notesSlide4.xml" Id="R663be23cb1ed4be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c1bd0f89e4451e" /><Relationship Type="http://schemas.openxmlformats.org/officeDocument/2006/relationships/notesSlide" Target="/ppt/notesSlides/notesSlide5.xml" Id="R16150add3b28441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4a7906fab44f42" /><Relationship Type="http://schemas.openxmlformats.org/officeDocument/2006/relationships/notesSlide" Target="/ppt/notesSlides/notesSlide6.xml" Id="R3734a955debe421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4cac53dcb9448e" /><Relationship Type="http://schemas.openxmlformats.org/officeDocument/2006/relationships/notesSlide" Target="/ppt/notesSlides/notesSlide7.xml" Id="R5e98bddcac6e489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e7ae2b65894879" /><Relationship Type="http://schemas.openxmlformats.org/officeDocument/2006/relationships/notesSlide" Target="/ppt/notesSlides/notesSlide8.xml" Id="R83b7c4c59db841b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a90acc0c5d440a" /><Relationship Type="http://schemas.openxmlformats.org/officeDocument/2006/relationships/notesSlide" Target="/ppt/notesSlides/notesSlide9.xml" Id="Rea1656aa5790447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85346fae84400a" /><Relationship Type="http://schemas.openxmlformats.org/officeDocument/2006/relationships/chart" Target="/ppt/slides/charts/chart1.xml" Id="R36f5236807304460" /><Relationship Type="http://schemas.openxmlformats.org/officeDocument/2006/relationships/notesSlide" Target="/ppt/notesSlides/notesSlide10.xml" Id="R1f73c1b734b642a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832277ba934379" /><Relationship Type="http://schemas.openxmlformats.org/officeDocument/2006/relationships/notesSlide" Target="/ppt/notesSlides/notesSlide11.xml" Id="R325e9a0da6ad441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28b093bfaa49fc" /><Relationship Type="http://schemas.openxmlformats.org/officeDocument/2006/relationships/chart" Target="/ppt/slides/charts/chart2.xml" Id="Rb07a4342486d470d" /><Relationship Type="http://schemas.openxmlformats.org/officeDocument/2006/relationships/notesSlide" Target="/ppt/notesSlides/notesSlide12.xml" Id="R68edf8213b2c426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08ae92e7ff4c5b" /><Relationship Type="http://schemas.openxmlformats.org/officeDocument/2006/relationships/notesSlide" Target="/ppt/notesSlides/notesSlide13.xml" Id="R749edbc801eb40d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c59c71ba934d28" /><Relationship Type="http://schemas.openxmlformats.org/officeDocument/2006/relationships/notesSlide" Target="/ppt/notesSlides/notesSlide14.xml" Id="Rc98c91fb032445f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fe145a78364e6f" /><Relationship Type="http://schemas.openxmlformats.org/officeDocument/2006/relationships/notesSlide" Target="/ppt/notesSlides/notesSlide15.xml" Id="R1bf4128554b44fae" /></Relationships>
</file>

<file path=ppt/slides/charts/chart1.xml><?xml version="1.0" encoding="utf-8"?>
<c:chartSpace xmlns:c="http://schemas.openxmlformats.org/drawingml/2006/chart">
  <c:lang val="en-US"/>
  <c:roundedCorners val="1"/>
  <c:style val="2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00" b="0" i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Production-stoppage probability (%)</a:t>
            </a:r>
          </a:p>
        </c:rich>
      </c:tx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00" b="0" i="0" u="none">
              <a:solidFill>
                <a:srgbClr val="FFFFFF"/>
              </a:solidFill>
              <a:latin typeface="Calibri"/>
              <a:ea typeface="Calibri"/>
              <a:cs typeface="Calibri"/>
            </a:defRPr>
          </a:pPr>
        </a:p>
      </c:tx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Stoppage probability</c:v>
                </c:pt>
              </c:strCache>
            </c:strRef>
          </c:tx>
          <c:spPr>
            <a:solidFill xmlns:a="http://schemas.openxmlformats.org/drawingml/2006/main">
              <a:srgbClr val="F43F5E">
                <a:alpha val="100000"/>
              </a:srgbClr>
            </a:solidFill>
          </c:spPr>
          <c:dPt>
            <c:idx val="0"/>
            <c:spPr>
              <a:solidFill xmlns:a="http://schemas.openxmlformats.org/drawingml/2006/main">
                <a:srgbClr val="F43F5E"/>
              </a:solidFill>
            </c:spPr>
          </c:dPt>
          <c:dPt>
            <c:idx val="1"/>
            <c:spPr>
              <a:solidFill xmlns:a="http://schemas.openxmlformats.org/drawingml/2006/main">
                <a:srgbClr val="F59E0B"/>
              </a:solidFill>
            </c:spPr>
          </c:dPt>
          <c:dPt>
            <c:idx val="2"/>
            <c:spPr>
              <a:solidFill xmlns:a="http://schemas.openxmlformats.org/drawingml/2006/main">
                <a:srgbClr val="34D399"/>
              </a:solidFill>
            </c:spPr>
          </c:dPt>
          <c:dPt>
            <c:idx val="3"/>
            <c:spPr>
              <a:solidFill xmlns:a="http://schemas.openxmlformats.org/drawingml/2006/main">
                <a:srgbClr val="38BDF8"/>
              </a:solidFill>
            </c:spPr>
          </c:dPt>
          <c:dLbls>
            <c:numFmt formatCode="0&quot;%&quot;" sourceLinked="0"/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100" b="0" i="0" u="none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A: No action</c:v>
                </c:pt>
                <c:pt idx="1">
                  <c:v>B: Switch 25%</c:v>
                </c:pt>
                <c:pt idx="2">
                  <c:v>C: Air freight</c:v>
                </c:pt>
                <c:pt idx="3">
                  <c:v>D: Delay low-priority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71</c:v>
                </c:pt>
                <c:pt idx="1">
                  <c:v>34</c:v>
                </c:pt>
                <c:pt idx="2">
                  <c:v>18</c:v>
                </c:pt>
                <c:pt idx="3">
                  <c:v>29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xmlns:a="http://schemas.openxmlformats.org/drawingml/2006/main" w="12700">
            <a:solidFill>
              <a:srgbClr val="88888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 b="0" i="0" u="none">
                <a:solidFill>
                  <a:srgbClr val="9FB0CC"/>
                </a:solidFill>
                <a:latin typeface="Calibri"/>
                <a:ea typeface="Calibri"/>
                <a:cs typeface="Calibri"/>
              </a:defRPr>
            </a:pPr>
          </a:p>
        </c:txPr>
        <c:crossAx val="2094734552"/>
        <c:crosses val="autoZero"/>
        <c:lblAlgn val="ctr"/>
        <c:lblOffset val="100"/>
        <c:noMultiLvlLbl val="0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 xmlns:a="http://schemas.openxmlformats.org/drawingml/2006/main"/>
        <a:ln xmlns:a="http://schemas.openxmlformats.org/drawingml/2006/main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>
      <a:noFill/>
    </a:ln>
  </c:spPr>
</c:chartSpace>
</file>

<file path=ppt/slides/charts/chart2.xml><?xml version="1.0" encoding="utf-8"?>
<c:chartSpace xmlns:c="http://schemas.openxmlformats.org/drawingml/2006/chart">
  <c:lang val="en-US"/>
  <c:roundedCorners val="1"/>
  <c:style val="2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00" b="0" i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Active risks by severity</a:t>
            </a:r>
          </a:p>
        </c:rich>
      </c:tx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00" b="0" i="0" u="none">
              <a:solidFill>
                <a:srgbClr val="FFFFFF"/>
              </a:solidFill>
              <a:latin typeface="Calibri"/>
              <a:ea typeface="Calibri"/>
              <a:cs typeface="Calibri"/>
            </a:defRPr>
          </a:pPr>
        </a:p>
      </c:txPr>
    </c:title>
    <c:autoTitleDeleted val="0"/>
    <c:plotArea>
      <c:doughnutChart>
        <c:ser>
          <c:idx val="0"/>
          <c:order val="0"/>
          <c:tx>
            <c:strRef>
              <c:f>Sheet1!$B$1</c:f>
              <c:strCache>
                <c:ptCount val="1"/>
                <c:pt idx="0">
                  <c:v>Risk</c:v>
                </c:pt>
              </c:strCache>
            </c:strRef>
          </c:tx>
          <c:spPr>
            <a:solidFill xmlns:a="http://schemas.openxmlformats.org/drawingml/2006/main">
              <a:schemeClr val="accent1"/>
            </a:solidFill>
            <a:ln xmlns:a="http://schemas.openxmlformats.org/drawingml/2006/main" w="9525">
              <a:solidFill>
                <a:srgbClr val="F9F9F9"/>
              </a:solidFill>
              <a:prstDash val="solid"/>
            </a:ln>
          </c:spPr>
          <c:dPt>
            <c:idx val="0"/>
            <c:spPr>
              <a:solidFill xmlns:a="http://schemas.openxmlformats.org/drawingml/2006/main">
                <a:srgbClr val="F43F5E"/>
              </a:solidFill>
            </c:spPr>
          </c:dPt>
          <c:dPt>
            <c:idx val="1"/>
            <c:spPr>
              <a:solidFill xmlns:a="http://schemas.openxmlformats.org/drawingml/2006/main">
                <a:srgbClr val="F59E0B"/>
              </a:solidFill>
            </c:spPr>
          </c:dPt>
          <c:dPt>
            <c:idx val="2"/>
            <c:spPr>
              <a:solidFill xmlns:a="http://schemas.openxmlformats.org/drawingml/2006/main">
                <a:srgbClr val="38BDF8"/>
              </a:solidFill>
            </c:spPr>
          </c:dPt>
          <c:dPt>
            <c:idx val="3"/>
            <c:spPr>
              <a:solidFill xmlns:a="http://schemas.openxmlformats.org/drawingml/2006/main">
                <a:srgbClr val="2DD4BF"/>
              </a:solidFill>
            </c:spPr>
          </c:dPt>
          <c:cat>
            <c:strRef>
              <c:f>Sheet1!$A$2:$A$5</c:f>
              <c:strCache>
                <c:ptCount val="4"/>
                <c:pt idx="0">
                  <c:v>Critical</c:v>
                </c:pt>
                <c:pt idx="1">
                  <c:v>High</c:v>
                </c:pt>
                <c:pt idx="2">
                  <c:v>Moderate</c:v>
                </c:pt>
                <c:pt idx="3">
                  <c:v>Low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</c:v>
                </c:pt>
                <c:pt idx="1">
                  <c:v>5</c:v>
                </c:pt>
                <c:pt idx="2">
                  <c:v>11</c:v>
                </c:pt>
                <c:pt idx="3">
                  <c:v>24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2"/>
      </c:doughnutChart>
      <c:spPr>
        <a:noFill xmlns:a="http://schemas.openxmlformats.org/drawingml/2006/main"/>
        <a:ln xmlns:a="http://schemas.openxmlformats.org/drawingml/2006/main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9FB0CC"/>
              </a:solidFill>
              <a:latin typeface="Calibri"/>
              <a:ea typeface="Calibri"/>
              <a:cs typeface="Calibri"/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>
      <a:noFill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0F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BA38506-453E-4A13-9577-C7F5259FF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0232" y="941832"/>
            <a:ext cx="640080" cy="73152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875">
            <a:solidFill>
              <a:srgbClr val="2DD4BF">
                <a:alpha val="4500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D3A673FD-D540-4E91-916D-94317DBF3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0152" y="1856232"/>
            <a:ext cx="6400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875">
            <a:solidFill>
              <a:srgbClr val="2DD4BF">
                <a:alpha val="4500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74122C3-C8B3-4AC6-AA08-B13F054C0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0152" y="1856232"/>
            <a:ext cx="914400" cy="6400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875">
            <a:solidFill>
              <a:srgbClr val="38BDF8">
                <a:alpha val="45000"/>
              </a:srgbClr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2F3D8FCE-7714-49D1-AA23-936D3B530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4552" y="2496312"/>
            <a:ext cx="0" cy="27432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875">
            <a:solidFill>
              <a:srgbClr val="38BDF8">
                <a:alpha val="45000"/>
              </a:srgbClr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07E1F6F-75EF-4148-AC3B-228BA4A81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822960"/>
            <a:ext cx="237744" cy="23774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D4BF"/>
          </a:solidFill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9A40FC9-166B-49D2-8DF0-340215F2E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1554480"/>
            <a:ext cx="237744" cy="23774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43E3BA7C-66E3-4E2C-9A2B-EBE5E2644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1737360"/>
            <a:ext cx="237744" cy="23774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D4BF"/>
          </a:solidFill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1A096902-7FF3-4A75-8D1A-2D99EB3C7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2377440"/>
            <a:ext cx="237744" cy="23774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215A807-4062-4107-A6AB-5B913CE0E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2651760"/>
            <a:ext cx="237744" cy="23774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D4BF"/>
          </a:solidFill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628DC9A1-4C32-42BF-A5B5-BA9FDA1CC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54480"/>
            <a:ext cx="20116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DD4BF"/>
                </a:solidFill>
                <a:latin typeface="Calibri"/>
                <a:ea typeface="Calibri"/>
                <a:cs typeface="Calibri"/>
              </a:rPr>
              <a:t>IDSOL 2026 · INTERNATIONAL DATA SCIENCE OLYMPIAD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179F6B8-A53F-4CD6-A491-0E2980337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65960"/>
            <a:ext cx="1005840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6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Chainsilience AI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BD668846-49DF-4CF4-A7F3-5BB42DD79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3240"/>
            <a:ext cx="1051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 b="1">
                <a:solidFill>
                  <a:srgbClr val="2DD4BF"/>
                </a:solidFill>
                <a:latin typeface="Calibri"/>
                <a:ea typeface="Calibri"/>
                <a:cs typeface="Calibri"/>
              </a:rPr>
              <a:t>From verified disruption evidence to human-approved enterprise action.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E696EA30-2DA9-4BE5-837E-B494EDA64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1880"/>
            <a:ext cx="859536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lnSpc>
                <a:spcPct val="115000"/>
              </a:lnSpc>
              <a:buNone/>
            </a:pPr>
            <a:r>
              <a:rPr sz="150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Agentic supply-chain decision support combining LLM/NLP, RAG, knowledge graphs, a digital twin, simulation, optimization, and governance.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19233479-0FBE-4640-A2E1-B84EBA6C8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29200"/>
            <a:ext cx="107899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02C52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EAF8CDE5-F9B9-4956-90DF-3819A3C15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2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6B7A9E"/>
                </a:solidFill>
                <a:latin typeface="Calibri"/>
                <a:ea typeface="Calibri"/>
                <a:cs typeface="Calibri"/>
              </a:rPr>
              <a:t>Team:  </a:t>
            </a:r>
            <a:r>
              <a:rPr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University of Toronto</a:t>
            </a:r>
            <a:r>
              <a:rPr sz="130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   ·   4 Computer Science (AI engineering)  +  1 Rotman Commerce (product &amp; GTM)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7660BF7-C15D-4D7E-A85A-369BBB43A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2356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6B7A9E"/>
                </a:solidFill>
                <a:latin typeface="Calibri"/>
                <a:ea typeface="Calibri"/>
                <a:cs typeface="Calibri"/>
              </a:rPr>
              <a:t>Focus: SMEs · startups · semiconductor and electronics supply networks</a:t>
            </a:r>
          </a:p>
        </p:txBody>
      </p:sp>
    </p:spTree>
    <p:extLst>
      <p:ext uri="{BB962C8B-B14F-4D97-AF65-F5344CB8AC3E}">
        <p14:creationId xmlns:p14="http://schemas.microsoft.com/office/powerpoint/2010/main" val="187589540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0F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91FEE0F-FC47-4F07-BDDD-068008398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7200"/>
            <a:ext cx="20116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DD4BF"/>
                </a:solidFill>
                <a:latin typeface="Calibri"/>
                <a:ea typeface="Calibri"/>
                <a:cs typeface="Calibri"/>
              </a:rPr>
              <a:t>THE DECISION GAP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F00C731-ECB3-487B-8304-995C8A0B6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749808"/>
            <a:ext cx="111556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Disruption signals arrive before operational context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2BF3D93-C39C-4B6B-91BB-9543183F5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828800"/>
            <a:ext cx="4754880" cy="658368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1B2444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E8789FCB-A998-4209-80FC-A2457468C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066544"/>
            <a:ext cx="182880" cy="182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3F5E"/>
          </a:solidFill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DD64E79D-53E0-4727-9335-78A51C922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28800"/>
            <a:ext cx="402336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Taiwan earthquake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F00171E-3D95-40B1-B42D-A8C59ADB3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615184"/>
            <a:ext cx="4754880" cy="658368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1B2444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0CDBAA9C-F719-410C-B5B5-8091890A2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852928"/>
            <a:ext cx="182880" cy="182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2F1681E-0537-49C1-A866-FE431ADD8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15184"/>
            <a:ext cx="402336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 export restrictions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BE83EE47-6123-4CE5-9E20-46F296B32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01568"/>
            <a:ext cx="4754880" cy="658368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1B2444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15E632D1-05E2-459B-90B1-F0D5319B8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639312"/>
            <a:ext cx="182880" cy="182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71788F9A-A49D-44A2-9D59-829ADC07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01568"/>
            <a:ext cx="402336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Rare-earth shortages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6FEFFEC5-D194-4C9A-A9D0-1960930A4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87952"/>
            <a:ext cx="4754880" cy="658368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1B2444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0DFFD62E-2308-4D2D-86DD-D9D8FA471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425696"/>
            <a:ext cx="182880" cy="182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D4BF"/>
          </a:solidFill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419EF2F-164D-4AD3-AE69-57204DEB9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87952"/>
            <a:ext cx="402336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Shipping &amp; port delays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325244CC-6F9A-41B0-AF5D-65AF71EC2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974336"/>
            <a:ext cx="4754880" cy="658368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1B2444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D6499FC5-3A1F-4038-A1F0-0C6C4ADB6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212080"/>
            <a:ext cx="182880" cy="182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83F8DC35-3C8B-49CA-AE22-7BD38D708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74336"/>
            <a:ext cx="402336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New tariffs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0CC1AC31-70B5-4F29-A49D-BF4FBBCB6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1828800"/>
            <a:ext cx="5943600" cy="3794760"/>
          </a:xfrm>
          <a:prstGeom xmlns:a="http://schemas.openxmlformats.org/drawingml/2006/main" prst="roundRect">
            <a:avLst>
              <a:gd name="adj" fmla="val 2410"/>
            </a:avLst>
          </a:prstGeom>
          <a:solidFill xmlns:a="http://schemas.openxmlformats.org/drawingml/2006/main">
            <a:srgbClr val="141B33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C31AFAEA-8623-4E3E-B083-91951F7E2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2057400"/>
            <a:ext cx="5394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2DD4BF"/>
                </a:solidFill>
                <a:latin typeface="Calibri"/>
                <a:ea typeface="Calibri"/>
                <a:cs typeface="Calibri"/>
              </a:rPr>
              <a:t>Manual workflow breaks at four points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660998EA-57FD-4EA6-8888-77ED3BA59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2606040"/>
            <a:ext cx="539496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50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High-volume reporting hides enterprise-relevant events.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F73582CB-E3F1-4618-A820-FC3273A53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474720"/>
            <a:ext cx="292608" cy="292608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F43F5E"/>
          </a:solidFill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4BD7F39-7ED0-4DAB-B0FB-E3722A93C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474720"/>
            <a:ext cx="29260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B0F1E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E8D2954-AD90-4C26-B5C4-0E8996F4E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83280"/>
            <a:ext cx="5029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Relevant events are detected too late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BC951D09-B14F-4F71-98B8-C2F6C762A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005072"/>
            <a:ext cx="292608" cy="292608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F43F5E"/>
          </a:solidFill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4C2CE74F-6D81-4A98-B6F4-51E5B22A8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005072"/>
            <a:ext cx="29260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B0F1E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43F0824F-3CF2-439C-B8B2-04EEC65BA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913632"/>
            <a:ext cx="5029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Unsupported reports create costly false alarms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55771E06-DB9E-4DC4-827E-99B1B5711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535424"/>
            <a:ext cx="292608" cy="292608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F43F5E"/>
          </a:solidFill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C8CF8824-A087-4DA2-96E1-ACC88F751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535424"/>
            <a:ext cx="29260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B0F1E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807C033C-4774-49FE-9F10-4A0C9A193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43984"/>
            <a:ext cx="5029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Dependencies remain scattered across enterprise systems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B746CE33-5224-4078-BEA8-52C595837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5065776"/>
            <a:ext cx="292608" cy="292608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F43F5E"/>
          </a:solidFill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6B4C36CD-1A61-4F72-8947-6F71BDC31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5065776"/>
            <a:ext cx="29260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B0F1E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E1B9B11D-974E-444D-8FBF-F01AE02CD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974336"/>
            <a:ext cx="5029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News rarely produces a feasible operational response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7EEF9098-DD8B-4765-BE5D-8B0F42BC9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B7A9E"/>
                </a:solidFill>
                <a:latin typeface="Calibri"/>
                <a:ea typeface="Calibri"/>
                <a:cs typeface="Calibri"/>
              </a:rPr>
              <a:t>Chainsilience AI</a:t>
            </a:r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652E94E2-0A6E-4AD8-A66C-6B2F9233B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64465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B7A9E"/>
                </a:solidFill>
                <a:latin typeface="Calibri"/>
                <a:ea typeface="Calibri"/>
                <a:cs typeface="Calibri"/>
              </a:rPr>
              <a:t>IDSOL 2026  ·  The Decision Gap</a:t>
            </a:r>
          </a:p>
        </p:txBody>
      </p:sp>
    </p:spTree>
    <p:extLst>
      <p:ext uri="{BB962C8B-B14F-4D97-AF65-F5344CB8AC3E}">
        <p14:creationId xmlns:p14="http://schemas.microsoft.com/office/powerpoint/2010/main" val="58638189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0F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9AE6207-9D00-451F-9F4B-F5AA05129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7200"/>
            <a:ext cx="20116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DD4BF"/>
                </a:solidFill>
                <a:latin typeface="Calibri"/>
                <a:ea typeface="Calibri"/>
                <a:cs typeface="Calibri"/>
              </a:rPr>
              <a:t>WHY IT MATTERS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9AA5F63-6CD6-4573-9C1C-CC0CF88E8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749808"/>
            <a:ext cx="111556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small timing gap can become a stoppage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66E3810-CCE3-4847-98B9-CABF504C6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874520"/>
            <a:ext cx="2697480" cy="2286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B2444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805E86F-1B34-45BA-9087-07436B606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48840"/>
            <a:ext cx="251460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400" b="1">
                <a:solidFill>
                  <a:srgbClr val="2DD4BF"/>
                </a:solidFill>
                <a:latin typeface="Calibri"/>
                <a:ea typeface="Calibri"/>
                <a:cs typeface="Calibri"/>
              </a:rPr>
              <a:t>42%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F348761D-9669-4242-A560-ADB583B6D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63240"/>
            <a:ext cx="224028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lnSpc>
                <a:spcPct val="110000"/>
              </a:lnSpc>
              <a:buNone/>
            </a:pPr>
            <a:r>
              <a:rPr sz="125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qualified wafer volume from one supplier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EFCBD4D-460B-4078-AA17-BBE50DBE8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712" y="1874520"/>
            <a:ext cx="2697480" cy="2286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B2444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9617D947-8165-4BCF-AFBE-6E19C14FE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2148840"/>
            <a:ext cx="251460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400" b="1">
                <a:solidFill>
                  <a:srgbClr val="F59E0B"/>
                </a:solidFill>
                <a:latin typeface="Calibri"/>
                <a:ea typeface="Calibri"/>
                <a:cs typeface="Calibri"/>
              </a:rPr>
              <a:t>12 days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4BB974DB-ABA6-4A4B-85B0-8C2B12056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9312" y="3063240"/>
            <a:ext cx="224028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lnSpc>
                <a:spcPct val="110000"/>
              </a:lnSpc>
              <a:buNone/>
            </a:pPr>
            <a:r>
              <a:rPr sz="125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usable inventory coverage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BFBC410-0D81-435E-B99F-ECF562415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874520"/>
            <a:ext cx="2697480" cy="2286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B2444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75C84B5-A27F-4A09-99C2-88D657C7E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2148840"/>
            <a:ext cx="251460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400" b="1">
                <a:solidFill>
                  <a:srgbClr val="F43F5E"/>
                </a:solidFill>
                <a:latin typeface="Calibri"/>
                <a:ea typeface="Calibri"/>
                <a:cs typeface="Calibri"/>
              </a:rPr>
              <a:t>21 days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C4D6194-B5A1-4BAF-BD14-67E1802BD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1384" y="3063240"/>
            <a:ext cx="224028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lnSpc>
                <a:spcPct val="110000"/>
              </a:lnSpc>
              <a:buNone/>
            </a:pPr>
            <a:r>
              <a:rPr sz="125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illustrative recovery range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8C7943F6-9D3E-4C3C-8486-02010D461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856" y="1874520"/>
            <a:ext cx="2697480" cy="2286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B2444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980AC69-40A5-44E8-B336-3F3CFB2CE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148840"/>
            <a:ext cx="251460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400" b="1">
                <a:solidFill>
                  <a:srgbClr val="38BDF8"/>
                </a:solidFill>
                <a:latin typeface="Calibri"/>
                <a:ea typeface="Calibri"/>
                <a:cs typeface="Calibri"/>
              </a:rPr>
              <a:t>Day 13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0EDDC7D-FB85-4C92-8333-5E7C6A3D0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3063240"/>
            <a:ext cx="224028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lnSpc>
                <a:spcPct val="110000"/>
              </a:lnSpc>
              <a:buNone/>
            </a:pPr>
            <a:r>
              <a:rPr sz="125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projected baseline shortage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0286F375-D71B-4A25-8352-7CF3BABFF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480560"/>
            <a:ext cx="11091672" cy="123444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141B33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FCBCD750-EBD3-4ABE-88E1-AE34489A2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617720"/>
            <a:ext cx="1042416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500" b="1">
                <a:solidFill>
                  <a:srgbClr val="2DD4BF"/>
                </a:solidFill>
                <a:latin typeface="Calibri"/>
                <a:ea typeface="Calibri"/>
                <a:cs typeface="Calibri"/>
              </a:rPr>
              <a:t>Illustrative Orion Controls scenario: concentrated supply, short inventory coverage, and slow recovery create a time-critical enterprise decision.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2561A649-AE6F-4D9A-9D35-0007F8987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B7A9E"/>
                </a:solidFill>
                <a:latin typeface="Calibri"/>
                <a:ea typeface="Calibri"/>
                <a:cs typeface="Calibri"/>
              </a:rPr>
              <a:t>Chainsilience AI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E76FEBC7-AB7F-4703-88E5-199E54EB6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64465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B7A9E"/>
                </a:solidFill>
                <a:latin typeface="Calibri"/>
                <a:ea typeface="Calibri"/>
                <a:cs typeface="Calibri"/>
              </a:rPr>
              <a:t>IDSOL 2026  ·  Why it matters</a:t>
            </a:r>
          </a:p>
        </p:txBody>
      </p:sp>
    </p:spTree>
    <p:extLst>
      <p:ext uri="{BB962C8B-B14F-4D97-AF65-F5344CB8AC3E}">
        <p14:creationId xmlns:p14="http://schemas.microsoft.com/office/powerpoint/2010/main" val="203961661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0F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1E04D1F-636B-423E-AA02-B6FF7C4B2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7200"/>
            <a:ext cx="20116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DD4BF"/>
                </a:solidFill>
                <a:latin typeface="Calibri"/>
                <a:ea typeface="Calibri"/>
                <a:cs typeface="Calibri"/>
              </a:rPr>
              <a:t>CHAINSILIENCE AI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545E4EE-FC2F-49D1-A657-05EABD667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749808"/>
            <a:ext cx="111556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From external signal to governed decision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E6D2A91A-AAB1-48B2-A581-E888F5157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00200"/>
            <a:ext cx="110642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50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Every transition stores confidence, provenance, timestamp, and version.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F9091F0-200F-414E-AE66-F6285B284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377440"/>
            <a:ext cx="2697480" cy="32004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1B2444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AE179CE2-0531-4AF2-A15A-1EC7C76CF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651760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D4BF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1E3F25F6-D1CF-47B9-ADA9-AB8DC61C7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651760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B0F1E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52745897-B6A9-4ECD-A657-7FA1833D7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337560"/>
            <a:ext cx="224028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Detect &amp; Verify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E86F298-7D24-4E51-A5AC-9446A175B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4069080"/>
            <a:ext cx="224028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30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Normalize permitted sources and cross-check disruption claims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E8054ECA-CD1C-4767-9C9F-EAF67231E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712" y="2377440"/>
            <a:ext cx="2697480" cy="32004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1B2444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C5B27DFA-CE11-460F-BB87-69BBFDABF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5032" y="2651760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DE66B551-69F1-4D45-8626-5AD686DAE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5032" y="2651760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B0F1E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8151783-E637-4F5A-8C89-1253E717A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6744" y="3337560"/>
            <a:ext cx="224028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Map Exposure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699986A8-9D93-438B-9C11-D09967268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6744" y="4069080"/>
            <a:ext cx="224028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30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Link events to enterprise parts, routes, products, and orders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B725D595-DEF6-4870-93B1-21AFDD22F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377440"/>
            <a:ext cx="2697480" cy="32004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1B2444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DD025F9C-7E2D-40B9-8D0F-DCD2820EC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7104" y="2651760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232A7CCB-5196-4527-9A3E-7F767F3B9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7104" y="2651760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B0F1E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F16F150B-7EE6-48E8-8301-1E134B373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8816" y="3337560"/>
            <a:ext cx="224028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Quantify Impact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CA08884E-68D8-4F3D-ADE7-B2B735979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8816" y="4069080"/>
            <a:ext cx="224028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30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Deterministic metrics and Monte Carlo scenario analysis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D086FE0A-3FBA-4599-B6CE-E1E3DFCA5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856" y="2377440"/>
            <a:ext cx="2697480" cy="32004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1B2444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708F8358-D9BD-48E7-98DC-C011B7C02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2651760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374C8D5B-D511-401B-AFD9-A29CD231F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2651760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B0F1E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ED8A298B-AF40-439F-99BC-1622134E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0888" y="3337560"/>
            <a:ext cx="224028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Plan &amp; Approve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BD5C14C5-7CBB-453C-B3B3-B439C7B64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0888" y="4069080"/>
            <a:ext cx="224028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30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RAG-grounded options, feasibility checks, and human authorization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927401E8-1A59-4039-9F2B-FAF10F63C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B7A9E"/>
                </a:solidFill>
                <a:latin typeface="Calibri"/>
                <a:ea typeface="Calibri"/>
                <a:cs typeface="Calibri"/>
              </a:rPr>
              <a:t>Chainsilience AI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FB43275D-1B65-45C4-A1E1-4C8572972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64465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B7A9E"/>
                </a:solidFill>
                <a:latin typeface="Calibri"/>
                <a:ea typeface="Calibri"/>
                <a:cs typeface="Calibri"/>
              </a:rPr>
              <a:t>IDSOL 2026  ·  Chainsilience AI</a:t>
            </a:r>
          </a:p>
        </p:txBody>
      </p:sp>
    </p:spTree>
    <p:extLst>
      <p:ext uri="{BB962C8B-B14F-4D97-AF65-F5344CB8AC3E}">
        <p14:creationId xmlns:p14="http://schemas.microsoft.com/office/powerpoint/2010/main" val="42705830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0F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40DD1E9-57F3-427D-A79F-AB9E7F22E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7200"/>
            <a:ext cx="20116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DD4BF"/>
                </a:solidFill>
                <a:latin typeface="Calibri"/>
                <a:ea typeface="Calibri"/>
                <a:cs typeface="Calibri"/>
              </a:rPr>
              <a:t>END-TO-END WORKFLOW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59A84EC-8501-4789-8119-AF38D8EC3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749808"/>
            <a:ext cx="111556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One evidence-preserving intelligence loop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5F17C4D-A09D-4791-87DE-A57674B8A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377440"/>
            <a:ext cx="1737360" cy="219456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1B2444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DB4DC59-6D61-44BD-9D8B-1031CC341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" y="2633472"/>
            <a:ext cx="512064" cy="51206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D4BF"/>
          </a:solidFill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5C86A56-C35A-4502-AB20-57259A8E6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" y="2633472"/>
            <a:ext cx="51206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B0F1E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9A2D2C6-3FE9-4D69-949C-E45173A8D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46120"/>
            <a:ext cx="1645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Collect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14289DD-C93F-47B6-A0C1-C2539766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657600"/>
            <a:ext cx="1517904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lnSpc>
                <a:spcPct val="110000"/>
              </a:lnSpc>
              <a:buNone/>
            </a:pPr>
            <a:r>
              <a:rPr sz="110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Normalize permitted external signals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42998A8F-1633-44D0-AC91-A7FC2178F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7712" y="2377440"/>
            <a:ext cx="210312" cy="2194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6B7A9E"/>
                </a:solidFill>
                <a:latin typeface="Calibri"/>
                <a:ea typeface="Calibri"/>
                <a:cs typeface="Calibri"/>
              </a:rPr>
              <a:t>›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7F2BC076-374A-46D9-82E3-CC1F29DD4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633472"/>
            <a:ext cx="51206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B0F1E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BD1B7461-2E3E-4562-B56A-CB0A9EDB4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48509" y="2364414"/>
            <a:ext cx="1737360" cy="219456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1B2444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1E166C2C-FF12-4212-BE35-CA8645925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42869" y="2629590"/>
            <a:ext cx="512064" cy="51206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35EB07C-FD0B-4E50-A0F4-95540956D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94229" y="3233094"/>
            <a:ext cx="1645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Verify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D655638-5076-4AE2-9085-93975D08D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58237" y="3644574"/>
            <a:ext cx="1517904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lnSpc>
                <a:spcPct val="110000"/>
              </a:lnSpc>
              <a:buNone/>
            </a:pPr>
            <a:r>
              <a:rPr sz="110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Cross-source claims and provenance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7A04013A-27C4-4109-91D8-54DA8732C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3944" y="2377440"/>
            <a:ext cx="210312" cy="2194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6B7A9E"/>
                </a:solidFill>
                <a:latin typeface="Calibri"/>
                <a:ea typeface="Calibri"/>
                <a:cs typeface="Calibri"/>
              </a:rPr>
              <a:t>›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0B85E893-5937-4BBD-97F8-E9AF60F53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04872" y="2364414"/>
            <a:ext cx="1737360" cy="219456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1B2444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D806EDFA-D139-4964-A386-7467C3CBE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03804" y="2620446"/>
            <a:ext cx="512064" cy="51206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B5B63B3D-D7D7-4C45-AEBA-677E71A43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03804" y="2620446"/>
            <a:ext cx="51206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B0F1E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DE632CC7-C6ED-4DF5-BB26-5D52032CD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36876" y="3233094"/>
            <a:ext cx="1645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Filter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582C2479-8D58-419D-850D-F073F84EB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00884" y="3644574"/>
            <a:ext cx="1517904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lnSpc>
                <a:spcPct val="110000"/>
              </a:lnSpc>
              <a:buNone/>
            </a:pPr>
            <a:r>
              <a:rPr sz="110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LLM relevance to enterprise entities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F6A967BC-BEA5-4D11-8506-6F105C84F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0176" y="2377440"/>
            <a:ext cx="210312" cy="2194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6B7A9E"/>
                </a:solidFill>
                <a:latin typeface="Calibri"/>
                <a:ea typeface="Calibri"/>
                <a:cs typeface="Calibri"/>
              </a:rPr>
              <a:t>›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027D9261-4444-4E6D-B767-A9FE7E77A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7336" y="2377440"/>
            <a:ext cx="1737360" cy="219456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1B2444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9FC6B1F8-1C94-4E7A-BE9F-4DFFBB397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9984" y="2633472"/>
            <a:ext cx="512064" cy="51206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B2854BD8-6241-4AAB-A031-4E35A4A75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9984" y="2633472"/>
            <a:ext cx="51206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B0F1E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59F78897-6514-46FE-942F-22EB788C0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3056" y="3246120"/>
            <a:ext cx="1645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Map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63AE33DE-D872-4EF8-BBFF-FE2E517A4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7064" y="3657600"/>
            <a:ext cx="1517904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lnSpc>
                <a:spcPct val="110000"/>
              </a:lnSpc>
              <a:buNone/>
            </a:pPr>
            <a:r>
              <a:rPr sz="110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Knowledge graph to twin snapshot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2461D59E-62BF-4D19-83AF-57A33721F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6408" y="2377440"/>
            <a:ext cx="210312" cy="2194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6B7A9E"/>
                </a:solidFill>
                <a:latin typeface="Calibri"/>
                <a:ea typeface="Calibri"/>
                <a:cs typeface="Calibri"/>
              </a:rPr>
              <a:t>›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B359EE0E-A064-48AF-B8B4-59B814F75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3568" y="2377440"/>
            <a:ext cx="1737360" cy="219456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1B2444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B2AE3995-CC47-4DE1-AF34-DA95ED933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6216" y="2633472"/>
            <a:ext cx="512064" cy="51206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3F5E"/>
          </a:solidFill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6C5F7238-74B4-4155-AB55-F34FD28D0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6216" y="2633472"/>
            <a:ext cx="51206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B0F1E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BFBBB5FC-C225-4189-99C5-5193A93E3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9288" y="3246120"/>
            <a:ext cx="1645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Simulate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0FA1A38E-27F1-4445-A3AB-1579F0438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296" y="3657600"/>
            <a:ext cx="1517904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lnSpc>
                <a:spcPct val="110000"/>
              </a:lnSpc>
              <a:buNone/>
            </a:pPr>
            <a:r>
              <a:rPr sz="110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DOC, shortage, cost, scenario frequency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FC36ADEE-9535-49F6-8A89-4B8C041B2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2377440"/>
            <a:ext cx="210312" cy="2194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6B7A9E"/>
                </a:solidFill>
                <a:latin typeface="Calibri"/>
                <a:ea typeface="Calibri"/>
                <a:cs typeface="Calibri"/>
              </a:rPr>
              <a:t>›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0035938F-C9BF-4E2A-B59F-0C7BC71F3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377440"/>
            <a:ext cx="1737360" cy="219456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1B2444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3E2BE0D6-8363-4756-BE9A-428C5A161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2633472"/>
            <a:ext cx="512064" cy="51206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D4BF"/>
          </a:solidFill>
        </p:spPr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7957D9D9-E9BA-467C-BECF-9D9AEBACB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2633472"/>
            <a:ext cx="51206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B0F1E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1DDA4955-D8FB-4ECC-8D81-E7D44309A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3246120"/>
            <a:ext cx="1645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Plan</a:t>
            </a:r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E3A8F938-B3BA-434E-B3AF-CD3C8F704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9528" y="3657600"/>
            <a:ext cx="1517904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lnSpc>
                <a:spcPct val="110000"/>
              </a:lnSpc>
              <a:buNone/>
            </a:pPr>
            <a:r>
              <a:rPr sz="110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RAG-grounded options and approval-gated actions</a:t>
            </a:r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AC5AC5D7-CCAB-40C1-86F9-C63E4424A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892040"/>
            <a:ext cx="11091672" cy="86868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41B33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AC1F5602-2B99-41F9-BD7D-338E11B26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892040"/>
            <a:ext cx="1042416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400" b="1">
                <a:solidFill>
                  <a:srgbClr val="2DD4BF"/>
                </a:solidFill>
                <a:latin typeface="Calibri"/>
                <a:ea typeface="Calibri"/>
                <a:cs typeface="Calibri"/>
              </a:rPr>
              <a:t>New confirmations, inventory changes, shipment data, and production results update the versioned twin while preserving before-and-after evidence.</a:t>
            </a:r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02D45641-F862-45F3-A496-A262A5AF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B7A9E"/>
                </a:solidFill>
                <a:latin typeface="Calibri"/>
                <a:ea typeface="Calibri"/>
                <a:cs typeface="Calibri"/>
              </a:rPr>
              <a:t>Chainsilience AI</a:t>
            </a: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E3556668-9711-451F-BABF-0F37CB145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64465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B7A9E"/>
                </a:solidFill>
                <a:latin typeface="Calibri"/>
                <a:ea typeface="Calibri"/>
                <a:cs typeface="Calibri"/>
              </a:rPr>
              <a:t>IDSOL 2026  ·  End-to-End Workflow</a:t>
            </a:r>
          </a:p>
        </p:txBody>
      </p:sp>
      <p:sp>
        <p:nvSpPr>
          <p:cNvPr id="46" name="TextBox 45">
            <a:extLst xmlns:a="http://schemas.openxmlformats.org/drawingml/2006/main">
              <a:ext uri="{FF2B5EF4-FFF2-40B4-BE49-F238E27FC236}">
                <a16:creationId xmlns:a16="http://schemas.microsoft.com/office/drawing/2014/main" id="{F44A99FC-301E-8D86-EF0D-2F594737E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2869" y="2724039"/>
            <a:ext cx="514393" cy="3231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500" b="1">
                <a:solidFill>
                  <a:srgbClr val="0B0F1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B0F1E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2574741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0F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9D4CCBE-C0EB-4EE5-8765-B5F9F06E1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7200"/>
            <a:ext cx="20116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DD4BF"/>
                </a:solidFill>
                <a:latin typeface="Calibri"/>
                <a:ea typeface="Calibri"/>
                <a:cs typeface="Calibri"/>
              </a:rPr>
              <a:t>RAG &amp; VERIFICATION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5CA3821-D0CC-40C2-BCB6-E1E8AA107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749808"/>
            <a:ext cx="111556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Evidence enters the LLM before an answer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7CF11A8-4A55-42EE-82D5-2092106B0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00200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50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RAG retrieves authorized records; verification flags unreliable, contradictory, unsupported, or low-confidence claims.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C1DBAD0-398B-40F7-BE87-874A8684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4409" y="2331720"/>
            <a:ext cx="3611880" cy="2286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B2444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BCB9FAD-EA7A-4D86-B3BB-E11A02AAB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4914" y="257860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9BD765EB-2C03-4386-A235-962ECAB67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0441" y="2578608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B0F1E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D413910-1FED-4B5F-8C08-50DD91424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3089" y="2578608"/>
            <a:ext cx="2606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External evidence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872E250-79F5-4EA4-92CD-4BB86B6FA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8729" y="3246120"/>
            <a:ext cx="310896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8000"/>
              </a:lnSpc>
              <a:buNone/>
            </a:pPr>
            <a:r>
              <a:rPr sz="125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Government advisories, feeds, trade notices, disclosures, trusted media, and cited passages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B092FD86-2128-40EA-932F-03952E910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53766" y="2331720"/>
            <a:ext cx="3611880" cy="2286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B2444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82DF1592-9C80-4958-AB46-F64DC7255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22446" y="2578608"/>
            <a:ext cx="2606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Enterprise context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2C54DE9-70FD-4B78-9B80-F32E7E3CD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28086" y="3246120"/>
            <a:ext cx="310896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8000"/>
              </a:lnSpc>
              <a:buNone/>
            </a:pPr>
            <a:r>
              <a:rPr sz="125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Approved suppliers, substitutes, contracts, policies, capacities, routes, and prior responses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FC87E0DD-A8DF-462B-B989-7CAD231BA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B7A9E"/>
                </a:solidFill>
                <a:latin typeface="Calibri"/>
                <a:ea typeface="Calibri"/>
                <a:cs typeface="Calibri"/>
              </a:rPr>
              <a:t>Chainsilience AI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AD6CCB8-1D8E-42DE-ABA8-778AAEE5D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64465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B7A9E"/>
                </a:solidFill>
                <a:latin typeface="Calibri"/>
                <a:ea typeface="Calibri"/>
                <a:cs typeface="Calibri"/>
              </a:rPr>
              <a:t>IDSOL 2026  ·  RAG &amp; Verification</a:t>
            </a:r>
          </a:p>
        </p:txBody>
      </p:sp>
      <p:sp>
        <p:nvSpPr>
          <p:cNvPr id="26" name="Shape 9">
            <a:extLst xmlns:a="http://schemas.openxmlformats.org/drawingml/2006/main">
              <a:ext uri="{FF2B5EF4-FFF2-40B4-BE49-F238E27FC236}">
                <a16:creationId xmlns:a16="http://schemas.microsoft.com/office/drawing/2014/main" id="{3C042931-EF02-9889-8877-9759D7B78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812" y="257860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D4BF"/>
          </a:solidFill>
        </p:spPr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638BA51F-5805-580E-4052-41BFCACFC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8482" y="2627338"/>
            <a:ext cx="301407" cy="3231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500" b="1">
                <a:solidFill>
                  <a:srgbClr val="0B0F1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B0F1E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894826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0F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4B33DE7-E80A-4481-96EF-1DDF081B7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7200"/>
            <a:ext cx="20116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DD4BF"/>
                </a:solidFill>
                <a:latin typeface="Calibri"/>
                <a:ea typeface="Calibri"/>
                <a:cs typeface="Calibri"/>
              </a:rPr>
              <a:t>THE DIGITAL TWIN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F79C966-30DD-41EC-B940-4A998CC01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749808"/>
            <a:ext cx="111556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Knowledge graph turns relevance into exposure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210291E-7B21-4EA0-86B0-48BD62829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0"/>
            <a:ext cx="48463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45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Authorized enterprise data becomes a versioned graph plus time-indexed operational state.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D81F2FF2-045B-4DD3-8E16-C52B2EED0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880360"/>
            <a:ext cx="1120140" cy="411480"/>
          </a:xfrm>
          <a:prstGeom xmlns:a="http://schemas.openxmlformats.org/drawingml/2006/main" prst="roundRect">
            <a:avLst>
              <a:gd name="adj" fmla="val 48889"/>
            </a:avLst>
          </a:prstGeom>
          <a:solidFill xmlns:a="http://schemas.openxmlformats.org/drawingml/2006/main">
            <a:srgbClr val="202C52"/>
          </a:solidFill>
          <a:ln xmlns:a="http://schemas.openxmlformats.org/drawingml/2006/main" w="9525">
            <a:solidFill>
              <a:srgbClr val="2DD4BF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2FAF1D0-F77D-4A75-9F31-A5BE18BE3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880360"/>
            <a:ext cx="11201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Suppliers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3E25E615-B7C7-413A-AAC7-526878316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3372" y="2880360"/>
            <a:ext cx="1120140" cy="411480"/>
          </a:xfrm>
          <a:prstGeom xmlns:a="http://schemas.openxmlformats.org/drawingml/2006/main" prst="roundRect">
            <a:avLst>
              <a:gd name="adj" fmla="val 48889"/>
            </a:avLst>
          </a:prstGeom>
          <a:solidFill xmlns:a="http://schemas.openxmlformats.org/drawingml/2006/main">
            <a:srgbClr val="202C52"/>
          </a:solidFill>
          <a:ln xmlns:a="http://schemas.openxmlformats.org/drawingml/2006/main" w="9525">
            <a:solidFill>
              <a:srgbClr val="2DD4BF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5FB6EF6-29E7-47E7-AA35-E1EDA3002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3372" y="2880360"/>
            <a:ext cx="11201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Sites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E9293BB1-91BF-49A3-947F-BEA635E7C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8104" y="2880360"/>
            <a:ext cx="1216152" cy="411480"/>
          </a:xfrm>
          <a:prstGeom xmlns:a="http://schemas.openxmlformats.org/drawingml/2006/main" prst="roundRect">
            <a:avLst>
              <a:gd name="adj" fmla="val 48889"/>
            </a:avLst>
          </a:prstGeom>
          <a:solidFill xmlns:a="http://schemas.openxmlformats.org/drawingml/2006/main">
            <a:srgbClr val="202C52"/>
          </a:solidFill>
          <a:ln xmlns:a="http://schemas.openxmlformats.org/drawingml/2006/main" w="9525">
            <a:solidFill>
              <a:srgbClr val="2DD4BF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3B9046CE-D3D2-4A2F-9BDF-B7D77A61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8104" y="2880360"/>
            <a:ext cx="1216152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Inventory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984BBF77-B792-4A5E-BF7D-B1CAC8D9F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8848" y="2880360"/>
            <a:ext cx="736092" cy="411480"/>
          </a:xfrm>
          <a:prstGeom xmlns:a="http://schemas.openxmlformats.org/drawingml/2006/main" prst="roundRect">
            <a:avLst>
              <a:gd name="adj" fmla="val 48889"/>
            </a:avLst>
          </a:prstGeom>
          <a:solidFill xmlns:a="http://schemas.openxmlformats.org/drawingml/2006/main">
            <a:srgbClr val="202C52"/>
          </a:solidFill>
          <a:ln xmlns:a="http://schemas.openxmlformats.org/drawingml/2006/main" w="9525">
            <a:solidFill>
              <a:srgbClr val="2DD4B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ED35427-ABA5-4B9A-AA56-748EFED8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8848" y="2880360"/>
            <a:ext cx="736092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Routes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D7F456ED-6372-41CB-BBC1-580BCDD1A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29000"/>
            <a:ext cx="1024128" cy="411480"/>
          </a:xfrm>
          <a:prstGeom xmlns:a="http://schemas.openxmlformats.org/drawingml/2006/main" prst="roundRect">
            <a:avLst>
              <a:gd name="adj" fmla="val 48889"/>
            </a:avLst>
          </a:prstGeom>
          <a:solidFill xmlns:a="http://schemas.openxmlformats.org/drawingml/2006/main">
            <a:srgbClr val="202C52"/>
          </a:solidFill>
          <a:ln xmlns:a="http://schemas.openxmlformats.org/drawingml/2006/main" w="9525">
            <a:solidFill>
              <a:srgbClr val="2DD4BF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7B2CFF1B-C56B-436F-8339-56798EFA8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29000"/>
            <a:ext cx="102412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Products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ACF797FF-CA9A-43E0-BEFC-CEFEDF263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360" y="3429000"/>
            <a:ext cx="1216152" cy="411480"/>
          </a:xfrm>
          <a:prstGeom xmlns:a="http://schemas.openxmlformats.org/drawingml/2006/main" prst="roundRect">
            <a:avLst>
              <a:gd name="adj" fmla="val 48889"/>
            </a:avLst>
          </a:prstGeom>
          <a:solidFill xmlns:a="http://schemas.openxmlformats.org/drawingml/2006/main">
            <a:srgbClr val="202C52"/>
          </a:solidFill>
          <a:ln xmlns:a="http://schemas.openxmlformats.org/drawingml/2006/main" w="9525">
            <a:solidFill>
              <a:srgbClr val="2DD4BF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161E47F1-9A6D-4D0E-ABF2-435E6B3E6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360" y="3429000"/>
            <a:ext cx="1216152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Components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A4FC3988-E664-44B9-8ECB-A31CF50FB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8104" y="3429000"/>
            <a:ext cx="832104" cy="411480"/>
          </a:xfrm>
          <a:prstGeom xmlns:a="http://schemas.openxmlformats.org/drawingml/2006/main" prst="roundRect">
            <a:avLst>
              <a:gd name="adj" fmla="val 48889"/>
            </a:avLst>
          </a:prstGeom>
          <a:solidFill xmlns:a="http://schemas.openxmlformats.org/drawingml/2006/main">
            <a:srgbClr val="202C52"/>
          </a:solidFill>
          <a:ln xmlns:a="http://schemas.openxmlformats.org/drawingml/2006/main" w="9525">
            <a:solidFill>
              <a:srgbClr val="2DD4BF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67E6D730-2CF9-49B7-ABE2-FA47A901D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8104" y="3429000"/>
            <a:ext cx="832104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Orders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FFE8FB4B-AC38-40DC-8EA6-9F2C1D348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429000"/>
            <a:ext cx="1120140" cy="411480"/>
          </a:xfrm>
          <a:prstGeom xmlns:a="http://schemas.openxmlformats.org/drawingml/2006/main" prst="roundRect">
            <a:avLst>
              <a:gd name="adj" fmla="val 48889"/>
            </a:avLst>
          </a:prstGeom>
          <a:solidFill xmlns:a="http://schemas.openxmlformats.org/drawingml/2006/main">
            <a:srgbClr val="202C52"/>
          </a:solidFill>
          <a:ln xmlns:a="http://schemas.openxmlformats.org/drawingml/2006/main" w="9525">
            <a:solidFill>
              <a:srgbClr val="2DD4BF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36001F2C-A1A2-43D5-96D0-7B6D8495B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429000"/>
            <a:ext cx="11201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Customers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21F5EF32-2682-4D10-936A-2AAFBDD8A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934" y="3886200"/>
            <a:ext cx="489204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300" b="1">
                <a:solidFill>
                  <a:srgbClr val="6B7A9E"/>
                </a:solidFill>
                <a:latin typeface="Calibri"/>
                <a:ea typeface="Calibri"/>
                <a:cs typeface="Calibri"/>
              </a:rPr>
              <a:t>State includes inventory, demand, capacity, lead time, routes, orders, priorities, source, and effective time.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6856977F-4B68-4E08-816F-F1D9390B1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9008" y="1705356"/>
            <a:ext cx="5879592" cy="4160520"/>
          </a:xfrm>
          <a:prstGeom xmlns:a="http://schemas.openxmlformats.org/drawingml/2006/main" prst="roundRect">
            <a:avLst>
              <a:gd name="adj" fmla="val 2198"/>
            </a:avLst>
          </a:prstGeom>
          <a:solidFill xmlns:a="http://schemas.openxmlformats.org/drawingml/2006/main">
            <a:srgbClr val="141B33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2AF9C343-22C5-419F-A54A-DDA29A153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874520"/>
            <a:ext cx="5303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2DD4BF"/>
                </a:solidFill>
                <a:latin typeface="Calibri"/>
                <a:ea typeface="Calibri"/>
                <a:cs typeface="Calibri"/>
              </a:rPr>
              <a:t>Illustrative affected path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E02E12F1-34FA-4EAB-AC8A-6C1A11460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2377440"/>
            <a:ext cx="2926080" cy="402336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B2444"/>
          </a:solidFill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E3B58E68-A07C-4CB7-A578-807110813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505456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D4BF"/>
          </a:solidFill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463D45D0-66B3-47BC-9B96-B14EC719B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377440"/>
            <a:ext cx="23774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Taiwan earthquake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7C96F727-A5C1-4223-BD9A-4094856B5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9720" y="2377440"/>
            <a:ext cx="21945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6B7A9E"/>
                </a:solidFill>
                <a:latin typeface="Calibri"/>
                <a:ea typeface="Calibri"/>
                <a:cs typeface="Calibri"/>
              </a:rPr>
              <a:t>↓ affects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DD127266-DC63-4980-BF37-892CF98AA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2944368"/>
            <a:ext cx="2926080" cy="402336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B2444"/>
          </a:solidFill>
        </p:spPr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D36F7706-5869-415C-B953-917C721E1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072384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ED2A3218-1C13-471D-9BC7-1E282732C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944368"/>
            <a:ext cx="23774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Supplier A site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CFDBBF55-9B77-4EB0-8CEF-D24378413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9720" y="2944368"/>
            <a:ext cx="21945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6B7A9E"/>
                </a:solidFill>
                <a:latin typeface="Calibri"/>
                <a:ea typeface="Calibri"/>
                <a:cs typeface="Calibri"/>
              </a:rPr>
              <a:t>↓ supplies</a:t>
            </a:r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64052669-6C0A-489E-B37B-CEA09F3A2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511296"/>
            <a:ext cx="2926080" cy="402336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B2444"/>
          </a:solidFill>
        </p:spPr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4425C6D0-0C31-4D80-8134-925ED5158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639312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0A41FAE8-200D-472A-A2B6-874A80A81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511296"/>
            <a:ext cx="23774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Controller chip</a:t>
            </a:r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E347DD46-AC6A-4C6C-A532-0923D7990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9720" y="3511296"/>
            <a:ext cx="21945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6B7A9E"/>
                </a:solidFill>
                <a:latin typeface="Calibri"/>
                <a:ea typeface="Calibri"/>
                <a:cs typeface="Calibri"/>
              </a:rPr>
              <a:t>↓ required by</a:t>
            </a: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EFF7A967-AD5C-4750-9362-E669F65F9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4078224"/>
            <a:ext cx="2926080" cy="402336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B2444"/>
          </a:solidFill>
        </p:spPr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31939E24-47B8-4BC4-9F07-401D7AA41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206240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</p:spPr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4A9F274A-8A0E-4BF1-B7AB-B4B72D32D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078224"/>
            <a:ext cx="23774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 product SKUs</a:t>
            </a: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0B815EB1-26D8-4E4B-81DE-9FBF971BB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9720" y="4078224"/>
            <a:ext cx="21945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6B7A9E"/>
                </a:solidFill>
                <a:latin typeface="Calibri"/>
                <a:ea typeface="Calibri"/>
                <a:cs typeface="Calibri"/>
              </a:rPr>
              <a:t>↓ fulfills</a:t>
            </a:r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2C98B1B1-C56E-419B-9C1D-AEB2A6C9F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4645152"/>
            <a:ext cx="2926080" cy="402336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B2444"/>
          </a:solidFill>
        </p:spPr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800A6C12-FDF1-470F-ACE5-1BDAE9089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773168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</p:spPr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69FDDF1E-9348-4995-B123-B1F83B697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645152"/>
            <a:ext cx="23774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 customer orders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C761E62F-2375-4A2D-8B3D-B0CC8CA5B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9720" y="4645152"/>
            <a:ext cx="21945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6B7A9E"/>
                </a:solidFill>
                <a:latin typeface="Calibri"/>
                <a:ea typeface="Calibri"/>
                <a:cs typeface="Calibri"/>
              </a:rPr>
              <a:t>↓ owned by</a:t>
            </a:r>
          </a:p>
        </p:txBody>
      </p:sp>
      <p:sp>
        <p:nvSpPr>
          <p:cNvPr id="44" name="Shape 42">
            <a:extLst xmlns:a="http://schemas.openxmlformats.org/drawingml/2006/main">
              <a:ext uri="{FF2B5EF4-FFF2-40B4-BE49-F238E27FC236}">
                <a16:creationId xmlns:a16="http://schemas.microsoft.com/office/drawing/2014/main" id="{450A40F2-3447-4B9B-9705-6B4947B56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5212080"/>
            <a:ext cx="2926080" cy="402336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B2444"/>
          </a:solidFill>
        </p:spPr>
      </p:sp>
      <p:sp>
        <p:nvSpPr>
          <p:cNvPr id="45" name="Shape 43">
            <a:extLst xmlns:a="http://schemas.openxmlformats.org/drawingml/2006/main">
              <a:ext uri="{FF2B5EF4-FFF2-40B4-BE49-F238E27FC236}">
                <a16:creationId xmlns:a16="http://schemas.microsoft.com/office/drawing/2014/main" id="{BC008766-7A38-4F29-ABE1-835598807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5340096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D4BF"/>
          </a:solidFill>
        </p:spPr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F2EE24BF-E88C-4C2F-8823-0868225CE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5212080"/>
            <a:ext cx="23774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Enterprise teams</a:t>
            </a:r>
          </a:p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054DAC49-E0EA-470F-9127-56D31A6D1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B7A9E"/>
                </a:solidFill>
                <a:latin typeface="Calibri"/>
                <a:ea typeface="Calibri"/>
                <a:cs typeface="Calibri"/>
              </a:rPr>
              <a:t>Chainsilience AI</a:t>
            </a:r>
          </a:p>
        </p:txBody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7C2D00E7-4143-4DDC-B7BA-C817D43B4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64465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B7A9E"/>
                </a:solidFill>
                <a:latin typeface="Calibri"/>
                <a:ea typeface="Calibri"/>
                <a:cs typeface="Calibri"/>
              </a:rPr>
              <a:t>IDSOL 2026  ·  The Digital Twin</a:t>
            </a:r>
          </a:p>
        </p:txBody>
      </p:sp>
    </p:spTree>
    <p:extLst>
      <p:ext uri="{BB962C8B-B14F-4D97-AF65-F5344CB8AC3E}">
        <p14:creationId xmlns:p14="http://schemas.microsoft.com/office/powerpoint/2010/main" val="84445478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0F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CD4A71A-A0BC-44CB-A767-4A0CA1DB0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7200"/>
            <a:ext cx="20116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DD4BF"/>
                </a:solidFill>
                <a:latin typeface="Calibri"/>
                <a:ea typeface="Calibri"/>
                <a:cs typeface="Calibri"/>
              </a:rPr>
              <a:t>HYBRID DSAI STACK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F7C95C5-A96E-4251-A3CA-00EC492C1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749808"/>
            <a:ext cx="111556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Each component performs one accountable job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B5B7509-D9F3-48BE-A472-0F4D7842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0"/>
            <a:ext cx="54864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2DD4BF"/>
                </a:solidFill>
                <a:latin typeface="Calibri"/>
                <a:ea typeface="Calibri"/>
                <a:cs typeface="Calibri"/>
              </a:rPr>
              <a:t>Language understanding, structured context, quantitative analysis, and authorization remain separate.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1007C16-38EB-48A0-8045-9B7A9CF36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148840"/>
            <a:ext cx="5577840" cy="566928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1B2444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56F8D1A-D614-413A-B0F8-7DAFB36B8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40864"/>
            <a:ext cx="182880" cy="182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D4BF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4AE7EFA-E987-4766-86F4-4933A849A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148840"/>
            <a:ext cx="26517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LLM + NLP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8C2A453-094A-42D4-8F68-5AF6DBC4E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148840"/>
            <a:ext cx="23774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5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Relevance, extraction, explanation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45471DCA-32BC-4497-B119-5A3A9A338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88920"/>
            <a:ext cx="5577840" cy="566928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1B2444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EF39A29A-D97B-4554-AB80-0898E645C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980944"/>
            <a:ext cx="182880" cy="182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F1250726-FBD2-4026-ADA7-FE22221DF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788920"/>
            <a:ext cx="26517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RAG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3B48C7E-74D6-4CB4-82BE-364ED88B6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788920"/>
            <a:ext cx="23774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5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Authorized evidence and constraints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0EB862F1-7505-4D87-991C-9712A179F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29000"/>
            <a:ext cx="5577840" cy="566928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1B2444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A44621E5-7FDE-46E1-97A3-9720973E7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621024"/>
            <a:ext cx="182880" cy="182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292685EE-592C-454F-B01B-ADB49B92A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429000"/>
            <a:ext cx="26517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Knowledge graph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41411FE2-B3CD-478F-B814-C4B652BFE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429000"/>
            <a:ext cx="23774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5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Affected dependency paths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7F02CA72-B230-4EBF-97DD-A75C27EF4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069080"/>
            <a:ext cx="5577840" cy="566928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1B2444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48BE23F7-0C77-4533-AE52-C8D03C105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261104"/>
            <a:ext cx="182880" cy="182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3F5E"/>
          </a:solidFill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E78AA61C-8206-4267-B5F8-09BB4328D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069080"/>
            <a:ext cx="26517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Digital twin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B568E9FB-B414-45AA-B053-65AEC84EC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069080"/>
            <a:ext cx="23774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5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Versioned enterprise state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3A9B2B0D-3279-4981-BD07-4905C45E0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09160"/>
            <a:ext cx="5577840" cy="566928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1B2444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737A94EA-C146-4BCB-A6D4-3F756BDEA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901184"/>
            <a:ext cx="182880" cy="182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A17123BE-9099-4906-A870-3B22C7789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709160"/>
            <a:ext cx="26517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Simulation + optimization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1C1625BB-644C-4A6F-8C4C-C610647FE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709160"/>
            <a:ext cx="23774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5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Impact, feasibility, trade-offs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F47C4D3B-C595-4FEE-9FC4-20D1E3FC6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49240"/>
            <a:ext cx="5577840" cy="566928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1B2444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2AA939BA-2525-4B74-8581-5D879F1DA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541264"/>
            <a:ext cx="182880" cy="182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F88D9E3F-6684-440A-9DED-F48AE8742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5349240"/>
            <a:ext cx="26517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Policy + human approval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B5531C4F-E4B4-4FB9-B630-3DEE998C7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349240"/>
            <a:ext cx="23774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5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Authorization and accountability</a:t>
            </a:r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19353FDC-78A0-4020-A8F1-9A998C6B8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737360"/>
            <a:ext cx="5193792" cy="41148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141B33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E542EFA3-489B-4206-92BF-77AEB22A2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057400"/>
            <a:ext cx="5193792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600" b="1">
                <a:solidFill>
                  <a:srgbClr val="F43F5E"/>
                </a:solidFill>
                <a:latin typeface="Calibri"/>
                <a:ea typeface="Calibri"/>
                <a:cs typeface="Calibri"/>
              </a:rPr>
              <a:t>HYBRID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D6B994B5-6B24-420B-9E80-95FD05778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3429000"/>
            <a:ext cx="519379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LANGUAGE  +  DATA  +  MODELS</a:t>
            </a:r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36EA2868-2A55-4E88-845D-DFAF0F11E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14800"/>
            <a:ext cx="43708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02C52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2FD1FEB5-8109-4630-A432-D374367DE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297680"/>
            <a:ext cx="4370832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350" b="1">
                <a:solidFill>
                  <a:srgbClr val="2DD4BF"/>
                </a:solidFill>
                <a:latin typeface="Calibri"/>
                <a:ea typeface="Calibri"/>
                <a:cs typeface="Calibri"/>
              </a:rPr>
              <a:t>The LLM interprets and coordinates. Numerical services calculate. Enterprise policy and authorized roles decide.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616E96F1-A00E-429B-AD97-E1E5F0E11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B7A9E"/>
                </a:solidFill>
                <a:latin typeface="Calibri"/>
                <a:ea typeface="Calibri"/>
                <a:cs typeface="Calibri"/>
              </a:rPr>
              <a:t>Chainsilience AI</a:t>
            </a:r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2E302045-253D-4922-8B6A-23F1A6248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64465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B7A9E"/>
                </a:solidFill>
                <a:latin typeface="Calibri"/>
                <a:ea typeface="Calibri"/>
                <a:cs typeface="Calibri"/>
              </a:rPr>
              <a:t>IDSOL 2026  ·  Hybrid DSAI Stack</a:t>
            </a:r>
          </a:p>
        </p:txBody>
      </p:sp>
    </p:spTree>
    <p:extLst>
      <p:ext uri="{BB962C8B-B14F-4D97-AF65-F5344CB8AC3E}">
        <p14:creationId xmlns:p14="http://schemas.microsoft.com/office/powerpoint/2010/main" val="44351419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0F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6128093-E0E6-42CC-AEA5-236EFDBCF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7200"/>
            <a:ext cx="20116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DD4BF"/>
                </a:solidFill>
                <a:latin typeface="Calibri"/>
                <a:ea typeface="Calibri"/>
                <a:cs typeface="Calibri"/>
              </a:rPr>
              <a:t>IMPACT ENGINE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B7918B5-8894-4B20-AAA9-F436068BC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749808"/>
            <a:ext cx="111556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Operational impact becomes reproducible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EC8C8558-FA90-48C0-91F2-01D25309B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00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Illustrative Orion Controls outputs from one frozen enterprise snapshot.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7050C33-AF53-47D6-AD39-AE74F6EA6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194560"/>
            <a:ext cx="3566160" cy="16002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B2444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A33FB31-E493-4FFF-970D-B1488DFDA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395728"/>
            <a:ext cx="30175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000" b="1">
                <a:solidFill>
                  <a:srgbClr val="38BDF8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93D4539-75A3-454E-A13D-36B1D296E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218688"/>
            <a:ext cx="30175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projected shortage day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7A6B58D5-3F34-4200-8208-76AC3C913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392" y="2194560"/>
            <a:ext cx="3566160" cy="16002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B2444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48696B2-3827-4845-ACFA-C62859001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3712" y="2395728"/>
            <a:ext cx="30175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000" b="1">
                <a:solidFill>
                  <a:srgbClr val="F59E0B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01F03C2B-98E0-48E4-9857-C77D5BF78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18688"/>
            <a:ext cx="30175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days of inventory coverage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2E1A682E-8969-4842-B4AD-C69DF806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144" y="2194560"/>
            <a:ext cx="3566160" cy="16002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B2444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FC51351-184F-4056-9A7D-AB240B746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2395728"/>
            <a:ext cx="30175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000" b="1">
                <a:solidFill>
                  <a:srgbClr val="F43F5E"/>
                </a:solidFill>
                <a:latin typeface="Calibri"/>
                <a:ea typeface="Calibri"/>
                <a:cs typeface="Calibri"/>
              </a:rPr>
              <a:t>71%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C823491C-2921-41A6-A705-DAC576443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3218688"/>
            <a:ext cx="30175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stoppage scenario frequency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7EDDAC0E-B492-41F1-B487-B887E7073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77640"/>
            <a:ext cx="3566160" cy="16002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B2444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67B4A5B-EBE2-4D1E-9C2B-44378C0FA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178808"/>
            <a:ext cx="30175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000" b="1">
                <a:solidFill>
                  <a:srgbClr val="2DD4BF"/>
                </a:solidFill>
                <a:latin typeface="Calibri"/>
                <a:ea typeface="Calibri"/>
                <a:cs typeface="Calibri"/>
              </a:rPr>
              <a:t>$180K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9F333C52-7415-4371-B148-F79C96739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001768"/>
            <a:ext cx="30175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mitigation cost estimate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AFCD55AB-444F-4B0D-AE36-8656CE76B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392" y="3977640"/>
            <a:ext cx="3566160" cy="16002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B2444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5686D701-4401-4D8E-A827-81EF2002A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3712" y="4178808"/>
            <a:ext cx="30175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000" b="1">
                <a:solidFill>
                  <a:srgbClr val="F59E0B"/>
                </a:solidFill>
                <a:latin typeface="Calibri"/>
                <a:ea typeface="Calibri"/>
                <a:cs typeface="Calibri"/>
              </a:rPr>
              <a:t>3 weeks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E70FF943-CC30-4A6D-A112-B0C5F6CD6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001768"/>
            <a:ext cx="30175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illustrative recovery range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A34A2D03-1C4C-4E52-872D-EC4E2C6A8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144" y="3977640"/>
            <a:ext cx="3566160" cy="16002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B2444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5A9DB214-1BB6-4D40-88D3-54190913F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4178808"/>
            <a:ext cx="30175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000" b="1">
                <a:solidFill>
                  <a:srgbClr val="38BDF8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FFB2C6C7-67DE-486A-B40F-5B82A65C6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5001768"/>
            <a:ext cx="30175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customer orders on affected path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56C255B2-F98E-4C1A-A8CC-7519990B1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806440"/>
            <a:ext cx="110642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2DD4BF"/>
                </a:solidFill>
                <a:latin typeface="Calibri"/>
                <a:ea typeface="Calibri"/>
                <a:cs typeface="Calibri"/>
              </a:rPr>
              <a:t>Method: deterministic inventory and cost calculations plus Monte Carlo simulation. The LLM explains outputs and uncertainty; the LLM does not perform the calculations.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9057EC92-D286-4D44-B044-040F76B13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B7A9E"/>
                </a:solidFill>
                <a:latin typeface="Calibri"/>
                <a:ea typeface="Calibri"/>
                <a:cs typeface="Calibri"/>
              </a:rPr>
              <a:t>Chainsilience AI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FE501D0-478D-4D22-B447-A8FD3E04B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64465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B7A9E"/>
                </a:solidFill>
                <a:latin typeface="Calibri"/>
                <a:ea typeface="Calibri"/>
                <a:cs typeface="Calibri"/>
              </a:rPr>
              <a:t>IDSOL 2026  ·  Impact Engine</a:t>
            </a:r>
          </a:p>
        </p:txBody>
      </p:sp>
    </p:spTree>
    <p:extLst>
      <p:ext uri="{BB962C8B-B14F-4D97-AF65-F5344CB8AC3E}">
        <p14:creationId xmlns:p14="http://schemas.microsoft.com/office/powerpoint/2010/main" val="151598384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0F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D9B6A56-0073-4698-AF6C-EDDE84799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7200"/>
            <a:ext cx="20116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DD4BF"/>
                </a:solidFill>
                <a:latin typeface="Calibri"/>
                <a:ea typeface="Calibri"/>
                <a:cs typeface="Calibri"/>
              </a:rPr>
              <a:t>MITIGATION PLANNING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97C5AEE-6201-459F-AA31-93E07ECF3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749808"/>
            <a:ext cx="111556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Candidate actions are grounded, checked, and compared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823D1DE-8863-478A-B290-F4D9D9CC4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00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RAG supplies approved alternatives and constraints; deterministic services validate every option.</a:t>
            </a:r>
          </a:p>
        </p:txBody>
      </p:sp>
      <p:graphicFrame>
        <p:nvGraphicFramePr>
          <p:cNvPr id="26" name="Chart 0"/>
          <p:cNvGraphicFramePr/>
          <p:nvPr/>
        </p:nvGraphicFramePr>
        <p:xfrm>
          <a:off xmlns:a="http://schemas.openxmlformats.org/drawingml/2006/main" x="548640" y="2240280"/>
          <a:ext xmlns:a="http://schemas.openxmlformats.org/drawingml/2006/main" cx="5760720" cy="338328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6f5236807304460"/>
          </a:graphicData>
        </a:graphic>
      </p:graphicFrame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5CF7AF02-A752-47E8-8F02-0E6E284BA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240280"/>
            <a:ext cx="5120640" cy="3383280"/>
          </a:xfrm>
          <a:prstGeom xmlns:a="http://schemas.openxmlformats.org/drawingml/2006/main" prst="roundRect">
            <a:avLst>
              <a:gd name="adj" fmla="val 2703"/>
            </a:avLst>
          </a:prstGeom>
          <a:solidFill xmlns:a="http://schemas.openxmlformats.org/drawingml/2006/main">
            <a:srgbClr val="141B33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1075AC0E-4357-4EEA-B558-AD6F46E04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2377440"/>
            <a:ext cx="4572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2DD4BF"/>
                </a:solidFill>
                <a:latin typeface="Calibri"/>
                <a:ea typeface="Calibri"/>
                <a:cs typeface="Calibri"/>
              </a:rPr>
              <a:t>Illustrative scenario comparison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57027495-46AE-4A56-804B-1017D11E4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2834640"/>
            <a:ext cx="4663440" cy="841248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1B2444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98462F4E-F1F5-475B-BD3C-760F86226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3163824"/>
            <a:ext cx="182880" cy="182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AE697304-6BC4-4E33-8BD4-597DFD4BA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2926080"/>
            <a:ext cx="4023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 · Switch 25% to Supplier B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0568FBDA-276A-4293-92A1-C1932EF30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3273552"/>
            <a:ext cx="4023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$180K estimate · 5-day changeover · qualification checked</a:t>
            </a:r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64AA13F0-D59D-4D02-BD9D-1F981D63C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3767328"/>
            <a:ext cx="4663440" cy="841248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1B2444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00018171-3A9B-424F-A27C-2071D2051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4096512"/>
            <a:ext cx="182880" cy="182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</p:spPr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3A4F081B-0B75-41E0-AD28-286D5B4B2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3858768"/>
            <a:ext cx="4023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 · Use qualified air freight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970EDA9-1273-4653-AD99-D7293DD70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206240"/>
            <a:ext cx="4023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Lane · carrier · customs · capacity · cost checked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2CE51EAF-1CE1-423D-9983-1FF819353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4700016"/>
            <a:ext cx="4663440" cy="841248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1B2444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04502E9-00A4-49C2-80AB-3610459F4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5029200"/>
            <a:ext cx="182880" cy="182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</p:spPr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88BA676C-AB53-4971-8D3C-45DCB3F7F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791456"/>
            <a:ext cx="4023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 · Delay low-priority orders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265226D-7E4B-43C7-9DBA-9C58B69A7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5138928"/>
            <a:ext cx="4023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Priority · contract · service commitments checked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D2BF05D9-0910-4639-B25D-7D4AF21B9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B7A9E"/>
                </a:solidFill>
                <a:latin typeface="Calibri"/>
                <a:ea typeface="Calibri"/>
                <a:cs typeface="Calibri"/>
              </a:rPr>
              <a:t>Chainsilience AI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83B866B6-3961-4F35-8CEF-2D8D5B106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64465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B7A9E"/>
                </a:solidFill>
                <a:latin typeface="Calibri"/>
                <a:ea typeface="Calibri"/>
                <a:cs typeface="Calibri"/>
              </a:rPr>
              <a:t>IDSOL 2026  ·  Mitigation Planning</a:t>
            </a:r>
          </a:p>
        </p:txBody>
      </p:sp>
    </p:spTree>
    <p:extLst>
      <p:ext uri="{BB962C8B-B14F-4D97-AF65-F5344CB8AC3E}">
        <p14:creationId xmlns:p14="http://schemas.microsoft.com/office/powerpoint/2010/main" val="70533704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0F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0A9ED74-1C32-4837-A847-B6E0AAF06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7200"/>
            <a:ext cx="20116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DD4BF"/>
                </a:solidFill>
                <a:latin typeface="Calibri"/>
                <a:ea typeface="Calibri"/>
                <a:cs typeface="Calibri"/>
              </a:rPr>
              <a:t>ACTION GOVERNANCE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CFD2822-A3F9-4CFD-8E07-74B7437E1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749808"/>
            <a:ext cx="111556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Recommendations remain reviewable drafts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118B4FF-AD4E-4EAA-B68D-F6CCD4030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7360"/>
            <a:ext cx="5577840" cy="41148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141B33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45D04F3-0103-4DE2-8393-254BEADF7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20240"/>
            <a:ext cx="5029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2DD4BF"/>
                </a:solidFill>
                <a:latin typeface="Calibri"/>
                <a:ea typeface="Calibri"/>
                <a:cs typeface="Calibri"/>
              </a:rPr>
              <a:t>One decision object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F0D8B02-0131-4F94-A0BB-124743FC6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377440"/>
            <a:ext cx="196596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3F5E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A360CF9-00BD-4FC4-A775-16D1A9E51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377440"/>
            <a:ext cx="19659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0B0F1E"/>
                </a:solidFill>
                <a:latin typeface="Calibri"/>
                <a:ea typeface="Calibri"/>
                <a:cs typeface="Calibri"/>
              </a:rPr>
              <a:t>Evidence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F7D230F-1448-4382-AD89-3251478A6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8346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25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Verified sources · cited passages · affected graph path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803006D7-BED7-4C22-A4AB-44ECDFFCA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566160"/>
            <a:ext cx="196596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D370F5D8-D232-4ABC-A6FB-F39C3317D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566160"/>
            <a:ext cx="19659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0B0F1E"/>
                </a:solidFill>
                <a:latin typeface="Calibri"/>
                <a:ea typeface="Calibri"/>
                <a:cs typeface="Calibri"/>
              </a:rPr>
              <a:t>Analysis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A083A2E9-6C24-4476-AFA2-6A5F8B34B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02336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25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No-action baseline · projected mitigation · uncertainty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06785B2A-A1A2-4A65-8770-FAEED8753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754880"/>
            <a:ext cx="196596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D4BF"/>
          </a:solidFill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5987921A-CC52-434F-B675-6B6A35623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754880"/>
            <a:ext cx="19659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0B0F1E"/>
                </a:solidFill>
                <a:latin typeface="Calibri"/>
                <a:ea typeface="Calibri"/>
                <a:cs typeface="Calibri"/>
              </a:rPr>
              <a:t>Decision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30FD4DC-94AB-4F9B-9517-8A5726D86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21208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25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Owner · deadline · approval state · audit history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47A587FB-E31F-4B04-AD89-C541A5E99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37360"/>
            <a:ext cx="5285232" cy="260604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1B2444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CBE2DC80-AC0E-4B8E-98A5-C5F42CF8F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874520"/>
            <a:ext cx="48463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38BDF8"/>
                </a:solidFill>
                <a:latin typeface="Calibri"/>
                <a:ea typeface="Calibri"/>
                <a:cs typeface="Calibri"/>
              </a:rPr>
              <a:t>AI-drafted supplier request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9A78502-CAB4-45EF-9E8E-B004A3E5C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240280"/>
            <a:ext cx="484632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25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“Please confirm facility status, available capacity, revised lead time, allocation policy, and next update time for Purchase Order 1042.”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4E0AD139-0C24-492B-961F-754652B2C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657600"/>
            <a:ext cx="48463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B7A9E"/>
                </a:solidFill>
                <a:latin typeface="Calibri"/>
                <a:ea typeface="Calibri"/>
                <a:cs typeface="Calibri"/>
              </a:rPr>
              <a:t>Supplier · customer · executive drafts remain editable and approval-gated.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B88C9A9C-12D3-445A-85F5-4F10B6980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26280"/>
            <a:ext cx="5285232" cy="132588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141B33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625BC815-F727-44C1-8A0D-D881946F3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526280"/>
            <a:ext cx="4754880" cy="1325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250" b="1">
                <a:solidFill>
                  <a:srgbClr val="2DD4BF"/>
                </a:solidFill>
                <a:latin typeface="Calibri"/>
                <a:ea typeface="Calibri"/>
                <a:cs typeface="Calibri"/>
              </a:rPr>
              <a:t>Policy gateway: Consequential actions require named authorization. MCP may expose typed tools, but authentication, validation, approval, and audit remain application responsibilities.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DCEA59C7-890E-4350-B072-C577D6F64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B7A9E"/>
                </a:solidFill>
                <a:latin typeface="Calibri"/>
                <a:ea typeface="Calibri"/>
                <a:cs typeface="Calibri"/>
              </a:rPr>
              <a:t>Chainsilience AI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552F7925-3793-480E-BB90-7C1961866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64465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B7A9E"/>
                </a:solidFill>
                <a:latin typeface="Calibri"/>
                <a:ea typeface="Calibri"/>
                <a:cs typeface="Calibri"/>
              </a:rPr>
              <a:t>IDSOL 2026  ·  Action Governance</a:t>
            </a:r>
          </a:p>
        </p:txBody>
      </p:sp>
    </p:spTree>
    <p:extLst>
      <p:ext uri="{BB962C8B-B14F-4D97-AF65-F5344CB8AC3E}">
        <p14:creationId xmlns:p14="http://schemas.microsoft.com/office/powerpoint/2010/main" val="171247671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0F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A679FD0-6A71-4E38-8BC9-BDD9AC0EE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7200"/>
            <a:ext cx="20116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DD4BF"/>
                </a:solidFill>
                <a:latin typeface="Calibri"/>
                <a:ea typeface="Calibri"/>
                <a:cs typeface="Calibri"/>
              </a:rPr>
              <a:t>DECISION DASHBOARD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1A1E877-154C-4257-B1FD-1A1B515B4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749808"/>
            <a:ext cx="111556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Evidence, exposure, impact, and action share one view</a:t>
            </a:r>
          </a:p>
        </p:txBody>
      </p:sp>
      <p:graphicFrame>
        <p:nvGraphicFramePr>
          <p:cNvPr id="35" name="Chart 0"/>
          <p:cNvGraphicFramePr/>
          <p:nvPr/>
        </p:nvGraphicFramePr>
        <p:xfrm>
          <a:off xmlns:a="http://schemas.openxmlformats.org/drawingml/2006/main" x="457200" y="1965960"/>
          <a:ext xmlns:a="http://schemas.openxmlformats.org/drawingml/2006/main" cx="3931920" cy="36576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07a4342486d470d"/>
          </a:graphicData>
        </a:graphic>
      </p:graphicFrame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F6EF8070-C974-42F8-90AD-943404348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1965960"/>
            <a:ext cx="6949440" cy="3703320"/>
          </a:xfrm>
          <a:prstGeom xmlns:a="http://schemas.openxmlformats.org/drawingml/2006/main" prst="roundRect">
            <a:avLst>
              <a:gd name="adj" fmla="val 2469"/>
            </a:avLst>
          </a:prstGeom>
          <a:solidFill xmlns:a="http://schemas.openxmlformats.org/drawingml/2006/main">
            <a:srgbClr val="141B33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561F560-80D6-4F5D-BC50-A694A2EED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2103120"/>
            <a:ext cx="6400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2DD4BF"/>
                </a:solidFill>
                <a:latin typeface="Calibri"/>
                <a:ea typeface="Calibri"/>
                <a:cs typeface="Calibri"/>
              </a:rPr>
              <a:t>Top enterprise exposures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0062A123-2B6C-4B2B-A242-946FA1F03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2560320"/>
            <a:ext cx="2377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6B7A9E"/>
                </a:solidFill>
                <a:latin typeface="Calibri"/>
                <a:ea typeface="Calibri"/>
                <a:cs typeface="Calibri"/>
              </a:rPr>
              <a:t>EVENT</a:t>
            </a: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E8B85109-EF8E-406E-BC6E-C5B43514E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560320"/>
            <a:ext cx="1920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6B7A9E"/>
                </a:solidFill>
                <a:latin typeface="Calibri"/>
                <a:ea typeface="Calibri"/>
                <a:cs typeface="Calibri"/>
              </a:rPr>
              <a:t>AFFECTED PATH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635ACC9-071F-4F6D-8E3E-4D8194269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2560320"/>
            <a:ext cx="1097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6B7A9E"/>
                </a:solidFill>
                <a:latin typeface="Calibri"/>
                <a:ea typeface="Calibri"/>
                <a:cs typeface="Calibri"/>
              </a:rPr>
              <a:t>TRIAGE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517D25D-A51D-4051-B08F-DF49ADCDA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0" y="2560320"/>
            <a:ext cx="1097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6B7A9E"/>
                </a:solidFill>
                <a:latin typeface="Calibri"/>
                <a:ea typeface="Calibri"/>
                <a:cs typeface="Calibri"/>
              </a:rPr>
              <a:t>IMPACT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177A0E2F-69E4-4F31-8A96-640C0E64F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2926080"/>
            <a:ext cx="6492240" cy="658368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1B2444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1E45C3D-E51D-4915-A965-54D29D80E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2926080"/>
            <a:ext cx="22860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Taiwan earthquake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BE92928-0E95-4FA9-91E3-D2812016D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926080"/>
            <a:ext cx="19202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Supplier A → chip → 7 orders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45DB7595-DCAC-4F3E-B8D0-88894A14E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3118104"/>
            <a:ext cx="960120" cy="292608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3F5E"/>
          </a:solidFill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C1EB4AC7-2504-43EF-A795-BB0D57BEC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3118104"/>
            <a:ext cx="9601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0B0F1E"/>
                </a:solidFill>
                <a:latin typeface="Calibri"/>
                <a:ea typeface="Calibri"/>
                <a:cs typeface="Calibri"/>
              </a:rPr>
              <a:t>Critical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78D7EA61-FD6E-4E58-8A54-C2E39E70A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2926080"/>
            <a:ext cx="105156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Day 13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D17A3793-1241-44C0-BFDC-67D10B0E2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3675888"/>
            <a:ext cx="6492240" cy="658368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1B2444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FA770C1-C43C-4B34-9F9E-D605D013D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3675888"/>
            <a:ext cx="22860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Port congestion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413F23CD-6B38-48BA-8F43-6080F4C8A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675888"/>
            <a:ext cx="19202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Shanghai–LA route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122D1BC3-1077-4EAC-B352-EE1735615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3867912"/>
            <a:ext cx="960120" cy="292608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</p:spPr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90B5B391-BBE2-4AD4-BFD4-150A7D38F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3867912"/>
            <a:ext cx="9601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0B0F1E"/>
                </a:solidFill>
                <a:latin typeface="Calibri"/>
                <a:ea typeface="Calibri"/>
                <a:cs typeface="Calibri"/>
              </a:rPr>
              <a:t>High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E98F8D10-A203-4F22-99A1-5ED8E8B34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3675888"/>
            <a:ext cx="105156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6-day delay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527CD7DF-2055-467E-A46C-546EBD81C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425696"/>
            <a:ext cx="6492240" cy="658368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1B2444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D1288EF1-E396-4023-95D6-6635835BE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4425696"/>
            <a:ext cx="22860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Export restriction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F05F32F2-6598-45E3-B53D-EBBF6555E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425696"/>
            <a:ext cx="19202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Rare-earth supplier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5CA5B47A-081B-4301-A661-75D1B90FF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4617720"/>
            <a:ext cx="960120" cy="292608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</p:spPr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C757B2D-D105-476C-80BF-6EC8E5F39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4617720"/>
            <a:ext cx="9601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0B0F1E"/>
                </a:solidFill>
                <a:latin typeface="Calibri"/>
                <a:ea typeface="Calibri"/>
                <a:cs typeface="Calibri"/>
              </a:rPr>
              <a:t>High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18C404BD-D6E8-4FB4-BA97-C1591639A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4425696"/>
            <a:ext cx="105156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+18% cost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68B5AC2C-DF33-4032-8BF4-5B5161D2E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5257800"/>
            <a:ext cx="64922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6B7A9E"/>
                </a:solidFill>
                <a:latin typeface="Calibri"/>
                <a:ea typeface="Calibri"/>
                <a:cs typeface="Calibri"/>
              </a:rPr>
              <a:t>Each alert separates the no-action baseline, projected mitigated outcome, and realized outcome—and links every figure to evidence and the twin snapshot.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3CA1237E-422A-42AB-8F1D-56E1B8B5C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B7A9E"/>
                </a:solidFill>
                <a:latin typeface="Calibri"/>
                <a:ea typeface="Calibri"/>
                <a:cs typeface="Calibri"/>
              </a:rPr>
              <a:t>Chainsilience AI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A2299E7F-5672-426B-9FAB-C15F5FED3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64465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B7A9E"/>
                </a:solidFill>
                <a:latin typeface="Calibri"/>
                <a:ea typeface="Calibri"/>
                <a:cs typeface="Calibri"/>
              </a:rPr>
              <a:t>IDSOL 2026  ·  Decision Dashboard</a:t>
            </a:r>
          </a:p>
        </p:txBody>
      </p:sp>
    </p:spTree>
    <p:extLst>
      <p:ext uri="{BB962C8B-B14F-4D97-AF65-F5344CB8AC3E}">
        <p14:creationId xmlns:p14="http://schemas.microsoft.com/office/powerpoint/2010/main" val="27094341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41B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3DFC13E-7BAA-469D-884C-AC6FAB073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7200"/>
            <a:ext cx="20116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DD4BF"/>
                </a:solidFill>
                <a:latin typeface="Calibri"/>
                <a:ea typeface="Calibri"/>
                <a:cs typeface="Calibri"/>
              </a:rPr>
              <a:t>ILLUSTRATIVE REPLAY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8EFF3F2-86A3-4964-BC78-26EF658DD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749808"/>
            <a:ext cx="111556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Taiwan earthquake: evidence to decision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644EC99-2253-44CD-AD8F-22897D4DD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83080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D4BF"/>
          </a:solidFill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487222B-F62F-4CC2-B179-95FF5B405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83080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B0F1E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F42C3EE4-98E6-4B76-880C-4493C55BE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764792"/>
            <a:ext cx="46634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Dated event collected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E462DAD9-EF58-4939-B1C1-63B1769DA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167128"/>
            <a:ext cx="4663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i="1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M7.4 source record retained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92E2DE41-6E41-4CE6-8F36-CE7936E6E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50008"/>
            <a:ext cx="0" cy="50292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02C52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186DBA12-87F4-4AD1-9C2C-EDC2B2050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862072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03A8B91-87B3-429C-860F-4AFEC74A4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862072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B0F1E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0A2688E5-0468-4B11-8B30-06FD4E85E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843784"/>
            <a:ext cx="46634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Relevance + verification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E1F3E0E-A0F2-4707-9FC8-BEA6A56FF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246120"/>
            <a:ext cx="4663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i="1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claims cross-checked and cited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F4082227-0E95-4EC8-A59B-074A8886A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29000"/>
            <a:ext cx="0" cy="50292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02C52"/>
            </a:solidFill>
            <a:prstDash val="solid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7F74F581-4694-4F1C-9722-67FEF0464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41064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B3846D2-22F4-46FA-9F7D-77642C2CE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41064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B0F1E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9B8955BA-0D1B-469F-9A51-528EFBEDB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922776"/>
            <a:ext cx="46634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Affected path mapped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5B7E181-6A26-497E-958D-622012B8A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325112"/>
            <a:ext cx="4663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i="1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event → site → supplier → chip → orders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442E8E66-63E8-40AC-99B8-81FBCA7F1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07992"/>
            <a:ext cx="0" cy="50292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02C52"/>
            </a:solidFill>
            <a:prstDash val="solid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600B6B1B-9D7B-4ACF-855A-C03B9FFDB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0056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E3305F5F-69B8-469C-A9C5-50DBBDE6D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0056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B0F1E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1029365-3121-4498-92E6-884425A95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01768"/>
            <a:ext cx="46634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Twin snapshot simulated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3374BF46-692F-4C97-B68C-CC7B82081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404104"/>
            <a:ext cx="4663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i="1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12 DOC · baseline shortage day 13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B9C83AC0-807A-4B2C-A828-6619B1216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783080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3F5E"/>
          </a:solidFill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182E5255-95AD-4A08-BEBB-DD9FE6C61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783080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B0F1E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139F32EE-015B-4367-B135-8DE31748A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1764792"/>
            <a:ext cx="46634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Options grounded by RAG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5D20A4B2-8C84-433F-80BD-64973E844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2167128"/>
            <a:ext cx="4663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i="1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approved suppliers, capacity, policy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620B4B75-581C-4F27-97B7-10B33B1B9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350008"/>
            <a:ext cx="0" cy="50292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02C52"/>
            </a:solidFill>
            <a:prstDash val="solid"/>
          </a:ln>
        </p:spPr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7C01B225-DB87-48EB-BA28-970233055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862072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D4BF"/>
          </a:solidFill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71BB8BEC-FFDE-4BAC-9AC7-E7782BB88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862072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B0F1E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1FD7ED3-5CA4-4FBB-86BA-8E7296BA3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2843784"/>
            <a:ext cx="46634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Trade-offs validated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FF6636AC-419B-4219-A09F-E635B668A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3246120"/>
            <a:ext cx="4663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i="1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feasibility · cost · residual risk</a:t>
            </a:r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E4DC2C83-AE73-46DE-A652-141F5BC4E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429000"/>
            <a:ext cx="0" cy="50292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02C52"/>
            </a:solidFill>
            <a:prstDash val="solid"/>
          </a:ln>
        </p:spPr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C19A81C1-E5A2-4269-836C-4BA2E5A52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941064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5E8B37B5-717D-4B07-A9E9-6C7DCD6B1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941064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B0F1E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72DEF648-D6E8-490F-B88A-FEF31637C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3922776"/>
            <a:ext cx="46634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Decision recorded</a:t>
            </a:r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C2FE88E7-AF4D-4212-A01B-6286FFDFE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4325112"/>
            <a:ext cx="4663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i="1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human approval and audit trail</a:t>
            </a:r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F9AC4784-6955-44C2-9290-4A7781563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507992"/>
            <a:ext cx="0" cy="50292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02C52"/>
            </a:solidFill>
            <a:prstDash val="solid"/>
          </a:ln>
        </p:spPr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0C9DD7FC-7539-473C-8299-E1EFDBB5F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5257800"/>
            <a:ext cx="53949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500" b="1" i="1">
                <a:solidFill>
                  <a:srgbClr val="2DD4BF"/>
                </a:solidFill>
                <a:latin typeface="Calibri"/>
                <a:ea typeface="Calibri"/>
                <a:cs typeface="Calibri"/>
              </a:rPr>
              <a:t>Design-test inputs are illustrative; earthquake evidence is historical and source-linked.</a:t>
            </a: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D3657138-B03E-40CA-89C6-99AFA7F16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B7A9E"/>
                </a:solidFill>
                <a:latin typeface="Calibri"/>
                <a:ea typeface="Calibri"/>
                <a:cs typeface="Calibri"/>
              </a:rPr>
              <a:t>Chainsilience AI</a:t>
            </a: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1134D98A-9F20-497F-84C3-964553850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64465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B7A9E"/>
                </a:solidFill>
                <a:latin typeface="Calibri"/>
                <a:ea typeface="Calibri"/>
                <a:cs typeface="Calibri"/>
              </a:rPr>
              <a:t>IDSOL 2026  ·  Illustrative Replay</a:t>
            </a:r>
          </a:p>
        </p:txBody>
      </p:sp>
    </p:spTree>
    <p:extLst>
      <p:ext uri="{BB962C8B-B14F-4D97-AF65-F5344CB8AC3E}">
        <p14:creationId xmlns:p14="http://schemas.microsoft.com/office/powerpoint/2010/main" val="30111713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0F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56C33EA-24B6-442D-8B91-582C20FE9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7200"/>
            <a:ext cx="20116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DD4BF"/>
                </a:solidFill>
                <a:latin typeface="Calibri"/>
                <a:ea typeface="Calibri"/>
                <a:cs typeface="Calibri"/>
              </a:rPr>
              <a:t>PILOT &amp; VALUE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DEB06DB-D536-40B6-8BD1-FAA34733C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749808"/>
            <a:ext cx="111556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Claims are designed to be tested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AA04209-1D9B-4AB3-9911-05EFD74F2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91640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2DD4BF"/>
                </a:solidFill>
                <a:latin typeface="Calibri"/>
                <a:ea typeface="Calibri"/>
                <a:cs typeface="Calibri"/>
              </a:rPr>
              <a:t>Pilot acceptance criteria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C0D6E5E1-6E46-4653-8E92-27C4CF9F5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258568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D4BF"/>
          </a:solidFill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F46F8181-703E-45A1-B3E0-69D14FF24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148840"/>
            <a:ext cx="50749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sz="135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Detection: ≥0.85 recall within 24 hours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190F17AA-D652-46A3-993E-9844392B6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008376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D4BF"/>
          </a:solidFill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BD61C37-2DCC-483E-9C8D-E2B86AE59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898648"/>
            <a:ext cx="50749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sz="135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Verification: &lt;2% unsupported claims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AC8B494F-D6E2-4878-9CE9-AF38202B1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758184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D4BF"/>
          </a:solidFill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0426C5AF-F2F2-4010-A4D8-FD3257D06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648456"/>
            <a:ext cx="50749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sz="135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Mapping: ≥0.80 correct affected paths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E379047F-394D-4045-BCCC-182D5784A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507992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D4BF"/>
          </a:solidFill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4439BA4-D152-49E8-B6E0-58C4277D6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398264"/>
            <a:ext cx="50749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sz="135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Action: ≥0.90 feasible recommendations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D83D3A94-9873-49FA-BC93-8206D86E1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257800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D4BF"/>
          </a:solidFill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2820901E-7049-470B-ACEF-98AC12E3D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148072"/>
            <a:ext cx="50749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sz="135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Workflow: 50% faster alert-to-decision time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1622A692-A036-4733-B3C4-7FD11E642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691640"/>
            <a:ext cx="5239512" cy="4160520"/>
          </a:xfrm>
          <a:prstGeom xmlns:a="http://schemas.openxmlformats.org/drawingml/2006/main" prst="roundRect">
            <a:avLst>
              <a:gd name="adj" fmla="val 2198"/>
            </a:avLst>
          </a:prstGeom>
          <a:solidFill xmlns:a="http://schemas.openxmlformats.org/drawingml/2006/main">
            <a:srgbClr val="141B33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E7B58C3B-9365-4F77-9F4B-D4612E4D8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1874520"/>
            <a:ext cx="4572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38BDF8"/>
                </a:solidFill>
                <a:latin typeface="Calibri"/>
                <a:ea typeface="Calibri"/>
                <a:cs typeface="Calibri"/>
              </a:rPr>
              <a:t>Prototype and value hypothesis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4990B103-28FA-4681-A65C-BC9335079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286000"/>
            <a:ext cx="46634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25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Functional prototype: relevance filtering, extraction, exposure analysis, mitigation recommendation, and dashboard presentation. Pilot targets are not achieved results.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0A33C8D9-AF3F-43D6-8F61-CB2C55B07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97180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34D399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02FDE52A-488D-4F7A-A846-B86A9ACCF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2953512"/>
            <a:ext cx="4389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Replay corpus + frozen enterprise snapshots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0D35967-397D-4AB5-BC52-0F6FBF5CA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374136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34D399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C1AE6C9E-5017-435C-BD0B-F15E1BB29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3355848"/>
            <a:ext cx="4389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12–16 week controlled pilot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BC5C5D56-21FD-4B06-8F16-B34781BB2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776472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34D399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3373E83-EB9A-4B23-BE25-AA156EC9B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3758184"/>
            <a:ext cx="4389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One product family + limited supplier scope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12569207-6280-4559-9FBA-43789E69C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4178808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34D399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000F4560-80D3-4B17-B97B-D4C71401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4160520"/>
            <a:ext cx="4389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Avoided expected disruption loss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E8A4F7EF-F2DB-4617-96ED-850E02515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4581144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34D399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110A7F35-0653-4A75-8407-572F45A19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4562856"/>
            <a:ext cx="4389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Analyst hours saved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61E7B78C-402C-49BA-B99C-F24C48E46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498348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34D399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E91F3066-A9B3-4692-85CE-6A9D533EE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4965192"/>
            <a:ext cx="4389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Service continuity improved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675F3F11-84BA-4BC6-A74A-BF32C0BCE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5385816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34D399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DB9E961E-CA36-480B-842C-FEF2C21E4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5367528"/>
            <a:ext cx="4389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Unauthorized action target: 0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38321863-E790-40F1-95DD-CDBDD5A11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B7A9E"/>
                </a:solidFill>
                <a:latin typeface="Calibri"/>
                <a:ea typeface="Calibri"/>
                <a:cs typeface="Calibri"/>
              </a:rPr>
              <a:t>Chainsilience AI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656EDF45-D9FC-4774-B2F8-2145835C6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64465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B7A9E"/>
                </a:solidFill>
                <a:latin typeface="Calibri"/>
                <a:ea typeface="Calibri"/>
                <a:cs typeface="Calibri"/>
              </a:rPr>
              <a:t>IDSOL 2026  ·  Pilot &amp; Value</a:t>
            </a:r>
          </a:p>
        </p:txBody>
      </p:sp>
    </p:spTree>
    <p:extLst>
      <p:ext uri="{BB962C8B-B14F-4D97-AF65-F5344CB8AC3E}">
        <p14:creationId xmlns:p14="http://schemas.microsoft.com/office/powerpoint/2010/main" val="38478545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B0F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9C2550E-1FFA-470C-B6C2-DD85AD5F2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5788152"/>
            <a:ext cx="731520" cy="36576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DD4BF">
                <a:alpha val="4500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3C233BB-9FFE-4426-BAFF-4313B2343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3352" y="6153912"/>
            <a:ext cx="7315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38BDF8">
                <a:alpha val="4500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2EFA922-2C44-44B8-AB43-3878458F2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669280"/>
            <a:ext cx="182880" cy="182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D4BF"/>
          </a:solidFill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5EF1B0F-BA8E-461D-9CCD-687C3E004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6035040"/>
            <a:ext cx="182880" cy="182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603557FF-C65D-4A18-B40F-CF71ACFC1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623560"/>
            <a:ext cx="182880" cy="182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D4BF"/>
          </a:solidFill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8347A1F7-8301-4029-B5BE-96B8927DB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6309360"/>
            <a:ext cx="182880" cy="182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A2AAC140-7230-47BD-BE7C-CD7E50C98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5840"/>
            <a:ext cx="20116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DD4BF"/>
                </a:solidFill>
                <a:latin typeface="Calibri"/>
                <a:ea typeface="Calibri"/>
                <a:cs typeface="Calibri"/>
              </a:rPr>
              <a:t>FINAL TAKEAWAY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49A311B9-B4BC-429D-9A52-349D011F3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3716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Chainsilience AI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7108ECC1-0091-4B84-BF6B-DEEA07BD6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77440"/>
            <a:ext cx="10058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i="1">
                <a:solidFill>
                  <a:srgbClr val="2DD4BF"/>
                </a:solidFill>
                <a:latin typeface="Calibri"/>
                <a:ea typeface="Calibri"/>
                <a:cs typeface="Calibri"/>
              </a:rPr>
              <a:t>Verified disruption evidence. Enterprise-specific impact. Human-approved action.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B1AAF736-D514-433F-B73C-BB9B912C9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46120"/>
            <a:ext cx="5349240" cy="16002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B2444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BE5E755-3691-4CB8-9446-17EF192DB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474720"/>
            <a:ext cx="47548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38BDF8"/>
                </a:solidFill>
                <a:latin typeface="Calibri"/>
                <a:ea typeface="Calibri"/>
                <a:cs typeface="Calibri"/>
              </a:rPr>
              <a:t>4 × Computer Science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8B9B1917-9075-4CCA-BB45-A5DDC4C5D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977640"/>
            <a:ext cx="475488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30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AI engineering — relevance filtering, graph/twin, simulation, mitigation planning, and governance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4457F9E5-5CF5-4564-AF96-EBA6E5C8A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246120"/>
            <a:ext cx="5349240" cy="16002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B2444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A8A8F47-6BB7-48D6-A9B8-45E5A5C46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474720"/>
            <a:ext cx="47548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2DD4BF"/>
                </a:solidFill>
                <a:latin typeface="Calibri"/>
                <a:ea typeface="Calibri"/>
                <a:cs typeface="Calibri"/>
              </a:rPr>
              <a:t>1 × Rotman Commerce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1199E2FF-99AC-40A4-8235-D7A118CE2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977640"/>
            <a:ext cx="475488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300">
                <a:solidFill>
                  <a:srgbClr val="9FB0CC"/>
                </a:solidFill>
                <a:latin typeface="Calibri"/>
                <a:ea typeface="Calibri"/>
                <a:cs typeface="Calibri"/>
              </a:rPr>
              <a:t>Product strategy, business value, pilot design, and go-to-market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2413802E-924F-442B-BBBE-EE7FD5ACC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74920"/>
            <a:ext cx="10927080" cy="96012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41B33"/>
          </a:solidFill>
          <a:effectLst xmlns:a="http://schemas.openxmlformats.org/drawingml/2006/main"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7B2E7594-F81B-4F83-9D42-5AAC86E15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074920"/>
            <a:ext cx="1033272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University of Toronto  ·  Focus: SMEs, startups, and semiconductor supply networks  ·  Functional prototype ready for demonstration.</a:t>
            </a:r>
          </a:p>
        </p:txBody>
      </p:sp>
    </p:spTree>
    <p:extLst>
      <p:ext uri="{BB962C8B-B14F-4D97-AF65-F5344CB8AC3E}">
        <p14:creationId xmlns:p14="http://schemas.microsoft.com/office/powerpoint/2010/main" val="159299729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2026-07-21T14:39:06.6120000Z</dcterms:created>
  <dcterms:modified xsi:type="dcterms:W3CDTF">2026-07-21T14:39:06.6120000Z</dcterms:modified>
</coreProperties>
</file>